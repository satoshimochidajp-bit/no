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906" autoAdjust="0"/>
  </p:normalViewPr>
  <p:slideViewPr>
    <p:cSldViewPr snapToGrid="0">
      <p:cViewPr varScale="1">
        <p:scale>
          <a:sx n="77" d="100"/>
          <a:sy n="77" d="100"/>
        </p:scale>
        <p:origin x="88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第02回では、問から本文へ戻る道筋を学びます。まず、問の最後まで読んで、何を答えるのかを決めます。次に、その答えに必要な言葉を、本文のどこから探すかを決めます。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cover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7～11ページ）</a:t>
            </a:r>
          </a:p>
          <a:p>
            <a:r>
              <a:t>都立高入試国語_大問4_総合問題集_問題編_選択肢難度改善版_v3.1_模範解答赤字記入版（Word 7～11ページ）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今回のゴールは、答えを当てることだけではありません。まず問を最後まで読みます。次に、何を答えるのかを短い一文にします。これが焦点です。最後に、その答えの材料を本文のどこから探すかを決めま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lecture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7～11ページ）</a:t>
            </a:r>
          </a:p>
          <a:p>
            <a:r>
              <a:t>都立高入試国語_大問4_総合問題集_問題編_選択肢難度改善版_v3.1_模範解答赤字記入版（Word 7～11ページ）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主型は答え方の大きな種類で、本文の話題ではなく問の終わりで決めます。『どういうことか』は言い換え型、『なぜか』は理由型、『どのような役割』は構成・役割型、『最も述べたいこと』は主張・要旨型です。問いの最後の言葉と主型を一対一で結びま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lecture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7～11ページ）</a:t>
            </a:r>
          </a:p>
          <a:p>
            <a:r>
              <a:t>都立高入試国語_大問4_総合問題集_問題編_選択肢難度改善版_v3.1_模範解答赤字記入版（Word 7～11ページ）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焦点という言葉を、三つの動作に分けます。本文ではなく問を見て、何を答えるのかを言う。これが焦点です。次に、その答えの材料を本文のどこで探すか決めます。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workedExample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7～11ページ）</a:t>
            </a:r>
          </a:p>
          <a:p>
            <a:r>
              <a:t>都立高入試国語_大問4_総合問題集_問題編_選択肢難度改善版_v3.1_模範解答赤字記入版（Word 7～11ページ）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本文に『失敗の理由』がある。じゃあ理由型だね！……って、違う違う、問いの最後の言葉は『最も述べたいこと』じゃん。答えるのは理由ではなく本文全体の中心、正しくは主張・要旨型。バグった！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bugScene</a:t>
            </a:r>
          </a:p>
          <a:p>
            <a:r>
              <a:t>PROBLEM_ID: 例題2A</a:t>
            </a:r>
          </a:p>
          <a:p>
            <a:r>
              <a:t>SPEAKER: バグっぺ</a:t>
            </a:r>
          </a:p>
          <a:p>
            <a:r>
              <a:t>BUG_MISTAKE: 本文の『理由』だけで理由型と判断した</a:t>
            </a:r>
          </a:p>
          <a:p>
            <a:r>
              <a:t>BUG_SELF_CORRECTION: 問いの最後の言葉は『最も述べたいこと』なので主張・要旨型</a:t>
            </a:r>
          </a:p>
          <a:p>
            <a:r>
              <a:t>BUG_PHRASE: バグった！</a:t>
            </a:r>
          </a:p>
          <a:p>
            <a:r>
              <a:t>GIF_START_RULE: afterBugPhraseEnd</a:t>
            </a:r>
          </a:p>
          <a:p>
            <a:r>
              <a:t>GIF_PLAY_SECONDS: 6</a:t>
            </a:r>
          </a:p>
          <a:p>
            <a:r>
              <a:t>GIF_FINAL_HOLD_SECONDS: 3</a:t>
            </a:r>
          </a:p>
          <a:p>
            <a:r>
              <a:t>BUG_BGM_OFFSET_SECONDS: 2</a:t>
            </a:r>
          </a:p>
          <a:p>
            <a:r>
              <a:t>BUG_BGM_VOLUME: 0.15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傍線部=ぼうせんぶ; 例題=れいだい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9ページ）</a:t>
            </a:r>
          </a:p>
          <a:p>
            <a:r>
              <a:t>都立高入試国語_大問4_総合問題集_問題編_選択肢難度改善版_v3.1_模範解答赤字記入版（Word 9ページ）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  <a:p>
            <a:r>
              <a:t>[v4.10.0 バグっぺGIF]</a:t>
            </a:r>
          </a:p>
          <a:p>
            <a:r>
              <a:t>BUG_GIF_FRAME_CM: x=10.345208; y=2.936875; width=13.149792; height=13.149792</a:t>
            </a:r>
          </a:p>
          <a:p>
            <a:r>
              <a:t>BUG_HIDE_NORMAL_CHARACTER: true</a:t>
            </a:r>
          </a:p>
          <a:p>
            <a:r>
              <a:t>BUG_DOUBLE_DISPLAY_FORBIDDEN: 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問いの最後の言葉で答え方の種類を決め、答える中身を短く言います。これが焦点です。焦点から本文で見る言葉や関係を決め、根拠から答えの核を作ります。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lecture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7～11ページ）</a:t>
            </a:r>
          </a:p>
          <a:p>
            <a:r>
              <a:t>都立高入試国語_大問4_総合問題集_問題編_選択肢難度改善版_v3.1_模範解答赤字記入版（Word 7～11ページ）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例題1です。短い説明が、いつも分かりやすいとは限らない。駅で『こちらへ』とだけ書かれた案内は短いが、行き先が分からない。必要な情報がなければ、短さは行動を助けない。傍線部は、文章中でどのような役割を果たしているか。３つの解答欄を順に読み、答えに至る考え方を確認しなさい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workedExample</a:t>
            </a:r>
          </a:p>
          <a:p>
            <a:r>
              <a:t>PROBLEM_ID: 例題1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傍線部=ぼうせんぶ; 例題=れいだい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7ページ）</a:t>
            </a:r>
          </a:p>
          <a:p>
            <a:r>
              <a:t>都立高入試国語_大問4_総合問題集_問題編_選択肢難度改善版_v3.1_模範解答赤字記入版（Word 7ページ）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例題1の問いの最後の言葉を見ます。決め手は、『どのような役割』です。したがって、主型は構成・役割型です。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workedExample</a:t>
            </a:r>
          </a:p>
          <a:p>
            <a:r>
              <a:t>PROBLEM_ID: 例題1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傍線部=ぼうせんぶ; 例題=れいだい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7ページ）</a:t>
            </a:r>
          </a:p>
          <a:p>
            <a:r>
              <a:t>都立高入試国語_大問4_総合問題集_問題編_選択肢難度改善版_v3.1_模範解答赤字記入版（Word 7ページ）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例題1で焦点を作ります。第二に、何を答えるかを言います。この問の焦点は、傍線部が文章中で果たす役割です。第三に、焦点をもとに本文で探すものを決めます。例を含む第二文と、その前後の第一・第三文を見ま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workedExample</a:t>
            </a:r>
          </a:p>
          <a:p>
            <a:r>
              <a:t>PROBLEM_ID: 例題1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傍線部=ぼうせんぶ; 例題=れいだい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7ページ）</a:t>
            </a:r>
          </a:p>
          <a:p>
            <a:r>
              <a:t>都立高入試国語_大問4_総合問題集_問題編_選択肢難度改善版_v3.1_模範解答赤字記入版（Word 7ページ）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前の文は、短い説明がいつも分かりやすいとは限らない、という考えです。対象の文は駅の案内という例で、その考えを具体化します。したがって、対象の文は前の主張を具体化し、後のまとめへつなぎま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workedExample</a:t>
            </a:r>
          </a:p>
          <a:p>
            <a:r>
              <a:t>PROBLEM_ID: 例題1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傍線部=ぼうせんぶ; 例題=れいだい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7ページ）</a:t>
            </a:r>
          </a:p>
          <a:p>
            <a:r>
              <a:t>都立高入試国語_大問4_総合問題集_問題編_選択肢難度改善版_v3.1_模範解答赤字記入版（Word 7ページ）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例題1の答えを一文にします。前の主張は、短いだけでは分かりやすくない、です。対象の文は、駅の案内の例でその主張を具体化します。答えは、前の主張を駅の案内の例で具体化し、後のまとめへつなぐ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workedExample</a:t>
            </a:r>
          </a:p>
          <a:p>
            <a:r>
              <a:t>PROBLEM_ID: 例題1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傍線部=ぼうせんぶ; 例題=れいだい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7ページ）</a:t>
            </a:r>
          </a:p>
          <a:p>
            <a:r>
              <a:t>都立高入試国語_大問4_総合問題集_問題編_選択肢難度改善版_v3.1_模範解答赤字記入版（Word 7ページ）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例題2・ケース1です。本文です。失敗の理由を記録すると、次の改善点が見える。問です。筆者が最も述べたいことは何か。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workedExample</a:t>
            </a:r>
          </a:p>
          <a:p>
            <a:r>
              <a:t>PROBLEM_ID: 例題2A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傍線部=ぼうせんぶ; 例題=れいだい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9ページ）</a:t>
            </a:r>
          </a:p>
          <a:p>
            <a:r>
              <a:t>都立高入試国語_大問4_総合問題集_問題編_選択肢難度改善版_v3.1_模範解答赤字記入版（Word 9ページ）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例題2・ケース1の問いの最後の言葉を見ます。決め手は、『最も述べたいこと』です。したがって、主型は主張・要旨型です。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workedExample</a:t>
            </a:r>
          </a:p>
          <a:p>
            <a:r>
              <a:t>PROBLEM_ID: 例題2A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傍線部=ぼうせんぶ; 例題=れいだい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9ページ）</a:t>
            </a:r>
          </a:p>
          <a:p>
            <a:r>
              <a:t>都立高入試国語_大問4_総合問題集_問題編_選択肢難度改善版_v3.1_模範解答赤字記入版（Word 9ページ）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例題2・ケース1の答え合わせです。決め手は、『最も述べたいこと』です。主型は、主張・要旨型です。この問では、本文全体の中心的判断です。だから、根拠範囲は、全文です。答えは、失敗の理由を記録すると、次の改善点が見える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例題2A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傍線部=ぼうせんぶ; 例題=れいだい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9ページ）</a:t>
            </a:r>
          </a:p>
          <a:p>
            <a:r>
              <a:t>都立高入試国語_大問4_総合問題集_問題編_選択肢難度改善版_v3.1_模範解答赤字記入版（Word 9ページ）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例題2・ケース2です。【第一段落】話し合いをすぐ始めると、最初の発言に考えが引かれやすい。【第二段落】そこで、話し合いの前に各自で考えを書く。【第三段落】着眼点を残せば、互いの違いを比べられる。問です。第二段落の、文章の構成上の役割はどれか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workedExample</a:t>
            </a:r>
          </a:p>
          <a:p>
            <a:r>
              <a:t>PROBLEM_ID: 例題2B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傍線部=ぼうせんぶ; 例題=れいだい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9ページ）</a:t>
            </a:r>
          </a:p>
          <a:p>
            <a:r>
              <a:t>都立高入試国語_大問4_総合問題集_問題編_選択肢難度改善版_v3.1_模範解答赤字記入版（Word 9ページ）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選択肢は、第二段落が前後に対してする仕事という共通軸で比べます。アは第一段落の問題に対する方法を示し、第三段落の効果へつなぐので、前後両方に合います。イ・ウ・エは本文の関係と合わないため、答えはアで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workedExample</a:t>
            </a:r>
          </a:p>
          <a:p>
            <a:r>
              <a:t>PROBLEM_ID: 例題2B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傍線部=ぼうせんぶ; 例題=れいだい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9ページ）</a:t>
            </a:r>
          </a:p>
          <a:p>
            <a:r>
              <a:t>都立高入試国語_大問4_総合問題集_問題編_選択肢難度改善版_v3.1_模範解答赤字記入版（Word 9ページ）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第一段落は問題、第二段落は方法、第三段落は効果です。第二段落は先に各自で考えを書く方法を示します。だから役割は、方法を示し効果へつなぐことです。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workedExample</a:t>
            </a:r>
          </a:p>
          <a:p>
            <a:r>
              <a:t>PROBLEM_ID: 例題2B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傍線部=ぼうせんぶ; 例題=れいだい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9ページ）</a:t>
            </a:r>
          </a:p>
          <a:p>
            <a:r>
              <a:t>都立高入試国語_大問4_総合問題集_問題編_選択肢難度改善版_v3.1_模範解答赤字記入版（Word 9ページ）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例題2・ケース2の答え合わせです。決め手は、『文章の構成上の役割』です。主型は、構成・役割型です。この問では、第二段落が前後に対して果たす働きです。だから、根拠範囲は、第二段落と、その前後の段落です。答えは、ア　方法を示し、効果へつなぐ。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例題2B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傍線部=ぼうせんぶ; 例題=れいだい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9ページ）</a:t>
            </a:r>
          </a:p>
          <a:p>
            <a:r>
              <a:t>都立高入試国語_大問4_総合問題集_問題編_選択肢難度改善版_v3.1_模範解答赤字記入版（Word 9ページ）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01です。本文です。読みやすい案内は、文字が少ない案内と同じではない。必要な行動に合う情報を選び、目立たせる必要がある。例えば、出口を探す人には店名の一覧より矢印が先に見える方がよい。情報の量ではなく、目的との関係が分かりやすさを決める。問です。『読みやすい案内』とはどういうものか。映像を止めて、やってみましょう！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practiceProblem</a:t>
            </a:r>
          </a:p>
          <a:p>
            <a:r>
              <a:t>PROBLEM_ID: 問01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PRACTICE_PROMPT_DISPLAY_COUNT: 1</a:t>
            </a:r>
          </a:p>
          <a:p>
            <a:r>
              <a:t>PRACTICE_PROMPT_AUDIO_COUNT: 1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8ページ）</a:t>
            </a:r>
          </a:p>
          <a:p>
            <a:r>
              <a:t>都立高入試国語_大問4_総合問題集_問題編_選択肢難度改善版_v3.1_模範解答赤字記入版（Word 8ページ）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  <a:p>
            <a:r>
              <a:t>[v4.10.0 やってみましょうシーン]</a:t>
            </a:r>
          </a:p>
          <a:p>
            <a:r>
              <a:t>PRACTICE_PROMPT_TEXT: 映像を止めて、やってみましょう！</a:t>
            </a:r>
          </a:p>
          <a:p>
            <a:r>
              <a:t>PRACTICE_PROMPT_RECT_NORMALIZED: x=0; y=0.875; width=1; height=0.125</a:t>
            </a:r>
          </a:p>
          <a:p>
            <a:r>
              <a:t>PRACTICE_PROMPT_RECT_2560X1440: x=0; y=1260; width=2560; height=180</a:t>
            </a:r>
          </a:p>
          <a:p>
            <a:r>
              <a:t>PRACTICE_PROMPT_BAND_COLOR: #2E4B6B</a:t>
            </a:r>
          </a:p>
          <a:p>
            <a:r>
              <a:t>PRACTICE_PROMPT_TEXT_STYLE: Yu Gothic; 28pt; bold; #FFFFFF; horizontal=center; vertical=middle</a:t>
            </a:r>
          </a:p>
          <a:p>
            <a:r>
              <a:t>PRACTICE_PROMPT_Z_ORDER: frontmost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01の答え合わせです。決め手は、『とはどういうことか』です。主型は、言い換え型です。この問では、『読みやすい案内』の定義です。だから、根拠範囲は、全文（特に冒頭二文と結末）です。答えは、言い換え型／『読みやすい案内』の定義／全文（特に冒頭二文と結末）で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問01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8ページ）</a:t>
            </a:r>
          </a:p>
          <a:p>
            <a:r>
              <a:t>都立高入試国語_大問4_総合問題集_問題編_選択肢難度改善版_v3.1_模範解答赤字記入版（Word 8ページ）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問01は全文、特に冒頭二文と結末を見ます。矢印の例だけでは定義にならないので、目的に合う情報の選び方まで答えます。最後に『情報の少なさ』ではなく『目的との関係』を表しているか確認します。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問01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8ページ）</a:t>
            </a:r>
          </a:p>
          <a:p>
            <a:r>
              <a:t>都立高入試国語_大問4_総合問題集_問題編_選択肢難度改善版_v3.1_模範解答赤字記入版（Word 8ページ）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問02です。問です。必要な情報を目立たせるのはなぜか。今は答えを表示していません。映像を止めて、やってみましょう！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practiceProblem</a:t>
            </a:r>
          </a:p>
          <a:p>
            <a:r>
              <a:t>PROBLEM_ID: 問02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PRACTICE_PROMPT_DISPLAY_COUNT: 1</a:t>
            </a:r>
          </a:p>
          <a:p>
            <a:r>
              <a:t>PRACTICE_PROMPT_AUDIO_COUNT: 1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8ページ）</a:t>
            </a:r>
          </a:p>
          <a:p>
            <a:r>
              <a:t>都立高入試国語_大問4_総合問題集_問題編_選択肢難度改善版_v3.1_模範解答赤字記入版（Word 8ページ）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  <a:p>
            <a:r>
              <a:t>[v4.10.0 やってみましょうシーン]</a:t>
            </a:r>
          </a:p>
          <a:p>
            <a:r>
              <a:t>PRACTICE_PROMPT_TEXT: 映像を止めて、やってみましょう！</a:t>
            </a:r>
          </a:p>
          <a:p>
            <a:r>
              <a:t>PRACTICE_PROMPT_RECT_NORMALIZED: x=0; y=0.875; width=1; height=0.125</a:t>
            </a:r>
          </a:p>
          <a:p>
            <a:r>
              <a:t>PRACTICE_PROMPT_RECT_2560X1440: x=0; y=1260; width=2560; height=180</a:t>
            </a:r>
          </a:p>
          <a:p>
            <a:r>
              <a:t>PRACTICE_PROMPT_BAND_COLOR: #2E4B6B</a:t>
            </a:r>
          </a:p>
          <a:p>
            <a:r>
              <a:t>PRACTICE_PROMPT_TEXT_STYLE: Yu Gothic; 28pt; bold; #FFFFFF; horizontal=center; vertical=middle</a:t>
            </a:r>
          </a:p>
          <a:p>
            <a:r>
              <a:t>PRACTICE_PROMPT_Z_ORDER: frontmost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02の答え合わせです。決め手は、『なぜか』です。主型は、理由型です。この問では、情報を目立たせる理由・目的です。だから、根拠範囲は、全文（特に冒頭と結末）です。答えは、理由型／情報を目立たせる理由・目的／全文（特に冒頭と結末）で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問02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8ページ）</a:t>
            </a:r>
          </a:p>
          <a:p>
            <a:r>
              <a:t>都立高入試国語_大問4_総合問題集_問題編_選択肢難度改善版_v3.1_模範解答赤字記入版（Word 8ページ）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02を、もう一段深く確認します。理由は、情報を目立たせる行動の後に、必要な行動がしやすくなるという目的が続いている。よくある誤りは、『目立つから』では言い換えただけで、なぜ目立たせるのかを説明していない。最後に、答えに、行動と分かりやすさを結ぶ目的が入っているか確かめる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問02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8ページ）</a:t>
            </a:r>
          </a:p>
          <a:p>
            <a:r>
              <a:t>都立高入試国語_大問4_総合問題集_問題編_選択肢難度改善版_v3.1_模範解答赤字記入版（Word 8ページ）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問03です。問です。傍線部は、どのような役割を果たしているか。今は答えを表示していません。映像を止めて、やってみましょう！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practiceProblem</a:t>
            </a:r>
          </a:p>
          <a:p>
            <a:r>
              <a:t>PROBLEM_ID: 問03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PRACTICE_PROMPT_DISPLAY_COUNT: 1</a:t>
            </a:r>
          </a:p>
          <a:p>
            <a:r>
              <a:t>PRACTICE_PROMPT_AUDIO_COUNT: 1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8ページ）</a:t>
            </a:r>
          </a:p>
          <a:p>
            <a:r>
              <a:t>都立高入試国語_大問4_総合問題集_問題編_選択肢難度改善版_v3.1_模範解答赤字記入版（Word 8ページ）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  <a:p>
            <a:r>
              <a:t>[v4.10.0 やってみましょうシーン]</a:t>
            </a:r>
          </a:p>
          <a:p>
            <a:r>
              <a:t>PRACTICE_PROMPT_TEXT: 映像を止めて、やってみましょう！</a:t>
            </a:r>
          </a:p>
          <a:p>
            <a:r>
              <a:t>PRACTICE_PROMPT_RECT_NORMALIZED: x=0; y=0.875; width=1; height=0.125</a:t>
            </a:r>
          </a:p>
          <a:p>
            <a:r>
              <a:t>PRACTICE_PROMPT_RECT_2560X1440: x=0; y=1260; width=2560; height=180</a:t>
            </a:r>
          </a:p>
          <a:p>
            <a:r>
              <a:t>PRACTICE_PROMPT_BAND_COLOR: #2E4B6B</a:t>
            </a:r>
          </a:p>
          <a:p>
            <a:r>
              <a:t>PRACTICE_PROMPT_TEXT_STYLE: Yu Gothic; 28pt; bold; #FFFFFF; horizontal=center; vertical=middle</a:t>
            </a:r>
          </a:p>
          <a:p>
            <a:r>
              <a:t>PRACTICE_PROMPT_Z_ORDER: frontmost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03の答え合わせです。決め手は、『役割』です。主型は、構成・役割型です。この問では、例が前後に果たす働きです。だから、根拠範囲は、傍線部とその前後です。答えは、構成・役割型／例が前後に果たす働き／傍線部とその前後で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問03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8ページ）</a:t>
            </a:r>
          </a:p>
          <a:p>
            <a:r>
              <a:t>都立高入試国語_大問4_総合問題集_問題編_選択肢難度改善版_v3.1_模範解答赤字記入版（Word 8ページ）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03を、もう一段深く確認します。理由は、傍線部は、前の『必要な行動に合う情報』を、出口と矢印の例で具体的に見せている。よくある誤りは、『出口を探す場面を書いている』だけでは、前後に対する働きが分からない。最後に、答えに『前の考え』と『具体化』の両方が入っているか確かめる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問03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8ページ）</a:t>
            </a:r>
          </a:p>
          <a:p>
            <a:r>
              <a:t>都立高入試国語_大問4_総合問題集_問題編_選択肢難度改善版_v3.1_模範解答赤字記入版（Word 8ページ）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問04です。問です。本文で筆者が最も述べたいことは何か。今は答えを表示していません。映像を止めて、やってみましょう！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practiceProblem</a:t>
            </a:r>
          </a:p>
          <a:p>
            <a:r>
              <a:t>PROBLEM_ID: 問04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PRACTICE_PROMPT_DISPLAY_COUNT: 1</a:t>
            </a:r>
          </a:p>
          <a:p>
            <a:r>
              <a:t>PRACTICE_PROMPT_AUDIO_COUNT: 1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8ページ）</a:t>
            </a:r>
          </a:p>
          <a:p>
            <a:r>
              <a:t>都立高入試国語_大問4_総合問題集_問題編_選択肢難度改善版_v3.1_模範解答赤字記入版（Word 8ページ）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  <a:p>
            <a:r>
              <a:t>[v4.10.0 やってみましょうシーン]</a:t>
            </a:r>
          </a:p>
          <a:p>
            <a:r>
              <a:t>PRACTICE_PROMPT_TEXT: 映像を止めて、やってみましょう！</a:t>
            </a:r>
          </a:p>
          <a:p>
            <a:r>
              <a:t>PRACTICE_PROMPT_RECT_NORMALIZED: x=0; y=0.875; width=1; height=0.125</a:t>
            </a:r>
          </a:p>
          <a:p>
            <a:r>
              <a:t>PRACTICE_PROMPT_RECT_2560X1440: x=0; y=1260; width=2560; height=180</a:t>
            </a:r>
          </a:p>
          <a:p>
            <a:r>
              <a:t>PRACTICE_PROMPT_BAND_COLOR: #2E4B6B</a:t>
            </a:r>
          </a:p>
          <a:p>
            <a:r>
              <a:t>PRACTICE_PROMPT_TEXT_STYLE: Yu Gothic; 28pt; bold; #FFFFFF; horizontal=center; vertical=middle</a:t>
            </a:r>
          </a:p>
          <a:p>
            <a:r>
              <a:t>PRACTICE_PROMPT_Z_ORDER: frontmost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04の答え合わせです。決め手は、『最も述べたいこと・最も適切』です。主型は、主張・要旨型です。この問では、本文全体の中心的判断です。だから、根拠範囲は、全文（特に冒頭と結末）です。答えは、主張・要旨型／本文全体の中心的判断／全文（特に冒頭と結末）で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問04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8ページ）</a:t>
            </a:r>
          </a:p>
          <a:p>
            <a:r>
              <a:t>都立高入試国語_大問4_総合問題集_問題編_選択肢難度改善版_v3.1_模範解答赤字記入版（Word 8ページ）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04を、もう一段深く確認します。理由は、冒頭で誤解を退け、結末で『目的との関係が分かりやすさを決める』と中心を言い切っている。よくある誤りは、印象に残った矢印の例だけを選ぶと、本文全体の中心から外れる。最後に、冒頭と結末を一文でまとめても同じ判断になるか確かめる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問04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8ページ）</a:t>
            </a:r>
          </a:p>
          <a:p>
            <a:r>
              <a:t>都立高入試国語_大問4_総合問題集_問題編_選択肢難度改善版_v3.1_模範解答赤字記入版（Word 8ページ）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8ページの４つの問を比べます。問いの最後の言葉のどの言葉から主型と焦点が決まり、本文で見る場所がどう変わるのかを確かめましょう。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review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8ページ）</a:t>
            </a:r>
          </a:p>
          <a:p>
            <a:r>
              <a:t>都立高入試国語_大問4_総合問題集_問題編_選択肢難度改善版_v3.1_模範解答赤字記入版（Word 8ページ）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問05です。問です。『学ぶとは、答えを増やすことだけではない』とはどういうことか。映像を止めて、やってみましょう！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practiceProblem</a:t>
            </a:r>
          </a:p>
          <a:p>
            <a:r>
              <a:t>PROBLEM_ID: 問05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PRACTICE_PROMPT_DISPLAY_COUNT: 1</a:t>
            </a:r>
          </a:p>
          <a:p>
            <a:r>
              <a:t>PRACTICE_PROMPT_AUDIO_COUNT: 1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10ページ）</a:t>
            </a:r>
          </a:p>
          <a:p>
            <a:r>
              <a:t>都立高入試国語_大問4_総合問題集_問題編_選択肢難度改善版_v3.1_模範解答赤字記入版（Word 10ページ）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  <a:p>
            <a:r>
              <a:t>[v4.10.0 やってみましょうシーン]</a:t>
            </a:r>
          </a:p>
          <a:p>
            <a:r>
              <a:t>PRACTICE_PROMPT_TEXT: 映像を止めて、やってみましょう！</a:t>
            </a:r>
          </a:p>
          <a:p>
            <a:r>
              <a:t>PRACTICE_PROMPT_RECT_NORMALIZED: x=0; y=0.875; width=1; height=0.125</a:t>
            </a:r>
          </a:p>
          <a:p>
            <a:r>
              <a:t>PRACTICE_PROMPT_RECT_2560X1440: x=0; y=1260; width=2560; height=180</a:t>
            </a:r>
          </a:p>
          <a:p>
            <a:r>
              <a:t>PRACTICE_PROMPT_BAND_COLOR: #2E4B6B</a:t>
            </a:r>
          </a:p>
          <a:p>
            <a:r>
              <a:t>PRACTICE_PROMPT_TEXT_STYLE: Yu Gothic; 28pt; bold; #FFFFFF; horizontal=center; vertical=middle</a:t>
            </a:r>
          </a:p>
          <a:p>
            <a:r>
              <a:t>PRACTICE_PROMPT_Z_ORDER: frontmost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05の答え合わせです。決め手は、『とはどういうことか』です。主型は、言い換え型です。だから、型別に見るものは、定義・言い換え・具体と抽象です。答えは、言い換え型／傍線部と同じ内容／定義・言い換え・具体と抽象で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問05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10ページ）</a:t>
            </a:r>
          </a:p>
          <a:p>
            <a:r>
              <a:t>都立高入試国語_大問4_総合問題集_問題編_選択肢難度改善版_v3.1_模範解答赤字記入版（Word 10ページ）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問06です。問です。失敗した条件も記録するのはなぜか。映像を止めて、やってみましょう！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practiceProblem</a:t>
            </a:r>
          </a:p>
          <a:p>
            <a:r>
              <a:t>PROBLEM_ID: 問06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PRACTICE_PROMPT_DISPLAY_COUNT: 1</a:t>
            </a:r>
          </a:p>
          <a:p>
            <a:r>
              <a:t>PRACTICE_PROMPT_AUDIO_COUNT: 1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10ページ）</a:t>
            </a:r>
          </a:p>
          <a:p>
            <a:r>
              <a:t>都立高入試国語_大問4_総合問題集_問題編_選択肢難度改善版_v3.1_模範解答赤字記入版（Word 10ページ）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  <a:p>
            <a:r>
              <a:t>[v4.10.0 やってみましょうシーン]</a:t>
            </a:r>
          </a:p>
          <a:p>
            <a:r>
              <a:t>PRACTICE_PROMPT_TEXT: 映像を止めて、やってみましょう！</a:t>
            </a:r>
          </a:p>
          <a:p>
            <a:r>
              <a:t>PRACTICE_PROMPT_RECT_NORMALIZED: x=0; y=0.875; width=1; height=0.125</a:t>
            </a:r>
          </a:p>
          <a:p>
            <a:r>
              <a:t>PRACTICE_PROMPT_RECT_2560X1440: x=0; y=1260; width=2560; height=180</a:t>
            </a:r>
          </a:p>
          <a:p>
            <a:r>
              <a:t>PRACTICE_PROMPT_BAND_COLOR: #2E4B6B</a:t>
            </a:r>
          </a:p>
          <a:p>
            <a:r>
              <a:t>PRACTICE_PROMPT_TEXT_STYLE: Yu Gothic; 28pt; bold; #FFFFFF; horizontal=center; vertical=middle</a:t>
            </a:r>
          </a:p>
          <a:p>
            <a:r>
              <a:t>PRACTICE_PROMPT_Z_ORDER: frontmost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06の答え合わせです。決め手は、『なぜか』です。主型は、理由型です。だから、型別に見るものは、原因・条件・目的と因果の向きです。答えは、理由型／条件も記録する理由・目的／原因・条件・目的と因果の向きで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問06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10ページ）</a:t>
            </a:r>
          </a:p>
          <a:p>
            <a:r>
              <a:t>都立高入試国語_大問4_総合問題集_問題編_選択肢難度改善版_v3.1_模範解答赤字記入版（Word 10ページ）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問07です。問です。ここで実験の例を挙げたのは、どのような役割を果たすためか。映像を止めて、やってみましょう！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practiceProblem</a:t>
            </a:r>
          </a:p>
          <a:p>
            <a:r>
              <a:t>PROBLEM_ID: 問07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PRACTICE_PROMPT_DISPLAY_COUNT: 1</a:t>
            </a:r>
          </a:p>
          <a:p>
            <a:r>
              <a:t>PRACTICE_PROMPT_AUDIO_COUNT: 1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10ページ）</a:t>
            </a:r>
          </a:p>
          <a:p>
            <a:r>
              <a:t>都立高入試国語_大問4_総合問題集_問題編_選択肢難度改善版_v3.1_模範解答赤字記入版（Word 10ページ）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  <a:p>
            <a:r>
              <a:t>[v4.10.0 やってみましょうシーン]</a:t>
            </a:r>
          </a:p>
          <a:p>
            <a:r>
              <a:t>PRACTICE_PROMPT_TEXT: 映像を止めて、やってみましょう！</a:t>
            </a:r>
          </a:p>
          <a:p>
            <a:r>
              <a:t>PRACTICE_PROMPT_RECT_NORMALIZED: x=0; y=0.875; width=1; height=0.125</a:t>
            </a:r>
          </a:p>
          <a:p>
            <a:r>
              <a:t>PRACTICE_PROMPT_RECT_2560X1440: x=0; y=1260; width=2560; height=180</a:t>
            </a:r>
          </a:p>
          <a:p>
            <a:r>
              <a:t>PRACTICE_PROMPT_BAND_COLOR: #2E4B6B</a:t>
            </a:r>
          </a:p>
          <a:p>
            <a:r>
              <a:t>PRACTICE_PROMPT_TEXT_STYLE: Yu Gothic; 28pt; bold; #FFFFFF; horizontal=center; vertical=middle</a:t>
            </a:r>
          </a:p>
          <a:p>
            <a:r>
              <a:t>PRACTICE_PROMPT_Z_ORDER: frontmost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07の答え合わせです。決め手は、『役割』です。主型は、構成・役割型です。だから、型別に見るものは、例と前後・具体と抽象です。答えは、構成・役割型／実験例が前後に果たす働き／例と前後・具体と抽象で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問07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10ページ）</a:t>
            </a:r>
          </a:p>
          <a:p>
            <a:r>
              <a:t>都立高入試国語_大問4_総合問題集_問題編_選択肢難度改善版_v3.1_模範解答赤字記入版（Word 10ページ）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問08です。問です。本文で筆者が最も述べたいことは何か。映像を止めて、やってみましょう！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practiceProblem</a:t>
            </a:r>
          </a:p>
          <a:p>
            <a:r>
              <a:t>PROBLEM_ID: 問08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PRACTICE_PROMPT_DISPLAY_COUNT: 1</a:t>
            </a:r>
          </a:p>
          <a:p>
            <a:r>
              <a:t>PRACTICE_PROMPT_AUDIO_COUNT: 1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10ページ）</a:t>
            </a:r>
          </a:p>
          <a:p>
            <a:r>
              <a:t>都立高入試国語_大問4_総合問題集_問題編_選択肢難度改善版_v3.1_模範解答赤字記入版（Word 10ページ）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  <a:p>
            <a:r>
              <a:t>[v4.10.0 やってみましょうシーン]</a:t>
            </a:r>
          </a:p>
          <a:p>
            <a:r>
              <a:t>PRACTICE_PROMPT_TEXT: 映像を止めて、やってみましょう！</a:t>
            </a:r>
          </a:p>
          <a:p>
            <a:r>
              <a:t>PRACTICE_PROMPT_RECT_NORMALIZED: x=0; y=0.875; width=1; height=0.125</a:t>
            </a:r>
          </a:p>
          <a:p>
            <a:r>
              <a:t>PRACTICE_PROMPT_RECT_2560X1440: x=0; y=1260; width=2560; height=180</a:t>
            </a:r>
          </a:p>
          <a:p>
            <a:r>
              <a:t>PRACTICE_PROMPT_BAND_COLOR: #2E4B6B</a:t>
            </a:r>
          </a:p>
          <a:p>
            <a:r>
              <a:t>PRACTICE_PROMPT_TEXT_STYLE: Yu Gothic; 28pt; bold; #FFFFFF; horizontal=center; vertical=middle</a:t>
            </a:r>
          </a:p>
          <a:p>
            <a:r>
              <a:t>PRACTICE_PROMPT_Z_ORDER: frontmost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08の答え合わせです。決め手は、『最も述べたいこと・最も適切』です。主型は、主張・要旨型です。だから、型別に見るものは、全文・冒頭・結末・対比・反復です。答えは、主張・要旨型／本文全体の中心的判断／全文・冒頭・結末・対比・反復で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問08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10ページ）</a:t>
            </a:r>
          </a:p>
          <a:p>
            <a:r>
              <a:t>都立高入試国語_大問4_総合問題集_問題編_選択肢難度改善版_v3.1_模範解答赤字記入版（Word 10ページ）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10ページの４つの問を比べます。問いの最後の言葉のどの言葉から主型と焦点が決まり、本文で見る場所がどう変わるのかを確かめましょう。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review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10ページ）</a:t>
            </a:r>
          </a:p>
          <a:p>
            <a:r>
              <a:t>都立高入試国語_大問4_総合問題集_問題編_選択肢難度改善版_v3.1_模範解答赤字記入版（Word 10ページ）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問09です。問です。『便利さは判断を消すことではない』とはどういうことか。今は答えを表示していません。映像を止めて、やってみましょう！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practiceProblem</a:t>
            </a:r>
          </a:p>
          <a:p>
            <a:r>
              <a:t>PROBLEM_ID: 問09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PRACTICE_PROMPT_DISPLAY_COUNT: 1</a:t>
            </a:r>
          </a:p>
          <a:p>
            <a:r>
              <a:t>PRACTICE_PROMPT_AUDIO_COUNT: 1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11ページ）</a:t>
            </a:r>
          </a:p>
          <a:p>
            <a:r>
              <a:t>都立高入試国語_大問4_総合問題集_問題編_選択肢難度改善版_v3.1_模範解答赤字記入版（Word 11ページ）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  <a:p>
            <a:r>
              <a:t>[v4.10.0 やってみましょうシーン]</a:t>
            </a:r>
          </a:p>
          <a:p>
            <a:r>
              <a:t>PRACTICE_PROMPT_TEXT: 映像を止めて、やってみましょう！</a:t>
            </a:r>
          </a:p>
          <a:p>
            <a:r>
              <a:t>PRACTICE_PROMPT_RECT_NORMALIZED: x=0; y=0.875; width=1; height=0.125</a:t>
            </a:r>
          </a:p>
          <a:p>
            <a:r>
              <a:t>PRACTICE_PROMPT_RECT_2560X1440: x=0; y=1260; width=2560; height=180</a:t>
            </a:r>
          </a:p>
          <a:p>
            <a:r>
              <a:t>PRACTICE_PROMPT_BAND_COLOR: #2E4B6B</a:t>
            </a:r>
          </a:p>
          <a:p>
            <a:r>
              <a:t>PRACTICE_PROMPT_TEXT_STYLE: Yu Gothic; 28pt; bold; #FFFFFF; horizontal=center; vertical=middle</a:t>
            </a:r>
          </a:p>
          <a:p>
            <a:r>
              <a:t>PRACTICE_PROMPT_Z_ORDER: frontmost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問09の答え合わせです。解答は画面の通りです。問いの最後の言葉と３つの解答欄の対応を確認してください。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問09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11ページ）</a:t>
            </a:r>
          </a:p>
          <a:p>
            <a:r>
              <a:t>都立高入試国語_大問4_総合問題集_問題編_選択肢難度改善版_v3.1_模範解答赤字記入版（Word 11ページ）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問10です。問です。先に自分の考えを短く書くのはなぜか。今は答えを表示していません。映像を止めて、やってみましょう！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practiceProblem</a:t>
            </a:r>
          </a:p>
          <a:p>
            <a:r>
              <a:t>PROBLEM_ID: 問10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PRACTICE_PROMPT_DISPLAY_COUNT: 1</a:t>
            </a:r>
          </a:p>
          <a:p>
            <a:r>
              <a:t>PRACTICE_PROMPT_AUDIO_COUNT: 1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11ページ）</a:t>
            </a:r>
          </a:p>
          <a:p>
            <a:r>
              <a:t>都立高入試国語_大問4_総合問題集_問題編_選択肢難度改善版_v3.1_模範解答赤字記入版（Word 11ページ）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  <a:p>
            <a:r>
              <a:t>[v4.10.0 やってみましょうシーン]</a:t>
            </a:r>
          </a:p>
          <a:p>
            <a:r>
              <a:t>PRACTICE_PROMPT_TEXT: 映像を止めて、やってみましょう！</a:t>
            </a:r>
          </a:p>
          <a:p>
            <a:r>
              <a:t>PRACTICE_PROMPT_RECT_NORMALIZED: x=0; y=0.875; width=1; height=0.125</a:t>
            </a:r>
          </a:p>
          <a:p>
            <a:r>
              <a:t>PRACTICE_PROMPT_RECT_2560X1440: x=0; y=1260; width=2560; height=180</a:t>
            </a:r>
          </a:p>
          <a:p>
            <a:r>
              <a:t>PRACTICE_PROMPT_BAND_COLOR: #2E4B6B</a:t>
            </a:r>
          </a:p>
          <a:p>
            <a:r>
              <a:t>PRACTICE_PROMPT_TEXT_STYLE: Yu Gothic; 28pt; bold; #FFFFFF; horizontal=center; vertical=middle</a:t>
            </a:r>
          </a:p>
          <a:p>
            <a:r>
              <a:t>PRACTICE_PROMPT_Z_ORDER: frontmost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問10の答え合わせです。解答は画面の通りです。問いの最後の言葉と３つの解答欄の対応を確認してください。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問10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11ページ）</a:t>
            </a:r>
          </a:p>
          <a:p>
            <a:r>
              <a:t>都立高入試国語_大問4_総合問題集_問題編_選択肢難度改善版_v3.1_模範解答赤字記入版（Word 11ページ）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問11です。問です。第三段落は文章全体の中でどのような役割を果たしているか。今は答えを表示していません。映像を止めて、やってみましょう！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practiceProblem</a:t>
            </a:r>
          </a:p>
          <a:p>
            <a:r>
              <a:t>PROBLEM_ID: 問11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PRACTICE_PROMPT_DISPLAY_COUNT: 1</a:t>
            </a:r>
          </a:p>
          <a:p>
            <a:r>
              <a:t>PRACTICE_PROMPT_AUDIO_COUNT: 1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11ページ）</a:t>
            </a:r>
          </a:p>
          <a:p>
            <a:r>
              <a:t>都立高入試国語_大問4_総合問題集_問題編_選択肢難度改善版_v3.1_模範解答赤字記入版（Word 11ページ）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  <a:p>
            <a:r>
              <a:t>[v4.10.0 やってみましょうシーン]</a:t>
            </a:r>
          </a:p>
          <a:p>
            <a:r>
              <a:t>PRACTICE_PROMPT_TEXT: 映像を止めて、やってみましょう！</a:t>
            </a:r>
          </a:p>
          <a:p>
            <a:r>
              <a:t>PRACTICE_PROMPT_RECT_NORMALIZED: x=0; y=0.875; width=1; height=0.125</a:t>
            </a:r>
          </a:p>
          <a:p>
            <a:r>
              <a:t>PRACTICE_PROMPT_RECT_2560X1440: x=0; y=1260; width=2560; height=180</a:t>
            </a:r>
          </a:p>
          <a:p>
            <a:r>
              <a:t>PRACTICE_PROMPT_BAND_COLOR: #2E4B6B</a:t>
            </a:r>
          </a:p>
          <a:p>
            <a:r>
              <a:t>PRACTICE_PROMPT_TEXT_STYLE: Yu Gothic; 28pt; bold; #FFFFFF; horizontal=center; vertical=middle</a:t>
            </a:r>
          </a:p>
          <a:p>
            <a:r>
              <a:t>PRACTICE_PROMPT_Z_ORDER: frontmost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問11の答え合わせです。解答は画面の通りです。問いの最後の言葉と３つの解答欄の対応を確認してください。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問11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11ページ）</a:t>
            </a:r>
          </a:p>
          <a:p>
            <a:r>
              <a:t>都立高入試国語_大問4_総合問題集_問題編_選択肢難度改善版_v3.1_模範解答赤字記入版（Word 11ページ）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問12です。問です。筆者の考えとして最も適切なものはどれか。今は答えを表示していません。映像を止めて、やってみましょう！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practiceProblem</a:t>
            </a:r>
          </a:p>
          <a:p>
            <a:r>
              <a:t>PROBLEM_ID: 問12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PRACTICE_PROMPT_DISPLAY_COUNT: 1</a:t>
            </a:r>
          </a:p>
          <a:p>
            <a:r>
              <a:t>PRACTICE_PROMPT_AUDIO_COUNT: 1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11ページ）</a:t>
            </a:r>
          </a:p>
          <a:p>
            <a:r>
              <a:t>都立高入試国語_大問4_総合問題集_問題編_選択肢難度改善版_v3.1_模範解答赤字記入版（Word 11ページ）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  <a:p>
            <a:r>
              <a:t>[v4.10.0 やってみましょうシーン]</a:t>
            </a:r>
          </a:p>
          <a:p>
            <a:r>
              <a:t>PRACTICE_PROMPT_TEXT: 映像を止めて、やってみましょう！</a:t>
            </a:r>
          </a:p>
          <a:p>
            <a:r>
              <a:t>PRACTICE_PROMPT_RECT_NORMALIZED: x=0; y=0.875; width=1; height=0.125</a:t>
            </a:r>
          </a:p>
          <a:p>
            <a:r>
              <a:t>PRACTICE_PROMPT_RECT_2560X1440: x=0; y=1260; width=2560; height=180</a:t>
            </a:r>
          </a:p>
          <a:p>
            <a:r>
              <a:t>PRACTICE_PROMPT_BAND_COLOR: #2E4B6B</a:t>
            </a:r>
          </a:p>
          <a:p>
            <a:r>
              <a:t>PRACTICE_PROMPT_TEXT_STYLE: Yu Gothic; 28pt; bold; #FFFFFF; horizontal=center; vertical=middle</a:t>
            </a:r>
          </a:p>
          <a:p>
            <a:r>
              <a:t>PRACTICE_PROMPT_Z_ORDER: frontmost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問12の答え合わせです。解答は画面の通りです。問いの最後の言葉と３つの解答欄の対応を確認してください。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answerExplanation</a:t>
            </a:r>
          </a:p>
          <a:p>
            <a:r>
              <a:t>PROBLEM_ID: 問12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11ページ）</a:t>
            </a:r>
          </a:p>
          <a:p>
            <a:r>
              <a:t>都立高入試国語_大問4_総合問題集_問題編_選択肢難度改善版_v3.1_模範解答赤字記入版（Word 11ページ）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11ページの四つの問は、解答を画面で確認してください。同じ考え方で、問いの最後の言葉から主型、焦点、見る場所を決めます。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review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true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11ページ）</a:t>
            </a:r>
          </a:p>
          <a:p>
            <a:r>
              <a:t>都立高入試国語_大問4_総合問題集_問題編_選択肢難度改善版_v3.1_模範解答赤字記入版（Word 11ページ）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[読み上げ本文]</a:t>
            </a:r>
          </a:p>
          <a:p>
            <a:r>
              <a:t>第02回の手順をまとめます。問いの最後の言葉で主型を決め、何を答えるのかを短く言います。焦点が決まったら、答えの材料を本文のどこから探すか決めましょう。</a:t>
            </a:r>
          </a:p>
          <a:p>
            <a:r>
              <a:t>[/読み上げ本文]</a:t>
            </a:r>
          </a:p>
          <a:p>
            <a:endParaRPr/>
          </a:p>
          <a:p>
            <a:r>
              <a:t>[演出]</a:t>
            </a:r>
          </a:p>
          <a:p>
            <a:r>
              <a:t>SCENE_KIND: closing</a:t>
            </a:r>
          </a:p>
          <a:p>
            <a:r>
              <a:t>SPEAKER: みちしるべぇ先生</a:t>
            </a:r>
          </a:p>
          <a:p>
            <a:r>
              <a:t>PRE_ROLL_SECONDS: 3</a:t>
            </a:r>
          </a:p>
          <a:p>
            <a:r>
              <a:t>POST_ROLL_SECONDS: 3</a:t>
            </a:r>
          </a:p>
          <a:p>
            <a:r>
              <a:t>ANSWER_VISIBLE: false</a:t>
            </a:r>
          </a:p>
          <a:p>
            <a:r>
              <a:t>[制御]</a:t>
            </a:r>
          </a:p>
          <a:p>
            <a:r>
              <a:t>SENTENCE_END_PUNCTUATION: 。</a:t>
            </a:r>
          </a:p>
          <a:p>
            <a:r>
              <a:t>SENTENCE_END_PAUSE_MS: 1000</a:t>
            </a:r>
          </a:p>
          <a:p>
            <a:r>
              <a:t>PAUSE_AFTER_JAPANESE_PERIOD_MS: 1000</a:t>
            </a:r>
          </a:p>
          <a:p>
            <a:r>
              <a:t>NARRATION_SEGMENTATION: split-after=。; pause=1000ms</a:t>
            </a:r>
          </a:p>
          <a:p>
            <a:r>
              <a:t>PRONUNCIATION: 大問=だいもん; 主型=しゅがた; 文末=ぶんまつ; 問いの最後の言葉=といのさいごのことば; 問01=とい ぜろいち; 問02=とい ぜろに; 問03=とい ぜろさん; 問04=とい ぜろよん; 問05=とい ぜろご; 問06=とい ぜろろく; 問07=とい ぜろなな; 問08=とい ぜろはち; 問09=とい ぜろきゅう; 問10=とい じゅう; 問11=とい じゅういち; 問12=とい じゅうに; 焦点=しょうてん; 根拠=こんきょ; 傍線部=ぼうせんぶ</a:t>
            </a:r>
          </a:p>
          <a:p>
            <a:endParaRPr/>
          </a:p>
          <a:p>
            <a:r>
              <a:t>[Sources]</a:t>
            </a:r>
          </a:p>
          <a:p>
            <a:r>
              <a:t>都立高入試国語_大問4_総合問題集_問題編_選択肢難度改善版_v3.1_生徒配布用（Word 7～11ページ）</a:t>
            </a:r>
          </a:p>
          <a:p>
            <a:r>
              <a:t>都立高入試国語_大問4_総合問題集_問題編_選択肢難度改善版_v3.1_模範解答赤字記入版（Word 7～11ページ）</a:t>
            </a:r>
          </a:p>
          <a:p>
            <a:r>
              <a:t>都立高入試国語_大問3_半自動化パッケージ_v4.9.9_漏れ防止ゲート統合版（最新仕様を優先）</a:t>
            </a:r>
          </a:p>
          <a:p>
            <a:r>
              <a:t>参考映像：都立高入試国語_大問3_07-11ページ.mp4（授業の進行と停止表示のみ参照）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E3E5C9F-1A84-40CE-B5F7-EA3E1FF89F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E5A"/>
          </a:solidFill>
          <a:ln w="0">
            <a:solidFill>
              <a:srgbClr val="2F6E5A"/>
            </a:solidFill>
            <a:prstDash val="solid"/>
          </a:ln>
        </p:spPr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A09F208-3ED4-4467-8C35-2C9CC4B59EC8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11772900" cy="6496050"/>
          </a:xfrm>
          <a:prstGeom prst="roundRect">
            <a:avLst>
              <a:gd name="adj" fmla="val 1534"/>
            </a:avLst>
          </a:prstGeom>
          <a:solidFill>
            <a:srgbClr val="F4FBF8"/>
          </a:solidFill>
          <a:ln w="11906">
            <a:solidFill>
              <a:srgbClr val="91C7AE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06FC314-3100-48CC-804B-7881238BFC93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8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都立高入試国語　大問4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1BCCE89-BC3C-4811-93AF-163E2CDE52D4}"/>
              </a:ext>
            </a:extLst>
          </p:cNvPr>
          <p:cNvSpPr>
            <a:spLocks noGrp="1"/>
          </p:cNvSpPr>
          <p:nvPr/>
        </p:nvSpPr>
        <p:spPr>
          <a:xfrm>
            <a:off x="552450" y="904875"/>
            <a:ext cx="5905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30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問から答え方を読み取り</a:t>
            </a:r>
          </a:p>
          <a:p>
            <a:pPr algn="l">
              <a:buNone/>
            </a:pPr>
            <a:r>
              <a:rPr sz="30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本文で探す場所を決める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9FA4D03-71A9-462C-86F5-CE8C52B15629}"/>
              </a:ext>
            </a:extLst>
          </p:cNvPr>
          <p:cNvSpPr>
            <a:spLocks noGrp="1"/>
          </p:cNvSpPr>
          <p:nvPr/>
        </p:nvSpPr>
        <p:spPr>
          <a:xfrm>
            <a:off x="590550" y="2362200"/>
            <a:ext cx="5524500" cy="514350"/>
          </a:xfrm>
          <a:prstGeom prst="roundRect">
            <a:avLst>
              <a:gd name="adj" fmla="val 0"/>
            </a:avLst>
          </a:prstGeom>
          <a:solidFill>
            <a:srgbClr val="FFF4D8"/>
          </a:solidFill>
          <a:ln w="9525">
            <a:solidFill>
              <a:srgbClr val="E9C883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問題編7～11ページ　授業解説　第02回</a:t>
            </a: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B4112FA8-FCA5-4C41-8880-CF969042ACC6}"/>
              </a:ext>
            </a:extLst>
          </p:cNvPr>
          <p:cNvSpPr>
            <a:spLocks noGrp="1"/>
          </p:cNvSpPr>
          <p:nvPr/>
        </p:nvSpPr>
        <p:spPr>
          <a:xfrm>
            <a:off x="8763000" y="1771650"/>
            <a:ext cx="285750" cy="361950"/>
          </a:xfrm>
          <a:prstGeom prst="rightArrow">
            <a:avLst/>
          </a:prstGeom>
          <a:solidFill>
            <a:srgbClr val="68A78C"/>
          </a:solidFill>
          <a:ln w="0">
            <a:solidFill>
              <a:srgbClr val="68A78C"/>
            </a:solidFill>
            <a:prstDash val="solid"/>
          </a:ln>
        </p:spPr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381DDA0-B32C-4ECC-B05A-4333CBA7FD77}"/>
              </a:ext>
            </a:extLst>
          </p:cNvPr>
          <p:cNvSpPr>
            <a:spLocks noGrp="1"/>
          </p:cNvSpPr>
          <p:nvPr/>
        </p:nvSpPr>
        <p:spPr>
          <a:xfrm>
            <a:off x="6762750" y="1143000"/>
            <a:ext cx="2000250" cy="1619250"/>
          </a:xfrm>
          <a:prstGeom prst="roundRect">
            <a:avLst>
              <a:gd name="adj" fmla="val 8889"/>
            </a:avLst>
          </a:prstGeom>
          <a:solidFill>
            <a:srgbClr val="EAF6F0"/>
          </a:solidFill>
          <a:ln w="9525">
            <a:solidFill>
              <a:srgbClr val="B6D9C8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問を先に読む</a:t>
            </a:r>
          </a:p>
          <a:p>
            <a:pPr algn="ctr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何を答える？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BECE16ED-2D76-4099-9EA9-58197DED1D33}"/>
              </a:ext>
            </a:extLst>
          </p:cNvPr>
          <p:cNvSpPr>
            <a:spLocks noGrp="1"/>
          </p:cNvSpPr>
          <p:nvPr/>
        </p:nvSpPr>
        <p:spPr>
          <a:xfrm>
            <a:off x="9048750" y="1143000"/>
            <a:ext cx="2000250" cy="1619250"/>
          </a:xfrm>
          <a:prstGeom prst="roundRect">
            <a:avLst>
              <a:gd name="adj" fmla="val 8889"/>
            </a:avLst>
          </a:prstGeom>
          <a:solidFill>
            <a:srgbClr val="E7F1FB"/>
          </a:solidFill>
          <a:ln w="9525">
            <a:solidFill>
              <a:srgbClr val="A9C5E5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本文へ戻る</a:t>
            </a:r>
          </a:p>
          <a:p>
            <a:pPr algn="ctr">
              <a:buNone/>
            </a:pP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どこを探す？</a:t>
            </a:r>
          </a:p>
        </p:txBody>
      </p:sp>
      <p:sp>
        <p:nvSpPr>
          <p:cNvPr id="10" name="DIALOG_SPEAKER">
            <a:extLst>
              <a:ext uri="{FF2B5EF4-FFF2-40B4-BE49-F238E27FC236}">
                <a16:creationId xmlns:a16="http://schemas.microsoft.com/office/drawing/2014/main" id="{09218CDE-0D41-49F2-9889-553620886B99}"/>
              </a:ext>
            </a:extLst>
          </p:cNvPr>
          <p:cNvSpPr>
            <a:spLocks noGrp="1"/>
          </p:cNvSpPr>
          <p:nvPr/>
        </p:nvSpPr>
        <p:spPr>
          <a:xfrm>
            <a:off x="7048500" y="3609975"/>
            <a:ext cx="2190750" cy="400050"/>
          </a:xfrm>
          <a:prstGeom prst="roundRect">
            <a:avLst>
              <a:gd name="adj" fmla="val 0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21BE8EC-B0A5-4627-9CC9-859695AEB3DD}"/>
              </a:ext>
            </a:extLst>
          </p:cNvPr>
          <p:cNvSpPr>
            <a:spLocks noGrp="1"/>
          </p:cNvSpPr>
          <p:nvPr/>
        </p:nvSpPr>
        <p:spPr>
          <a:xfrm>
            <a:off x="7000875" y="4010025"/>
            <a:ext cx="4476750" cy="1752600"/>
          </a:xfrm>
          <a:prstGeom prst="roundRect">
            <a:avLst>
              <a:gd name="adj" fmla="val 7273"/>
            </a:avLst>
          </a:prstGeom>
          <a:solidFill>
            <a:srgbClr val="FFF4D8"/>
          </a:solidFill>
          <a:ln w="11430">
            <a:solidFill>
              <a:srgbClr val="A67A43"/>
            </a:solidFill>
          </a:ln>
        </p:spPr>
        <p:txBody>
          <a:bodyPr wrap="square" lIns="57150" tIns="47625" rIns="57150" bIns="4762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問の最後の言葉から、答える中身と本文で探す場所を決めます。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68543A5-2B08-4177-B93F-F04B710F7812}"/>
              </a:ext>
            </a:extLst>
          </p:cNvPr>
          <p:cNvSpPr>
            <a:spLocks noGrp="1"/>
          </p:cNvSpPr>
          <p:nvPr/>
        </p:nvSpPr>
        <p:spPr>
          <a:xfrm>
            <a:off x="6867525" y="5862828"/>
            <a:ext cx="4667250" cy="533400"/>
          </a:xfrm>
          <a:prstGeom prst="roundRect">
            <a:avLst>
              <a:gd name="adj" fmla="val 25000"/>
            </a:avLst>
          </a:prstGeom>
          <a:solidFill>
            <a:srgbClr val="EAF5F5"/>
          </a:solidFill>
          <a:ln w="9525">
            <a:solidFill>
              <a:srgbClr val="B8DCDD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問 → ① 主型 → ② 焦点 → 型別 → ③ 根拠 → ④ 核 → ⑤ 照合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AE4F66B2-A116-45E6-8447-068C11F4DFB7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EAF5F5"/>
          </a:solidFill>
          <a:ln w="9525">
            <a:solidFill>
              <a:srgbClr val="B8DCDD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4D9298"/>
                </a:solidFill>
                <a:latin typeface="Yu Gothic"/>
                <a:ea typeface="Yu Gothic"/>
                <a:cs typeface="Yu Gothic"/>
              </a:rPr>
              <a:t>7～11ページ  01/50</a:t>
            </a:r>
          </a:p>
        </p:txBody>
      </p:sp>
      <p:pic>
        <p:nvPicPr>
          <p:cNvPr id="30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1886" y="4573048"/>
            <a:ext cx="1524000" cy="1798130"/>
          </a:xfrm>
          <a:prstGeom prst="rect">
            <a:avLst/>
          </a:prstGeom>
        </p:spPr>
      </p:pic>
      <p:pic>
        <p:nvPicPr>
          <p:cNvPr id="31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495550" y="4287774"/>
            <a:ext cx="1809750" cy="2092357"/>
          </a:xfrm>
          <a:prstGeom prst="rect">
            <a:avLst/>
          </a:prstGeom>
        </p:spPr>
      </p:pic>
      <p:pic>
        <p:nvPicPr>
          <p:cNvPr id="32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736687" y="4533138"/>
            <a:ext cx="1661827" cy="186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30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E5A"/>
          </a:solidFill>
          <a:ln w="0">
            <a:solidFill>
              <a:srgbClr val="2F6E5A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今回のゴール　問から本文へ戻る道筋を説明する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4FBF8"/>
          </a:solidFill>
          <a:ln w="11906">
            <a:solidFill>
              <a:srgbClr val="91C7AE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7～11ページ  02/50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4FBF8"/>
          </a:solidFill>
          <a:ln w="11906">
            <a:solidFill>
              <a:srgbClr val="91C7AE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A368E1ED-FB9C-475F-98A8-56BDF7F0D149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31BB79A6-0932-4C58-A4DA-814D2C131BB6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8C4453F2-162A-4532-9EDC-1BA4FFDDDE16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32B4AE11-5F1B-412A-92EF-BD9DF93BAD4A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BDB4639A-BC33-4ABB-8709-39C2AD679D21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2CAFC81A-EF39-4D28-9856-47DEE86C9E0C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BE67CD25-0525-4FA6-B187-5CD3E34AE2B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369DBA7E-C88B-4CC1-A2B3-76D363626F73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8B85B005-054A-4C7C-947D-6C79A3E8CD71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5BF1EED4-1836-45E7-9D27-804CAA9BCDAA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『なんとなく』をやめて、問→答える中身→探す場所を言葉にします。</a:t>
            </a:r>
          </a:p>
        </p:txBody>
      </p:sp>
      <p:sp>
        <p:nvSpPr>
          <p:cNvPr id="41" name="GOAL_① 設問">
            <a:extLst>
              <a:ext uri="{FF2B5EF4-FFF2-40B4-BE49-F238E27FC236}">
                <a16:creationId xmlns:a16="http://schemas.microsoft.com/office/drawing/2014/main" id="{324C67DC-76F9-472E-9411-9BCFBB25664E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2209800" cy="1619250"/>
          </a:xfrm>
          <a:prstGeom prst="roundRect">
            <a:avLst>
              <a:gd name="adj" fmla="val 4706"/>
            </a:avLst>
          </a:prstGeom>
          <a:solidFill>
            <a:srgbClr val="EAF3FB"/>
          </a:solidFill>
          <a:ln w="14288">
            <a:solidFill>
              <a:srgbClr val="3E6F9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C00000"/>
                </a:solidFill>
                <a:latin typeface="Yu Gothic"/>
                <a:ea typeface="Yu Gothic"/>
                <a:cs typeface="Yu Gothic"/>
              </a:rPr>
              <a:t>① 問を見る</a:t>
            </a:r>
          </a:p>
          <a:p>
            <a:pPr algn="ctr">
              <a:buNone/>
            </a:pPr>
            <a:endParaRPr sz="1550" b="1">
              <a:solidFill>
                <a:srgbClr val="334F6D"/>
              </a:solidFill>
              <a:latin typeface="Yu Gothic"/>
              <a:ea typeface="Yu Gothic"/>
              <a:cs typeface="Yu Gothic"/>
            </a:endParaRP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最後の言葉まで読む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例：なぜ・役割・最も</a:t>
            </a:r>
          </a:p>
        </p:txBody>
      </p:sp>
      <p:sp>
        <p:nvSpPr>
          <p:cNvPr id="42" name="GOAL_② 本文">
            <a:extLst>
              <a:ext uri="{FF2B5EF4-FFF2-40B4-BE49-F238E27FC236}">
                <a16:creationId xmlns:a16="http://schemas.microsoft.com/office/drawing/2014/main" id="{61F28EFA-73B3-4F6B-A0C7-D63BD4FF01E2}"/>
              </a:ext>
            </a:extLst>
          </p:cNvPr>
          <p:cNvSpPr>
            <a:spLocks noGrp="1"/>
          </p:cNvSpPr>
          <p:nvPr/>
        </p:nvSpPr>
        <p:spPr>
          <a:xfrm>
            <a:off x="3143250" y="2000250"/>
            <a:ext cx="2271522" cy="1619250"/>
          </a:xfrm>
          <a:prstGeom prst="roundRect">
            <a:avLst>
              <a:gd name="adj" fmla="val 4706"/>
            </a:avLst>
          </a:prstGeom>
          <a:solidFill>
            <a:srgbClr val="FFF5D6"/>
          </a:solidFill>
          <a:ln w="14288">
            <a:solidFill>
              <a:srgbClr val="A6781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C00000"/>
                </a:solidFill>
                <a:latin typeface="Yu Gothic"/>
                <a:ea typeface="Yu Gothic"/>
                <a:cs typeface="Yu Gothic"/>
              </a:rPr>
              <a:t>② 焦点を言う</a:t>
            </a:r>
          </a:p>
          <a:p>
            <a:pPr algn="ctr">
              <a:buNone/>
            </a:pPr>
            <a:endParaRPr sz="1550" b="1">
              <a:solidFill>
                <a:srgbClr val="334F6D"/>
              </a:solidFill>
              <a:latin typeface="Yu Gothic"/>
              <a:ea typeface="Yu Gothic"/>
              <a:cs typeface="Yu Gothic"/>
            </a:endParaRP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答える中身を一文に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例：行動の理由</a:t>
            </a:r>
          </a:p>
        </p:txBody>
      </p:sp>
      <p:sp>
        <p:nvSpPr>
          <p:cNvPr id="43" name="GOAL_③ 選択肢">
            <a:extLst>
              <a:ext uri="{FF2B5EF4-FFF2-40B4-BE49-F238E27FC236}">
                <a16:creationId xmlns:a16="http://schemas.microsoft.com/office/drawing/2014/main" id="{04F52DB8-56A6-4FC7-9D7A-ED49BAF612D1}"/>
              </a:ext>
            </a:extLst>
          </p:cNvPr>
          <p:cNvSpPr>
            <a:spLocks noGrp="1"/>
          </p:cNvSpPr>
          <p:nvPr/>
        </p:nvSpPr>
        <p:spPr>
          <a:xfrm>
            <a:off x="5793486" y="2000250"/>
            <a:ext cx="2340864" cy="1619250"/>
          </a:xfrm>
          <a:prstGeom prst="roundRect">
            <a:avLst>
              <a:gd name="adj" fmla="val 4706"/>
            </a:avLst>
          </a:prstGeom>
          <a:solidFill>
            <a:srgbClr val="E6F5F1"/>
          </a:solidFill>
          <a:ln w="14288">
            <a:solidFill>
              <a:srgbClr val="2D7E7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C00000"/>
                </a:solidFill>
                <a:latin typeface="Yu Gothic"/>
                <a:ea typeface="Yu Gothic"/>
                <a:cs typeface="Yu Gothic"/>
              </a:rPr>
              <a:t>③ 本文へ戻る</a:t>
            </a:r>
          </a:p>
          <a:p>
            <a:pPr algn="ctr">
              <a:buNone/>
            </a:pPr>
            <a:endParaRPr sz="1550" b="1">
              <a:solidFill>
                <a:srgbClr val="334F6D"/>
              </a:solidFill>
              <a:latin typeface="Yu Gothic"/>
              <a:ea typeface="Yu Gothic"/>
              <a:cs typeface="Yu Gothic"/>
            </a:endParaRP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探す言葉と場所を決める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近く・前後・全文</a:t>
            </a:r>
          </a:p>
        </p:txBody>
      </p:sp>
      <p:sp>
        <p:nvSpPr>
          <p:cNvPr id="44" name="GOAL_ARROW_1">
            <a:extLst>
              <a:ext uri="{FF2B5EF4-FFF2-40B4-BE49-F238E27FC236}">
                <a16:creationId xmlns:a16="http://schemas.microsoft.com/office/drawing/2014/main" id="{459E2394-084C-4C18-B315-01B067CBEB31}"/>
              </a:ext>
            </a:extLst>
          </p:cNvPr>
          <p:cNvSpPr>
            <a:spLocks noGrp="1"/>
          </p:cNvSpPr>
          <p:nvPr/>
        </p:nvSpPr>
        <p:spPr>
          <a:xfrm>
            <a:off x="2800350" y="2571750"/>
            <a:ext cx="323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45" name="GOAL_ARROW_2">
            <a:extLst>
              <a:ext uri="{FF2B5EF4-FFF2-40B4-BE49-F238E27FC236}">
                <a16:creationId xmlns:a16="http://schemas.microsoft.com/office/drawing/2014/main" id="{BD2E365B-7BE7-4507-8513-2AC3DB2B604E}"/>
              </a:ext>
            </a:extLst>
          </p:cNvPr>
          <p:cNvSpPr>
            <a:spLocks noGrp="1"/>
          </p:cNvSpPr>
          <p:nvPr/>
        </p:nvSpPr>
        <p:spPr>
          <a:xfrm>
            <a:off x="5450586" y="2571750"/>
            <a:ext cx="323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4F86C6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4F86C6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46" name="GOAL_BOTTOM">
            <a:extLst>
              <a:ext uri="{FF2B5EF4-FFF2-40B4-BE49-F238E27FC236}">
                <a16:creationId xmlns:a16="http://schemas.microsoft.com/office/drawing/2014/main" id="{AA5873E7-6AB9-4821-B461-A91E562D5245}"/>
              </a:ext>
            </a:extLst>
          </p:cNvPr>
          <p:cNvSpPr>
            <a:spLocks noGrp="1"/>
          </p:cNvSpPr>
          <p:nvPr/>
        </p:nvSpPr>
        <p:spPr>
          <a:xfrm>
            <a:off x="1000125" y="4286250"/>
            <a:ext cx="6143625" cy="838200"/>
          </a:xfrm>
          <a:prstGeom prst="roundRect">
            <a:avLst>
              <a:gd name="adj" fmla="val 9091"/>
            </a:avLst>
          </a:prstGeom>
          <a:solidFill>
            <a:srgbClr val="EAF6F0"/>
          </a:solidFill>
          <a:ln w="9525">
            <a:solidFill>
              <a:srgbClr val="9CCCB5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問いの最後の言葉を読む → 答える中身を言う → 本文で探す場所を決める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6C4A684B-7690-464A-B615-7EB351816E31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747B"/>
          </a:solidFill>
          <a:ln w="0">
            <a:solidFill>
              <a:srgbClr val="2F747B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４つの主型　問いの最後の言葉から答え方の大きな種類を決める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4FAFA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7～11ページ  03/50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4FAFA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6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7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58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F9E88DAB-5B6F-4698-96A1-441606187FD4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D43C977D-E4B5-47DF-93D1-CACCCC7900D7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7911290-CB09-47E4-9B85-93A91951AAC2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11B9539D-4F02-48A2-BA3F-13A7B5ADDED7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0D75433E-B6AD-4092-97EF-C2B3FC65267B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EF3905-57C7-403E-9000-A147BC3D2B26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FA406170-8E0B-4F42-80EB-45023ACDD89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88199ADE-16F4-492E-8DE3-020C730613AB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BE8EF"/>
          </a:solidFill>
          <a:ln w="13335">
            <a:solidFill>
              <a:srgbClr val="E4A0B7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C04AC49E-2C02-4391-8828-A2E7A0F5CFF9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C55D82"/>
          </a:solidFill>
          <a:ln w="9525">
            <a:solidFill>
              <a:srgbClr val="E4A0B7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かしこりん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4505DBD2-8F4C-44BB-AE42-97F3891A23BF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 dirty="0" err="1">
                <a:solidFill>
                  <a:srgbClr val="8F3D5B"/>
                </a:solidFill>
                <a:latin typeface="りいてがき筆"/>
                <a:ea typeface="りいてがき筆"/>
                <a:cs typeface="りいてがき筆"/>
              </a:rPr>
              <a:t>主型＝問の最後から分かる『答え方の大きな種類』です</a:t>
            </a:r>
            <a:r>
              <a:rPr sz="2030" b="0" dirty="0">
                <a:solidFill>
                  <a:srgbClr val="8F3D5B"/>
                </a:solidFill>
                <a:latin typeface="りいてがき筆"/>
                <a:ea typeface="りいてがき筆"/>
                <a:cs typeface="りいてがき筆"/>
              </a:rPr>
              <a:t>。</a:t>
            </a:r>
          </a:p>
        </p:txBody>
      </p:sp>
      <p:sp>
        <p:nvSpPr>
          <p:cNvPr id="41" name="TYPE_内容型">
            <a:extLst>
              <a:ext uri="{FF2B5EF4-FFF2-40B4-BE49-F238E27FC236}">
                <a16:creationId xmlns:a16="http://schemas.microsoft.com/office/drawing/2014/main" id="{EFADF8B9-2F98-4C72-BA49-C1016F6F85A2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143250" cy="1476375"/>
          </a:xfrm>
          <a:prstGeom prst="roundRect">
            <a:avLst>
              <a:gd name="adj" fmla="val 5161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240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言い換え型</a:t>
            </a:r>
            <a:endParaRPr sz="2400" b="1">
              <a:solidFill>
                <a:srgbClr val="C00000"/>
              </a:solidFill>
              <a:latin typeface="Yu Gothic"/>
              <a:ea typeface="Yu Gothic"/>
              <a:cs typeface="Yu Gothic"/>
            </a:endParaRP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『どういうこと？』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同じ意味に直す</a:t>
            </a:r>
          </a:p>
        </p:txBody>
      </p:sp>
      <p:sp>
        <p:nvSpPr>
          <p:cNvPr id="42" name="TYPE_理由型">
            <a:extLst>
              <a:ext uri="{FF2B5EF4-FFF2-40B4-BE49-F238E27FC236}">
                <a16:creationId xmlns:a16="http://schemas.microsoft.com/office/drawing/2014/main" id="{AB023AE8-11DC-44AD-9FE6-1E2D4DBFF161}"/>
              </a:ext>
            </a:extLst>
          </p:cNvPr>
          <p:cNvSpPr>
            <a:spLocks noGrp="1"/>
          </p:cNvSpPr>
          <p:nvPr/>
        </p:nvSpPr>
        <p:spPr>
          <a:xfrm>
            <a:off x="4333875" y="1809750"/>
            <a:ext cx="3143250" cy="1476375"/>
          </a:xfrm>
          <a:prstGeom prst="roundRect">
            <a:avLst>
              <a:gd name="adj" fmla="val 5161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240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理由型</a:t>
            </a:r>
            <a:endParaRPr sz="2400" b="1">
              <a:solidFill>
                <a:srgbClr val="C00000"/>
              </a:solidFill>
              <a:latin typeface="Yu Gothic"/>
              <a:ea typeface="Yu Gothic"/>
              <a:cs typeface="Yu Gothic"/>
            </a:endParaRP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『なぜ？』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原因・条件・目的</a:t>
            </a:r>
          </a:p>
        </p:txBody>
      </p:sp>
      <p:sp>
        <p:nvSpPr>
          <p:cNvPr id="43" name="TYPE_構成型">
            <a:extLst>
              <a:ext uri="{FF2B5EF4-FFF2-40B4-BE49-F238E27FC236}">
                <a16:creationId xmlns:a16="http://schemas.microsoft.com/office/drawing/2014/main" id="{E1077E12-673B-44D4-BB3D-D609C883D640}"/>
              </a:ext>
            </a:extLst>
          </p:cNvPr>
          <p:cNvSpPr>
            <a:spLocks noGrp="1"/>
          </p:cNvSpPr>
          <p:nvPr/>
        </p:nvSpPr>
        <p:spPr>
          <a:xfrm>
            <a:off x="666750" y="3762375"/>
            <a:ext cx="3143250" cy="1476375"/>
          </a:xfrm>
          <a:prstGeom prst="roundRect">
            <a:avLst>
              <a:gd name="adj" fmla="val 5161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240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構成・役割型</a:t>
            </a:r>
            <a:endParaRPr sz="2400" b="1">
              <a:solidFill>
                <a:srgbClr val="C00000"/>
              </a:solidFill>
              <a:latin typeface="Yu Gothic"/>
              <a:ea typeface="Yu Gothic"/>
              <a:cs typeface="Yu Gothic"/>
            </a:endParaRP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『どんな役割？』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前後に対する仕事</a:t>
            </a:r>
          </a:p>
        </p:txBody>
      </p:sp>
      <p:sp>
        <p:nvSpPr>
          <p:cNvPr id="44" name="TYPE_要旨型">
            <a:extLst>
              <a:ext uri="{FF2B5EF4-FFF2-40B4-BE49-F238E27FC236}">
                <a16:creationId xmlns:a16="http://schemas.microsoft.com/office/drawing/2014/main" id="{5BCAD29A-DAF9-4328-8BDD-66B66DAFA2AC}"/>
              </a:ext>
            </a:extLst>
          </p:cNvPr>
          <p:cNvSpPr>
            <a:spLocks noGrp="1"/>
          </p:cNvSpPr>
          <p:nvPr/>
        </p:nvSpPr>
        <p:spPr>
          <a:xfrm>
            <a:off x="4333875" y="3762375"/>
            <a:ext cx="3143250" cy="1476375"/>
          </a:xfrm>
          <a:prstGeom prst="roundRect">
            <a:avLst>
              <a:gd name="adj" fmla="val 5161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24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主張・要旨型</a:t>
            </a:r>
            <a:endParaRPr sz="2400" b="1">
              <a:solidFill>
                <a:srgbClr val="C00000"/>
              </a:solidFill>
              <a:latin typeface="Yu Gothic"/>
              <a:ea typeface="Yu Gothic"/>
              <a:cs typeface="Yu Gothic"/>
            </a:endParaRP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『最も述べたい？』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本文全体の中心</a:t>
            </a:r>
          </a:p>
        </p:txBody>
      </p:sp>
      <p:sp>
        <p:nvSpPr>
          <p:cNvPr id="48" name="VOCAB_HELP">
            <a:extLst>
              <a:ext uri="{FF2B5EF4-FFF2-40B4-BE49-F238E27FC236}">
                <a16:creationId xmlns:a16="http://schemas.microsoft.com/office/drawing/2014/main" id="{B95FF9F7-B4C3-42EF-A940-84F3EE6D8029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747B"/>
          </a:solidFill>
          <a:ln w="0">
            <a:solidFill>
              <a:srgbClr val="2F747B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『焦点』を、問・答える中身・本文で探すものに分ける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4FAFA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7～11ページ  04/50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4FAFA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6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7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58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2E381E0D-956F-4DA1-8598-9FB536A1F6D5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F34428F5-4B21-457A-BEED-67461B888F2B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50D4A302-7C9A-46E5-86B4-A8FFA1F6C675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F748FBE7-5786-41E9-88FE-42619E0415A0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4FED08FE-3BCE-42F5-A723-0E2E8B072311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60BFFF74-BFFA-47B6-9AED-BF3BCAC0D73C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DF758F6B-1C45-432D-968C-2AC29B6C7EBF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271280E8-E42B-42F6-AF81-CE657B626431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3E75A97A-2A50-4C09-9592-A93A9E93516B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7B35A35F-33C0-4C6E-8AE6-15B7DA631FFE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 dirty="0" err="1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焦点は場所の名前ではありません。問が求める答えの中身です</a:t>
            </a:r>
            <a:r>
              <a:rPr sz="2030" b="0" dirty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。</a:t>
            </a:r>
          </a:p>
        </p:txBody>
      </p:sp>
      <p:sp>
        <p:nvSpPr>
          <p:cNvPr id="41" name="FOCUS_何について？">
            <a:extLst>
              <a:ext uri="{FF2B5EF4-FFF2-40B4-BE49-F238E27FC236}">
                <a16:creationId xmlns:a16="http://schemas.microsoft.com/office/drawing/2014/main" id="{58263AA0-486F-47A5-9308-ED90DD8DD548}"/>
              </a:ext>
            </a:extLst>
          </p:cNvPr>
          <p:cNvSpPr>
            <a:spLocks noGrp="1"/>
          </p:cNvSpPr>
          <p:nvPr/>
        </p:nvSpPr>
        <p:spPr>
          <a:xfrm>
            <a:off x="619125" y="2095500"/>
            <a:ext cx="2095500" cy="1476375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 w="14288">
            <a:solidFill>
              <a:srgbClr val="3E6F9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C00000"/>
                </a:solidFill>
                <a:latin typeface="Yu Gothic"/>
                <a:ea typeface="Yu Gothic"/>
                <a:cs typeface="Yu Gothic"/>
              </a:rPr>
              <a:t>① 問を見る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傘を持って出るのは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なぜですか</a:t>
            </a:r>
          </a:p>
        </p:txBody>
      </p:sp>
      <p:sp>
        <p:nvSpPr>
          <p:cNvPr id="42" name="FOCUS_どの言葉？">
            <a:extLst>
              <a:ext uri="{FF2B5EF4-FFF2-40B4-BE49-F238E27FC236}">
                <a16:creationId xmlns:a16="http://schemas.microsoft.com/office/drawing/2014/main" id="{7FD70820-BAC3-410B-90D2-892A7C838380}"/>
              </a:ext>
            </a:extLst>
          </p:cNvPr>
          <p:cNvSpPr>
            <a:spLocks noGrp="1"/>
          </p:cNvSpPr>
          <p:nvPr/>
        </p:nvSpPr>
        <p:spPr>
          <a:xfrm>
            <a:off x="3048000" y="2095500"/>
            <a:ext cx="2095500" cy="1476375"/>
          </a:xfrm>
          <a:prstGeom prst="roundRect">
            <a:avLst>
              <a:gd name="adj" fmla="val 5161"/>
            </a:avLst>
          </a:prstGeom>
          <a:solidFill>
            <a:srgbClr val="FFF5D6"/>
          </a:solidFill>
          <a:ln w="14288">
            <a:solidFill>
              <a:srgbClr val="A6781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C00000"/>
                </a:solidFill>
                <a:latin typeface="Yu Gothic"/>
                <a:ea typeface="Yu Gothic"/>
                <a:cs typeface="Yu Gothic"/>
              </a:rPr>
              <a:t>② 答える中身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傘を持って出る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『理由』</a:t>
            </a:r>
          </a:p>
        </p:txBody>
      </p:sp>
      <p:sp>
        <p:nvSpPr>
          <p:cNvPr id="43" name="FOCUS_どの範囲？">
            <a:extLst>
              <a:ext uri="{FF2B5EF4-FFF2-40B4-BE49-F238E27FC236}">
                <a16:creationId xmlns:a16="http://schemas.microsoft.com/office/drawing/2014/main" id="{2756ECFB-526E-463E-8ED2-90E0CD3216B9}"/>
              </a:ext>
            </a:extLst>
          </p:cNvPr>
          <p:cNvSpPr>
            <a:spLocks noGrp="1"/>
          </p:cNvSpPr>
          <p:nvPr/>
        </p:nvSpPr>
        <p:spPr>
          <a:xfrm>
            <a:off x="5476875" y="2095500"/>
            <a:ext cx="2095500" cy="1476375"/>
          </a:xfrm>
          <a:prstGeom prst="roundRect">
            <a:avLst>
              <a:gd name="adj" fmla="val 5161"/>
            </a:avLst>
          </a:prstGeom>
          <a:solidFill>
            <a:srgbClr val="E6F5F1"/>
          </a:solidFill>
          <a:ln w="14288">
            <a:solidFill>
              <a:srgbClr val="2D7E7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C00000"/>
                </a:solidFill>
                <a:latin typeface="Yu Gothic"/>
                <a:ea typeface="Yu Gothic"/>
                <a:cs typeface="Yu Gothic"/>
              </a:rPr>
              <a:t>③ 本文で探す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行動の前の事情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行動の目的</a:t>
            </a:r>
          </a:p>
        </p:txBody>
      </p:sp>
      <p:sp>
        <p:nvSpPr>
          <p:cNvPr id="44" name="FOCUS_RULE">
            <a:extLst>
              <a:ext uri="{FF2B5EF4-FFF2-40B4-BE49-F238E27FC236}">
                <a16:creationId xmlns:a16="http://schemas.microsoft.com/office/drawing/2014/main" id="{F694E59E-B6B2-4D1C-93AE-6BED77834EC7}"/>
              </a:ext>
            </a:extLst>
          </p:cNvPr>
          <p:cNvSpPr>
            <a:spLocks noGrp="1"/>
          </p:cNvSpPr>
          <p:nvPr/>
        </p:nvSpPr>
        <p:spPr>
          <a:xfrm>
            <a:off x="619125" y="4238625"/>
            <a:ext cx="6953250" cy="1476375"/>
          </a:xfrm>
          <a:prstGeom prst="roundRect">
            <a:avLst>
              <a:gd name="adj" fmla="val 8421"/>
            </a:avLst>
          </a:prstGeom>
          <a:solidFill>
            <a:srgbClr val="EAF5F5"/>
          </a:solidFill>
          <a:ln w="14288">
            <a:solidFill>
              <a:srgbClr val="73B6BC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問：</a:t>
            </a:r>
            <a:r>
              <a:rPr sz="14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雨の日に、傘を持って出るのはなぜですか。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焦点：</a:t>
            </a:r>
            <a:r>
              <a:rPr sz="14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傘を持って出る理由。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本文で探す：</a:t>
            </a:r>
            <a:r>
              <a:rPr sz="14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傘を持つ前の事情や、傘を持つ目的。</a:t>
            </a:r>
          </a:p>
        </p:txBody>
      </p:sp>
      <p:sp>
        <p:nvSpPr>
          <p:cNvPr id="48" name="VOCAB_HELP">
            <a:extLst>
              <a:ext uri="{FF2B5EF4-FFF2-40B4-BE49-F238E27FC236}">
                <a16:creationId xmlns:a16="http://schemas.microsoft.com/office/drawing/2014/main" id="{A802EA55-A1A3-4A43-BF83-88AE299361D6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F3D5B"/>
          </a:solidFill>
          <a:ln w="0">
            <a:solidFill>
              <a:srgbClr val="8F3D5B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8F3D5B"/>
                </a:solidFill>
                <a:latin typeface="Yu Gothic"/>
                <a:ea typeface="Yu Gothic"/>
                <a:cs typeface="Yu Gothic"/>
              </a:rPr>
              <a:t>よくあるミス　本文の目立つ語だけで主型を決める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8F8"/>
          </a:solidFill>
          <a:ln w="11906">
            <a:solidFill>
              <a:srgbClr val="E08B8B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8F3D5B"/>
                </a:solidFill>
                <a:latin typeface="Yu Gothic"/>
                <a:ea typeface="Yu Gothic"/>
                <a:cs typeface="Yu Gothic"/>
              </a:rPr>
              <a:t>9ページ  05/50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8F8"/>
          </a:solidFill>
          <a:ln w="11906">
            <a:solidFill>
              <a:srgbClr val="E08B8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3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4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5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2A11F5A0-3829-45B1-BC92-CA576B55CFBE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3570EE69-85F4-47CA-814A-F648C494CB3A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5E5C7817-97B3-4EFC-87DB-063E95C373D8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64B79793-D23E-4B80-B7E2-45E1162873E8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CF210B2-403B-4B5B-B47A-1605F2AD3E7F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CF9214D6-C62B-43F2-8A8A-415E527EB00B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23F909D3-7B6D-4112-A15F-EB479DDD26B0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E82E971-5B05-4515-BCE1-CD6033A5EB9A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E6F5F5"/>
          </a:solidFill>
          <a:ln w="13335">
            <a:solidFill>
              <a:srgbClr val="73B6BC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E6C29829-7A1B-465F-9A9A-D41FB0D2895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247C84"/>
          </a:solidFill>
          <a:ln w="9525">
            <a:solidFill>
              <a:srgbClr val="73B6BC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バグっぺ</a:t>
            </a:r>
          </a:p>
        </p:txBody>
      </p:sp>
      <p:sp>
        <p:nvSpPr>
          <p:cNvPr id="41" name="PHASE_A　設問">
            <a:extLst>
              <a:ext uri="{FF2B5EF4-FFF2-40B4-BE49-F238E27FC236}">
                <a16:creationId xmlns:a16="http://schemas.microsoft.com/office/drawing/2014/main" id="{7DC3109A-B091-4237-B555-3973B176CC39}"/>
              </a:ext>
            </a:extLst>
          </p:cNvPr>
          <p:cNvSpPr>
            <a:spLocks noGrp="1"/>
          </p:cNvSpPr>
          <p:nvPr/>
        </p:nvSpPr>
        <p:spPr>
          <a:xfrm>
            <a:off x="392878" y="3048000"/>
            <a:ext cx="2338444" cy="1476375"/>
          </a:xfrm>
          <a:prstGeom prst="roundRect">
            <a:avLst>
              <a:gd name="adj" fmla="val 3902"/>
            </a:avLst>
          </a:prstGeom>
          <a:solidFill>
            <a:srgbClr val="F8E8EC"/>
          </a:solidFill>
          <a:ln w="14288">
            <a:solidFill>
              <a:srgbClr val="A94B61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本文の『理由』が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目に入る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↓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理由型だと思う</a:t>
            </a:r>
          </a:p>
        </p:txBody>
      </p:sp>
      <p:sp>
        <p:nvSpPr>
          <p:cNvPr id="42" name="PHASE_B　本文">
            <a:extLst>
              <a:ext uri="{FF2B5EF4-FFF2-40B4-BE49-F238E27FC236}">
                <a16:creationId xmlns:a16="http://schemas.microsoft.com/office/drawing/2014/main" id="{DCCD2A10-0528-4AEC-AE4A-A07034B05A26}"/>
              </a:ext>
            </a:extLst>
          </p:cNvPr>
          <p:cNvSpPr>
            <a:spLocks noGrp="1"/>
          </p:cNvSpPr>
          <p:nvPr/>
        </p:nvSpPr>
        <p:spPr>
          <a:xfrm>
            <a:off x="2996789" y="3048000"/>
            <a:ext cx="2338444" cy="1476375"/>
          </a:xfrm>
          <a:prstGeom prst="roundRect">
            <a:avLst>
              <a:gd name="adj" fmla="val 3902"/>
            </a:avLst>
          </a:prstGeom>
          <a:solidFill>
            <a:srgbClr val="EAF3FB"/>
          </a:solidFill>
          <a:ln w="14288">
            <a:solidFill>
              <a:srgbClr val="3E6F9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問いの最後の言葉は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『最も述べたいこと』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↓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全文の中心</a:t>
            </a:r>
          </a:p>
        </p:txBody>
      </p:sp>
      <p:sp>
        <p:nvSpPr>
          <p:cNvPr id="43" name="PHASE_C　選択肢">
            <a:extLst>
              <a:ext uri="{FF2B5EF4-FFF2-40B4-BE49-F238E27FC236}">
                <a16:creationId xmlns:a16="http://schemas.microsoft.com/office/drawing/2014/main" id="{5476E794-C3B2-4169-ACB2-2D684B6EB283}"/>
              </a:ext>
            </a:extLst>
          </p:cNvPr>
          <p:cNvSpPr>
            <a:spLocks noGrp="1"/>
          </p:cNvSpPr>
          <p:nvPr/>
        </p:nvSpPr>
        <p:spPr>
          <a:xfrm>
            <a:off x="5600700" y="3048000"/>
            <a:ext cx="2338444" cy="1476375"/>
          </a:xfrm>
          <a:prstGeom prst="roundRect">
            <a:avLst>
              <a:gd name="adj" fmla="val 3902"/>
            </a:avLst>
          </a:prstGeom>
          <a:solidFill>
            <a:srgbClr val="E6F4EA"/>
          </a:solidFill>
          <a:ln w="14288">
            <a:solidFill>
              <a:srgbClr val="3E7B5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正しくは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主張・要旨型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↓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問を優先</a:t>
            </a:r>
          </a:p>
        </p:txBody>
      </p:sp>
      <p:sp>
        <p:nvSpPr>
          <p:cNvPr id="44" name="ARROW_PHASE_1">
            <a:extLst>
              <a:ext uri="{FF2B5EF4-FFF2-40B4-BE49-F238E27FC236}">
                <a16:creationId xmlns:a16="http://schemas.microsoft.com/office/drawing/2014/main" id="{C7CDD42B-3425-47F8-A53F-6C0CC0795C03}"/>
              </a:ext>
            </a:extLst>
          </p:cNvPr>
          <p:cNvSpPr>
            <a:spLocks noGrp="1"/>
          </p:cNvSpPr>
          <p:nvPr/>
        </p:nvSpPr>
        <p:spPr>
          <a:xfrm>
            <a:off x="2703528" y="3571875"/>
            <a:ext cx="323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45" name="ARROW_PHASE_2">
            <a:extLst>
              <a:ext uri="{FF2B5EF4-FFF2-40B4-BE49-F238E27FC236}">
                <a16:creationId xmlns:a16="http://schemas.microsoft.com/office/drawing/2014/main" id="{25EB7B38-7770-4FAE-ACA7-81CC87826888}"/>
              </a:ext>
            </a:extLst>
          </p:cNvPr>
          <p:cNvSpPr>
            <a:spLocks noGrp="1"/>
          </p:cNvSpPr>
          <p:nvPr/>
        </p:nvSpPr>
        <p:spPr>
          <a:xfrm>
            <a:off x="5333106" y="3571875"/>
            <a:ext cx="323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4F86C6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4F86C6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46" name="PHASE_RULE">
            <a:extLst>
              <a:ext uri="{FF2B5EF4-FFF2-40B4-BE49-F238E27FC236}">
                <a16:creationId xmlns:a16="http://schemas.microsoft.com/office/drawing/2014/main" id="{3495A74E-615D-4D80-883D-1B2F20B78A0B}"/>
              </a:ext>
            </a:extLst>
          </p:cNvPr>
          <p:cNvSpPr>
            <a:spLocks noGrp="1"/>
          </p:cNvSpPr>
          <p:nvPr/>
        </p:nvSpPr>
        <p:spPr>
          <a:xfrm>
            <a:off x="1000125" y="4857750"/>
            <a:ext cx="6143625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8DCDD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本文の目立つ語ではなく、問いの最後の言葉が求める答えで主型を決める</a:t>
            </a:r>
          </a:p>
        </p:txBody>
      </p:sp>
      <p:sp>
        <p:nvSpPr>
          <p:cNvPr id="50" name="BUG_PROBLEM_PANEL">
            <a:extLst>
              <a:ext uri="{FF2B5EF4-FFF2-40B4-BE49-F238E27FC236}">
                <a16:creationId xmlns:a16="http://schemas.microsoft.com/office/drawing/2014/main" id="{6BE1FD2C-9C9F-489F-B3EB-7DCFA9995C1E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7143750" cy="1190625"/>
          </a:xfrm>
          <a:prstGeom prst="roundRect">
            <a:avLst>
              <a:gd name="adj" fmla="val 6400"/>
            </a:avLst>
          </a:prstGeom>
          <a:solidFill>
            <a:srgbClr val="F8E8EC"/>
          </a:solidFill>
          <a:ln w="14288">
            <a:solidFill>
              <a:srgbClr val="A94B61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失敗の理由を記録すると、次の改善点が見える。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【例題2・ケース1】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筆者が最も述べたいことは何か。</a:t>
            </a:r>
          </a:p>
        </p:txBody>
      </p:sp>
      <p:sp>
        <p:nvSpPr>
          <p:cNvPr id="51" name="VOCAB_HELP">
            <a:extLst>
              <a:ext uri="{FF2B5EF4-FFF2-40B4-BE49-F238E27FC236}">
                <a16:creationId xmlns:a16="http://schemas.microsoft.com/office/drawing/2014/main" id="{4251136D-AED3-4C74-AB91-2CFAC229F29C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  <p:sp>
        <p:nvSpPr>
          <p:cNvPr id="55" name="BUG_WORD">
            <a:extLst>
              <a:ext uri="{FF2B5EF4-FFF2-40B4-BE49-F238E27FC236}">
                <a16:creationId xmlns:a16="http://schemas.microsoft.com/office/drawing/2014/main" id="{3E1A2DE5-4CC2-4C89-917A-6BF4FF2C8529}"/>
              </a:ext>
            </a:extLst>
          </p:cNvPr>
          <p:cNvSpPr>
            <a:spLocks noGrp="1"/>
          </p:cNvSpPr>
          <p:nvPr/>
        </p:nvSpPr>
        <p:spPr>
          <a:xfrm>
            <a:off x="8601075" y="2905125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4500" b="0">
                <a:solidFill>
                  <a:srgbClr val="C00000"/>
                </a:solidFill>
                <a:latin typeface="MT たれ"/>
                <a:ea typeface="MT たれ"/>
                <a:cs typeface="MT たれ"/>
              </a:defRPr>
            </a:pPr>
            <a:endParaRPr/>
          </a:p>
        </p:txBody>
      </p:sp>
      <p:sp>
        <p:nvSpPr>
          <p:cNvPr id="2" name="DIALOG_SUMMARY">
            <a:extLst>
              <a:ext uri="{FF2B5EF4-FFF2-40B4-BE49-F238E27FC236}">
                <a16:creationId xmlns:a16="http://schemas.microsoft.com/office/drawing/2014/main" id="{9189EBE2-B831-5932-658A-0575ABB08374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>
              <a:defRPr sz="2025">
                <a:solidFill>
                  <a:srgbClr val="225E65"/>
                </a:solidFill>
                <a:latin typeface="りいてがき筆"/>
                <a:ea typeface="りいてがき筆"/>
                <a:cs typeface="りいてがき筆"/>
              </a:defRPr>
            </a:pPr>
            <a:r>
              <a:rPr lang="ja-JP" altLang="en-US" sz="2030" dirty="0">
                <a:solidFill>
                  <a:srgbClr val="225E65"/>
                </a:solidFill>
                <a:latin typeface="りいてがき筆"/>
                <a:ea typeface="りいてがき筆"/>
                <a:cs typeface="りいてがき筆"/>
              </a:rPr>
              <a:t>本文に</a:t>
            </a:r>
            <a:r>
              <a:rPr lang="en-US" altLang="ja-JP" sz="2030" dirty="0">
                <a:solidFill>
                  <a:srgbClr val="225E65"/>
                </a:solidFill>
                <a:latin typeface="りいてがき筆"/>
                <a:ea typeface="りいてがき筆"/>
                <a:cs typeface="りいてがき筆"/>
              </a:rPr>
              <a:t>『</a:t>
            </a:r>
            <a:r>
              <a:rPr lang="ja-JP" altLang="en-US" sz="2030" dirty="0">
                <a:solidFill>
                  <a:srgbClr val="225E65"/>
                </a:solidFill>
                <a:latin typeface="りいてがき筆"/>
                <a:ea typeface="りいてがき筆"/>
                <a:cs typeface="りいてがき筆"/>
              </a:rPr>
              <a:t>理由</a:t>
            </a:r>
            <a:r>
              <a:rPr lang="en-US" altLang="ja-JP" sz="2030" dirty="0">
                <a:solidFill>
                  <a:srgbClr val="225E65"/>
                </a:solidFill>
                <a:latin typeface="りいてがき筆"/>
                <a:ea typeface="りいてがき筆"/>
                <a:cs typeface="りいてがき筆"/>
              </a:rPr>
              <a:t>』</a:t>
            </a:r>
            <a:r>
              <a:rPr lang="ja-JP" altLang="en-US" sz="2030" dirty="0">
                <a:solidFill>
                  <a:srgbClr val="225E65"/>
                </a:solidFill>
                <a:latin typeface="りいてがき筆"/>
                <a:ea typeface="りいてがき筆"/>
                <a:cs typeface="りいてがき筆"/>
              </a:rPr>
              <a:t>があるから理由型？</a:t>
            </a:r>
            <a:endParaRPr lang="en-US" altLang="ja-JP" sz="2030" dirty="0">
              <a:solidFill>
                <a:srgbClr val="225E65"/>
              </a:solidFill>
              <a:latin typeface="りいてがき筆"/>
              <a:ea typeface="りいてがき筆"/>
              <a:cs typeface="りいてがき筆"/>
            </a:endParaRPr>
          </a:p>
          <a:p>
            <a:pPr>
              <a:defRPr sz="2025">
                <a:solidFill>
                  <a:srgbClr val="225E65"/>
                </a:solidFill>
                <a:latin typeface="りいてがき筆"/>
                <a:ea typeface="りいてがき筆"/>
                <a:cs typeface="りいてがき筆"/>
              </a:defRPr>
            </a:pPr>
            <a:r>
              <a:rPr lang="ja-JP" altLang="en-US" sz="2030" dirty="0">
                <a:solidFill>
                  <a:srgbClr val="225E65"/>
                </a:solidFill>
                <a:latin typeface="りいてがき筆"/>
                <a:ea typeface="りいてがき筆"/>
                <a:cs typeface="りいてがき筆"/>
              </a:rPr>
              <a:t>いや、問いの最後の言葉は</a:t>
            </a:r>
            <a:r>
              <a:rPr lang="en-US" altLang="ja-JP" sz="2030" dirty="0">
                <a:solidFill>
                  <a:srgbClr val="225E65"/>
                </a:solidFill>
                <a:latin typeface="りいてがき筆"/>
                <a:ea typeface="りいてがき筆"/>
                <a:cs typeface="りいてがき筆"/>
              </a:rPr>
              <a:t>『</a:t>
            </a:r>
            <a:r>
              <a:rPr lang="ja-JP" altLang="en-US" sz="2030" dirty="0">
                <a:solidFill>
                  <a:srgbClr val="225E65"/>
                </a:solidFill>
                <a:latin typeface="りいてがき筆"/>
                <a:ea typeface="りいてがき筆"/>
                <a:cs typeface="りいてがき筆"/>
              </a:rPr>
              <a:t>最も述べたいこと</a:t>
            </a:r>
            <a:r>
              <a:rPr lang="en-US" altLang="ja-JP" sz="2030" dirty="0">
                <a:solidFill>
                  <a:srgbClr val="225E65"/>
                </a:solidFill>
                <a:latin typeface="りいてがき筆"/>
                <a:ea typeface="りいてがき筆"/>
                <a:cs typeface="りいてがき筆"/>
              </a:rPr>
              <a:t>』</a:t>
            </a:r>
            <a:r>
              <a:rPr lang="ja-JP" altLang="en-US" sz="2030" dirty="0">
                <a:solidFill>
                  <a:srgbClr val="225E65"/>
                </a:solidFill>
                <a:latin typeface="りいてがき筆"/>
                <a:ea typeface="りいてがき筆"/>
                <a:cs typeface="りいてがき筆"/>
              </a:rPr>
              <a:t>。</a:t>
            </a:r>
            <a:endParaRPr lang="en-US" altLang="ja-JP" sz="2030" dirty="0">
              <a:solidFill>
                <a:srgbClr val="225E65"/>
              </a:solidFill>
              <a:latin typeface="りいてがき筆"/>
              <a:ea typeface="りいてがき筆"/>
              <a:cs typeface="りいてがき筆"/>
            </a:endParaRPr>
          </a:p>
          <a:p>
            <a:pPr>
              <a:defRPr sz="2025">
                <a:solidFill>
                  <a:srgbClr val="225E65"/>
                </a:solidFill>
                <a:latin typeface="りいてがき筆"/>
                <a:ea typeface="りいてがき筆"/>
                <a:cs typeface="りいてがき筆"/>
              </a:defRPr>
            </a:pPr>
            <a:r>
              <a:rPr lang="ja-JP" altLang="en-US" sz="2030" dirty="0">
                <a:solidFill>
                  <a:srgbClr val="225E65"/>
                </a:solidFill>
                <a:latin typeface="りいてがき筆"/>
                <a:ea typeface="りいてがき筆"/>
                <a:cs typeface="りいてがき筆"/>
              </a:rPr>
              <a:t>正しくは主張・要旨型！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E5A"/>
          </a:solidFill>
          <a:ln w="0">
            <a:solidFill>
              <a:srgbClr val="2F6E5A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学習の地図　問から本文へ戻る７つの手順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4FBF8"/>
          </a:solidFill>
          <a:ln w="11906">
            <a:solidFill>
              <a:srgbClr val="91C7AE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7～11ページ  06/50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4FBF8"/>
          </a:solidFill>
          <a:ln w="11906">
            <a:solidFill>
              <a:srgbClr val="91C7AE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7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8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9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11D5A5A4-DCAE-4251-B08C-F7D537C6C091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4832CDB4-7547-4B70-A40B-2FB645B6B266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35F27197-534A-49E0-A533-DB6D81502A4A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63194F2-0BD4-4DB8-BFC9-6C15E9F4352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9B959C2B-44B4-47A2-9C01-4A82B2CD9968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356372B-DEA2-48EC-AF24-31A813946C62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4503D1C4-6F2E-4929-A5DA-52ACEBBEF04B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4451113A-5EC4-4AB2-9846-3BBC407FF04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A4CB63B4-2BF4-45AA-AEEA-260B34E2B52F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F8166AA5-B044-4D01-BF83-797B41EB8CF3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問いの最後の言葉から答え方を決め、本文の根拠と答えを結び付けます。</a:t>
            </a:r>
          </a:p>
        </p:txBody>
      </p:sp>
      <p:sp>
        <p:nvSpPr>
          <p:cNvPr id="41" name="SUMMARY_⓪ 設問">
            <a:extLst>
              <a:ext uri="{FF2B5EF4-FFF2-40B4-BE49-F238E27FC236}">
                <a16:creationId xmlns:a16="http://schemas.microsoft.com/office/drawing/2014/main" id="{9B739434-4AA9-41D4-9068-5414572AE547}"/>
              </a:ext>
            </a:extLst>
          </p:cNvPr>
          <p:cNvSpPr>
            <a:spLocks noGrp="1"/>
          </p:cNvSpPr>
          <p:nvPr/>
        </p:nvSpPr>
        <p:spPr>
          <a:xfrm>
            <a:off x="342900" y="1952625"/>
            <a:ext cx="1485900" cy="742950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9525">
            <a:solidFill>
              <a:srgbClr val="91C7AE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⓪問を読む</a:t>
            </a:r>
          </a:p>
        </p:txBody>
      </p:sp>
      <p:sp>
        <p:nvSpPr>
          <p:cNvPr id="42" name="SUMMARY_① 主型">
            <a:extLst>
              <a:ext uri="{FF2B5EF4-FFF2-40B4-BE49-F238E27FC236}">
                <a16:creationId xmlns:a16="http://schemas.microsoft.com/office/drawing/2014/main" id="{7706ACA6-103C-4F95-BCD9-7AAD56ED2B7E}"/>
              </a:ext>
            </a:extLst>
          </p:cNvPr>
          <p:cNvSpPr>
            <a:spLocks noGrp="1"/>
          </p:cNvSpPr>
          <p:nvPr/>
        </p:nvSpPr>
        <p:spPr>
          <a:xfrm>
            <a:off x="1924050" y="1952625"/>
            <a:ext cx="1485900" cy="742950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9525">
            <a:solidFill>
              <a:srgbClr val="91C7AE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①主型を決める</a:t>
            </a:r>
          </a:p>
        </p:txBody>
      </p:sp>
      <p:sp>
        <p:nvSpPr>
          <p:cNvPr id="43" name="SUMMARY_② 焦点">
            <a:extLst>
              <a:ext uri="{FF2B5EF4-FFF2-40B4-BE49-F238E27FC236}">
                <a16:creationId xmlns:a16="http://schemas.microsoft.com/office/drawing/2014/main" id="{6572C9B9-5BA3-46C6-8829-735F241ABB05}"/>
              </a:ext>
            </a:extLst>
          </p:cNvPr>
          <p:cNvSpPr>
            <a:spLocks noGrp="1"/>
          </p:cNvSpPr>
          <p:nvPr/>
        </p:nvSpPr>
        <p:spPr>
          <a:xfrm>
            <a:off x="3505200" y="1952625"/>
            <a:ext cx="1485900" cy="742950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9525">
            <a:solidFill>
              <a:srgbClr val="91C7AE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②焦点を言う</a:t>
            </a:r>
          </a:p>
        </p:txBody>
      </p:sp>
      <p:sp>
        <p:nvSpPr>
          <p:cNvPr id="44" name="SUMMARY_型別">
            <a:extLst>
              <a:ext uri="{FF2B5EF4-FFF2-40B4-BE49-F238E27FC236}">
                <a16:creationId xmlns:a16="http://schemas.microsoft.com/office/drawing/2014/main" id="{18B0F534-52CE-4091-B130-96E1C9B946B3}"/>
              </a:ext>
            </a:extLst>
          </p:cNvPr>
          <p:cNvSpPr>
            <a:spLocks noGrp="1"/>
          </p:cNvSpPr>
          <p:nvPr/>
        </p:nvSpPr>
        <p:spPr>
          <a:xfrm>
            <a:off x="5086350" y="1952625"/>
            <a:ext cx="1485900" cy="742950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9525">
            <a:solidFill>
              <a:srgbClr val="91C7AE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型別に見る</a:t>
            </a:r>
          </a:p>
        </p:txBody>
      </p:sp>
      <p:sp>
        <p:nvSpPr>
          <p:cNvPr id="45" name="SUMMARY_③ 根拠">
            <a:extLst>
              <a:ext uri="{FF2B5EF4-FFF2-40B4-BE49-F238E27FC236}">
                <a16:creationId xmlns:a16="http://schemas.microsoft.com/office/drawing/2014/main" id="{AA282C8D-52EB-4F05-B21C-6FB46B6A61EC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1485900" cy="742950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9525">
            <a:solidFill>
              <a:srgbClr val="91C7AE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③本文へ戻る</a:t>
            </a:r>
          </a:p>
        </p:txBody>
      </p:sp>
      <p:sp>
        <p:nvSpPr>
          <p:cNvPr id="46" name="SUMMARY_ARROW_185">
            <a:extLst>
              <a:ext uri="{FF2B5EF4-FFF2-40B4-BE49-F238E27FC236}">
                <a16:creationId xmlns:a16="http://schemas.microsoft.com/office/drawing/2014/main" id="{B919DFC3-76AD-4198-BB09-208012DCD56D}"/>
              </a:ext>
            </a:extLst>
          </p:cNvPr>
          <p:cNvSpPr>
            <a:spLocks noGrp="1"/>
          </p:cNvSpPr>
          <p:nvPr/>
        </p:nvSpPr>
        <p:spPr>
          <a:xfrm>
            <a:off x="1828800" y="2114550"/>
            <a:ext cx="95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47" name="SUMMARY_ARROW_335">
            <a:extLst>
              <a:ext uri="{FF2B5EF4-FFF2-40B4-BE49-F238E27FC236}">
                <a16:creationId xmlns:a16="http://schemas.microsoft.com/office/drawing/2014/main" id="{74043531-E201-43DF-B0E9-187802A00025}"/>
              </a:ext>
            </a:extLst>
          </p:cNvPr>
          <p:cNvSpPr>
            <a:spLocks noGrp="1"/>
          </p:cNvSpPr>
          <p:nvPr/>
        </p:nvSpPr>
        <p:spPr>
          <a:xfrm>
            <a:off x="3409950" y="2114550"/>
            <a:ext cx="95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48" name="SUMMARY_ARROW_485">
            <a:extLst>
              <a:ext uri="{FF2B5EF4-FFF2-40B4-BE49-F238E27FC236}">
                <a16:creationId xmlns:a16="http://schemas.microsoft.com/office/drawing/2014/main" id="{EF11EEC7-AC45-4D9E-B0C5-8CEDA7F01E1A}"/>
              </a:ext>
            </a:extLst>
          </p:cNvPr>
          <p:cNvSpPr>
            <a:spLocks noGrp="1"/>
          </p:cNvSpPr>
          <p:nvPr/>
        </p:nvSpPr>
        <p:spPr>
          <a:xfrm>
            <a:off x="4991100" y="2114550"/>
            <a:ext cx="95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49" name="SUMMARY_ARROW_635">
            <a:extLst>
              <a:ext uri="{FF2B5EF4-FFF2-40B4-BE49-F238E27FC236}">
                <a16:creationId xmlns:a16="http://schemas.microsoft.com/office/drawing/2014/main" id="{98FE55CD-CDD7-4886-8FFC-0076C179395D}"/>
              </a:ext>
            </a:extLst>
          </p:cNvPr>
          <p:cNvSpPr>
            <a:spLocks noGrp="1"/>
          </p:cNvSpPr>
          <p:nvPr/>
        </p:nvSpPr>
        <p:spPr>
          <a:xfrm>
            <a:off x="6572250" y="2114550"/>
            <a:ext cx="95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50" name="SUMMARY_KERNEL">
            <a:extLst>
              <a:ext uri="{FF2B5EF4-FFF2-40B4-BE49-F238E27FC236}">
                <a16:creationId xmlns:a16="http://schemas.microsoft.com/office/drawing/2014/main" id="{29DFBEB8-9079-471A-AB78-102D93B24CA2}"/>
              </a:ext>
            </a:extLst>
          </p:cNvPr>
          <p:cNvSpPr>
            <a:spLocks noGrp="1"/>
          </p:cNvSpPr>
          <p:nvPr/>
        </p:nvSpPr>
        <p:spPr>
          <a:xfrm>
            <a:off x="2381250" y="3190875"/>
            <a:ext cx="1619250" cy="809625"/>
          </a:xfrm>
          <a:prstGeom prst="roundRect">
            <a:avLst>
              <a:gd name="adj" fmla="val 9412"/>
            </a:avLst>
          </a:prstGeom>
          <a:solidFill>
            <a:srgbClr val="E7F1FB"/>
          </a:solidFill>
          <a:ln w="9525">
            <a:solidFill>
              <a:srgbClr val="A7C5E5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④ 短い答えの核</a:t>
            </a:r>
          </a:p>
        </p:txBody>
      </p:sp>
      <p:sp>
        <p:nvSpPr>
          <p:cNvPr id="51" name="SUMMARY_ARROW_KERNEL">
            <a:extLst>
              <a:ext uri="{FF2B5EF4-FFF2-40B4-BE49-F238E27FC236}">
                <a16:creationId xmlns:a16="http://schemas.microsoft.com/office/drawing/2014/main" id="{761970B7-06C1-48CA-9EA2-AC8A4DC83354}"/>
              </a:ext>
            </a:extLst>
          </p:cNvPr>
          <p:cNvSpPr>
            <a:spLocks noGrp="1"/>
          </p:cNvSpPr>
          <p:nvPr/>
        </p:nvSpPr>
        <p:spPr>
          <a:xfrm>
            <a:off x="4095750" y="3381375"/>
            <a:ext cx="428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4F86C6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4F86C6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52" name="SUMMARY_CHECK">
            <a:extLst>
              <a:ext uri="{FF2B5EF4-FFF2-40B4-BE49-F238E27FC236}">
                <a16:creationId xmlns:a16="http://schemas.microsoft.com/office/drawing/2014/main" id="{778DB23C-BBFC-4135-B5E3-982129AAF10A}"/>
              </a:ext>
            </a:extLst>
          </p:cNvPr>
          <p:cNvSpPr>
            <a:spLocks noGrp="1"/>
          </p:cNvSpPr>
          <p:nvPr/>
        </p:nvSpPr>
        <p:spPr>
          <a:xfrm>
            <a:off x="4619624" y="3190875"/>
            <a:ext cx="1781175" cy="809625"/>
          </a:xfrm>
          <a:prstGeom prst="roundRect">
            <a:avLst>
              <a:gd name="adj" fmla="val 9412"/>
            </a:avLst>
          </a:prstGeom>
          <a:solidFill>
            <a:srgbClr val="F2ECFA"/>
          </a:solidFill>
          <a:ln w="9525">
            <a:solidFill>
              <a:srgbClr val="C9B4DF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⑤ ３つの解答欄を照合</a:t>
            </a:r>
          </a:p>
        </p:txBody>
      </p:sp>
      <p:sp>
        <p:nvSpPr>
          <p:cNvPr id="53" name="SUMMARY_RULE_設問から始める">
            <a:extLst>
              <a:ext uri="{FF2B5EF4-FFF2-40B4-BE49-F238E27FC236}">
                <a16:creationId xmlns:a16="http://schemas.microsoft.com/office/drawing/2014/main" id="{288086CE-E106-43AE-9835-535FC6B990C9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F7FAF2"/>
          </a:solidFill>
          <a:ln w="14288">
            <a:solidFill>
              <a:srgbClr val="C7D7A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問いの最後の言葉を見る</a:t>
            </a:r>
          </a:p>
          <a:p>
            <a:pPr algn="ctr">
              <a:buNone/>
            </a:pP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答え方を決める</a:t>
            </a:r>
          </a:p>
        </p:txBody>
      </p:sp>
      <p:sp>
        <p:nvSpPr>
          <p:cNvPr id="54" name="SUMMARY_RULE_根拠は関係でつなぐ">
            <a:extLst>
              <a:ext uri="{FF2B5EF4-FFF2-40B4-BE49-F238E27FC236}">
                <a16:creationId xmlns:a16="http://schemas.microsoft.com/office/drawing/2014/main" id="{A67312F6-126F-4416-8F52-235FACB00BC7}"/>
              </a:ext>
            </a:extLst>
          </p:cNvPr>
          <p:cNvSpPr>
            <a:spLocks noGrp="1"/>
          </p:cNvSpPr>
          <p:nvPr/>
        </p:nvSpPr>
        <p:spPr>
          <a:xfrm>
            <a:off x="3095625" y="476250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F7FAF2"/>
          </a:solidFill>
          <a:ln w="14288">
            <a:solidFill>
              <a:srgbClr val="C7D7A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焦点を言う</a:t>
            </a:r>
          </a:p>
          <a:p>
            <a:pPr algn="ctr">
              <a:buNone/>
            </a:pP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見る関係を決める</a:t>
            </a:r>
          </a:p>
        </p:txBody>
      </p:sp>
      <p:sp>
        <p:nvSpPr>
          <p:cNvPr id="55" name="SUMMARY_RULE_選択肢は全部確かめる">
            <a:extLst>
              <a:ext uri="{FF2B5EF4-FFF2-40B4-BE49-F238E27FC236}">
                <a16:creationId xmlns:a16="http://schemas.microsoft.com/office/drawing/2014/main" id="{ECF1EED5-EEBC-4586-BC90-6B20F0A45B20}"/>
              </a:ext>
            </a:extLst>
          </p:cNvPr>
          <p:cNvSpPr>
            <a:spLocks noGrp="1"/>
          </p:cNvSpPr>
          <p:nvPr/>
        </p:nvSpPr>
        <p:spPr>
          <a:xfrm>
            <a:off x="5429250" y="476250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F7FAF2"/>
          </a:solidFill>
          <a:ln w="14288">
            <a:solidFill>
              <a:srgbClr val="C7D7A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根拠と答え</a:t>
            </a:r>
          </a:p>
          <a:p>
            <a:pPr algn="ctr">
              <a:buNone/>
            </a:pP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ずれを確かめる</a:t>
            </a:r>
          </a:p>
        </p:txBody>
      </p:sp>
      <p:sp>
        <p:nvSpPr>
          <p:cNvPr id="59" name="VOCAB_HELP">
            <a:extLst>
              <a:ext uri="{FF2B5EF4-FFF2-40B4-BE49-F238E27FC236}">
                <a16:creationId xmlns:a16="http://schemas.microsoft.com/office/drawing/2014/main" id="{094206CC-FB83-4F93-BE7D-4BB07304C075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A5A14"/>
          </a:solidFill>
          <a:ln w="0">
            <a:solidFill>
              <a:srgbClr val="8A5A14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例題1　本文と問を見て、書く欄を確かめる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7ページ  07/50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2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3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4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3544A115-554F-4909-89F9-A421CBA31307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A5DDAB02-BB3E-498E-8BC1-17E37DE46F71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73F6ADDC-84E8-435D-9EB0-36BA230891B3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B833810-9E01-49F0-90F1-A4F59FDC014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C408BACA-4E7B-41C5-82C5-6599F8AB945C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E9C73CD-E24B-4532-B18F-E66C69FE945A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5EBABB2C-65A9-408D-800C-6B7EE37AC44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E30ACE43-636C-464E-A736-E311D54354B2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BE8EF"/>
          </a:solidFill>
          <a:ln w="13335">
            <a:solidFill>
              <a:srgbClr val="E4A0B7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DCF46609-C50E-493D-ABFC-0926BC7D1483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C55D82"/>
          </a:solidFill>
          <a:ln w="9525">
            <a:solidFill>
              <a:srgbClr val="E4A0B7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かしこりん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34BFD9F2-C3AA-43DB-83CA-75713DBEE5BA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8F3D5B"/>
                </a:solidFill>
                <a:latin typeface="りいてがき筆"/>
                <a:ea typeface="りいてがき筆"/>
                <a:cs typeface="りいてがき筆"/>
              </a:rPr>
              <a:t>本文への直接の答えと、答えを導くための３つの解答欄を区別します。</a:t>
            </a:r>
          </a:p>
        </p:txBody>
      </p:sp>
      <p:sp>
        <p:nvSpPr>
          <p:cNvPr id="50" name="SOURCE_TRACE_PANEL">
            <a:extLst>
              <a:ext uri="{FF2B5EF4-FFF2-40B4-BE49-F238E27FC236}">
                <a16:creationId xmlns:a16="http://schemas.microsoft.com/office/drawing/2014/main" id="{7B818317-C941-4542-832C-476F031D7519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4724400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短い説明が、いつも分かりやすいとは限らない。</a:t>
            </a:r>
          </a:p>
          <a:p>
            <a:pPr algn="l">
              <a:buNone/>
            </a:pPr>
            <a:r>
              <a:rPr sz="1400" b="1" u="sng">
                <a:solidFill>
                  <a:srgbClr val="138A72"/>
                </a:solidFill>
                <a:latin typeface="游明朝"/>
                <a:ea typeface="游明朝"/>
                <a:cs typeface="游明朝"/>
              </a:rPr>
              <a:t>駅で『こちらへ』とだけ書かれた案内は短いが、行き先が分からない。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必要な情報がなければ、短さは行動を助けない。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【例題1】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傍線部は、文章中でどのような役割を果たしているか。３つの解答欄を順に読み、答えに至る考え方を確認しなさい。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〔根拠範囲〕</a:t>
            </a:r>
          </a:p>
        </p:txBody>
      </p:sp>
      <p:sp>
        <p:nvSpPr>
          <p:cNvPr id="54" name="VOCAB_HELP">
            <a:extLst>
              <a:ext uri="{FF2B5EF4-FFF2-40B4-BE49-F238E27FC236}">
                <a16:creationId xmlns:a16="http://schemas.microsoft.com/office/drawing/2014/main" id="{01BB369C-5FD5-4ABD-8B6A-144FF9312F64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A5A14"/>
          </a:solidFill>
          <a:ln w="0">
            <a:solidFill>
              <a:srgbClr val="8A5A14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例題1　問いの最後の言葉から主型を決める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7ページ  08/50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8EBD7422-DE3A-488E-8EA5-8E56E8AE887C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D112064-A6E8-4166-BC77-3969190020D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AC73706-C468-40AF-8276-06F8419CFFDB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D01B732-695D-46C1-A2BA-FCCE26931C72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54996F9-91E6-4BE6-BF1D-A8DC08EEDD4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F0810A-8FA7-4908-9870-7F3A37B5525E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908B513A-79C3-4FFD-8906-6347F5E24A82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3C36A16-E061-413F-AB9F-A0B2F27A617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77AA83F1-649F-495B-BE9F-9F0680B6D30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8F56C545-B631-49C6-83FA-2A8A5C39AAB5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問いの最後の言葉の『どのような役割』が、構成・役割型の決め手です。</a:t>
            </a:r>
          </a:p>
        </p:txBody>
      </p:sp>
      <p:sp>
        <p:nvSpPr>
          <p:cNvPr id="41" name="STEP0_MAIN">
            <a:extLst>
              <a:ext uri="{FF2B5EF4-FFF2-40B4-BE49-F238E27FC236}">
                <a16:creationId xmlns:a16="http://schemas.microsoft.com/office/drawing/2014/main" id="{EA708313-3931-4708-8CA8-F19E45327735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7096125" cy="1762125"/>
          </a:xfrm>
          <a:prstGeom prst="roundRect">
            <a:avLst>
              <a:gd name="adj" fmla="val 8421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短い説明が、いつも分かりやすいとは限らない。</a:t>
            </a:r>
            <a:r>
              <a:rPr sz="1400" b="1" u="sng">
                <a:solidFill>
                  <a:srgbClr val="138A72"/>
                </a:solidFill>
                <a:latin typeface="游明朝"/>
                <a:ea typeface="游明朝"/>
                <a:cs typeface="游明朝"/>
              </a:rPr>
              <a:t>駅で『こちらへ』とだけ書かれた案内は短いが、行き先が分からない。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必要な情報がなければ、短さは行動を助けない。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【例題1】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傍線部は、文章中でどのような役割を果たしているか。３つの解答欄を順に読み、答えに至る考え方を確認しなさい。</a:t>
            </a:r>
          </a:p>
        </p:txBody>
      </p:sp>
      <p:sp>
        <p:nvSpPr>
          <p:cNvPr id="42" name="STEP0_どういうことか">
            <a:extLst>
              <a:ext uri="{FF2B5EF4-FFF2-40B4-BE49-F238E27FC236}">
                <a16:creationId xmlns:a16="http://schemas.microsoft.com/office/drawing/2014/main" id="{4BE7D15B-CAFE-401C-AB56-4FDF7486125F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主型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構成・役割型</a:t>
            </a:r>
          </a:p>
        </p:txBody>
      </p:sp>
      <p:sp>
        <p:nvSpPr>
          <p:cNvPr id="43" name="STEP0_なぜか">
            <a:extLst>
              <a:ext uri="{FF2B5EF4-FFF2-40B4-BE49-F238E27FC236}">
                <a16:creationId xmlns:a16="http://schemas.microsoft.com/office/drawing/2014/main" id="{23C56A34-262F-4F09-A147-F747B9E428D8}"/>
              </a:ext>
            </a:extLst>
          </p:cNvPr>
          <p:cNvSpPr>
            <a:spLocks noGrp="1"/>
          </p:cNvSpPr>
          <p:nvPr/>
        </p:nvSpPr>
        <p:spPr>
          <a:xfrm>
            <a:off x="300037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傍線部が文章中で果たす役割</a:t>
            </a:r>
          </a:p>
        </p:txBody>
      </p:sp>
      <p:sp>
        <p:nvSpPr>
          <p:cNvPr id="44" name="STEP0_どのような役割か">
            <a:extLst>
              <a:ext uri="{FF2B5EF4-FFF2-40B4-BE49-F238E27FC236}">
                <a16:creationId xmlns:a16="http://schemas.microsoft.com/office/drawing/2014/main" id="{60400D1A-58E2-40BB-ABB5-03CBF733C265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根拠範囲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例を含む第二文と、その前後の第一・第三文</a:t>
            </a:r>
          </a:p>
        </p:txBody>
      </p:sp>
      <p:sp>
        <p:nvSpPr>
          <p:cNvPr id="45" name="STEP0_最も適切なもの">
            <a:extLst>
              <a:ext uri="{FF2B5EF4-FFF2-40B4-BE49-F238E27FC236}">
                <a16:creationId xmlns:a16="http://schemas.microsoft.com/office/drawing/2014/main" id="{A9E69F94-9A92-4B8E-A2C2-582ABBB99DAD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7096125" cy="571500"/>
          </a:xfrm>
          <a:prstGeom prst="roundRect">
            <a:avLst>
              <a:gd name="adj" fmla="val 10256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問いの最後の言葉の決め手：</a:t>
            </a: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『どのような役割』</a:t>
            </a:r>
          </a:p>
        </p:txBody>
      </p:sp>
      <p:sp>
        <p:nvSpPr>
          <p:cNvPr id="46" name="STEP0_WARN">
            <a:extLst>
              <a:ext uri="{FF2B5EF4-FFF2-40B4-BE49-F238E27FC236}">
                <a16:creationId xmlns:a16="http://schemas.microsoft.com/office/drawing/2014/main" id="{3D7ED1BE-3E01-4E1B-89EC-ECCAC69AEC98}"/>
              </a:ext>
            </a:extLst>
          </p:cNvPr>
          <p:cNvSpPr>
            <a:spLocks noGrp="1"/>
          </p:cNvSpPr>
          <p:nvPr/>
        </p:nvSpPr>
        <p:spPr>
          <a:xfrm>
            <a:off x="1000125" y="5620423"/>
            <a:ext cx="6334125" cy="666750"/>
          </a:xfrm>
          <a:prstGeom prst="roundRect">
            <a:avLst>
              <a:gd name="adj" fmla="val 11429"/>
            </a:avLst>
          </a:prstGeom>
          <a:solidFill>
            <a:srgbClr val="FDEBD9"/>
          </a:solidFill>
          <a:ln w="14288">
            <a:solidFill>
              <a:srgbClr val="B15E2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C00000"/>
                </a:solidFill>
                <a:latin typeface="Yu Gothic"/>
                <a:ea typeface="Yu Gothic"/>
                <a:cs typeface="Yu Gothic"/>
              </a:rPr>
              <a:t>注意：</a:t>
            </a: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第二文の内容だけを言い換えると、前後に対する『仕事』を答えたことにならない。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E61D822D-D117-4C76-B681-1F6DACB800D2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A5A14"/>
          </a:solidFill>
          <a:ln w="0">
            <a:solidFill>
              <a:srgbClr val="8A5A14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例題1　問から焦点と探す場所を決める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7ページ  09/50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6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7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58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2E381E0D-956F-4DA1-8598-9FB536A1F6D5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F34428F5-4B21-457A-BEED-67461B888F2B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50D4A302-7C9A-46E5-86B4-A8FFA1F6C675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F748FBE7-5786-41E9-88FE-42619E0415A0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4FED08FE-3BCE-42F5-A723-0E2E8B072311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60BFFF74-BFFA-47B6-9AED-BF3BCAC0D73C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DF758F6B-1C45-432D-968C-2AC29B6C7EBF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271280E8-E42B-42F6-AF81-CE657B626431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3E75A97A-2A50-4C09-9592-A93A9E93516B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7B35A35F-33C0-4C6E-8AE6-15B7DA631FFE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問を見る→答える中身を言う→本文で探す言葉と場所を決めます。</a:t>
            </a:r>
          </a:p>
        </p:txBody>
      </p:sp>
      <p:sp>
        <p:nvSpPr>
          <p:cNvPr id="41" name="FOCUS_何について？">
            <a:extLst>
              <a:ext uri="{FF2B5EF4-FFF2-40B4-BE49-F238E27FC236}">
                <a16:creationId xmlns:a16="http://schemas.microsoft.com/office/drawing/2014/main" id="{58263AA0-486F-47A5-9308-ED90DD8DD548}"/>
              </a:ext>
            </a:extLst>
          </p:cNvPr>
          <p:cNvSpPr>
            <a:spLocks noGrp="1"/>
          </p:cNvSpPr>
          <p:nvPr/>
        </p:nvSpPr>
        <p:spPr>
          <a:xfrm>
            <a:off x="523875" y="3429000"/>
            <a:ext cx="2857500" cy="1952625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 w="14288">
            <a:solidFill>
              <a:srgbClr val="3E6F9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C00000"/>
                </a:solidFill>
                <a:latin typeface="Yu Gothic"/>
                <a:ea typeface="Yu Gothic"/>
                <a:cs typeface="Yu Gothic"/>
              </a:rPr>
              <a:t>① 問を見る</a:t>
            </a:r>
          </a:p>
          <a:p>
            <a:pPr>
              <a:buNone/>
            </a:pPr>
            <a:r>
              <a:rPr sz="17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傍線部は、文章中でどのような役割を果たしているか。３つの解答欄を順に読み、答えに至る考え方を確認しなさい。</a:t>
            </a:r>
          </a:p>
        </p:txBody>
      </p:sp>
      <p:sp>
        <p:nvSpPr>
          <p:cNvPr id="42" name="FOCUS_どの言葉？">
            <a:extLst>
              <a:ext uri="{FF2B5EF4-FFF2-40B4-BE49-F238E27FC236}">
                <a16:creationId xmlns:a16="http://schemas.microsoft.com/office/drawing/2014/main" id="{7FD70820-BAC3-410B-90D2-892A7C838380}"/>
              </a:ext>
            </a:extLst>
          </p:cNvPr>
          <p:cNvSpPr>
            <a:spLocks noGrp="1"/>
          </p:cNvSpPr>
          <p:nvPr/>
        </p:nvSpPr>
        <p:spPr>
          <a:xfrm>
            <a:off x="3524250" y="3429000"/>
            <a:ext cx="2000250" cy="1952625"/>
          </a:xfrm>
          <a:prstGeom prst="roundRect">
            <a:avLst>
              <a:gd name="adj" fmla="val 5161"/>
            </a:avLst>
          </a:prstGeom>
          <a:solidFill>
            <a:srgbClr val="FFF5D6"/>
          </a:solidFill>
          <a:ln w="14288">
            <a:solidFill>
              <a:srgbClr val="A6781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C00000"/>
                </a:solidFill>
                <a:latin typeface="Yu Gothic"/>
                <a:ea typeface="Yu Gothic"/>
                <a:cs typeface="Yu Gothic"/>
              </a:rPr>
              <a:t>② 焦点</a:t>
            </a:r>
          </a:p>
          <a:p>
            <a:pPr>
              <a:buNone/>
            </a:pPr>
            <a:r>
              <a:rPr sz="17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傍線部が文章中で果たす役割</a:t>
            </a:r>
          </a:p>
          <a:p>
            <a:pPr>
              <a:buNone/>
            </a:pPr>
            <a:endParaRPr sz="1700" b="1">
              <a:solidFill>
                <a:srgbClr val="334F6D"/>
              </a:solidFill>
              <a:latin typeface="Yu Gothic"/>
              <a:ea typeface="Yu Gothic"/>
              <a:cs typeface="Yu Gothic"/>
            </a:endParaRPr>
          </a:p>
          <a:p>
            <a:pPr>
              <a:buNone/>
            </a:pPr>
            <a:endParaRPr sz="1700" b="1">
              <a:solidFill>
                <a:srgbClr val="334F6D"/>
              </a:solidFill>
              <a:latin typeface="Yu Gothic"/>
              <a:ea typeface="Yu Gothic"/>
              <a:cs typeface="Yu Gothic"/>
            </a:endParaRPr>
          </a:p>
          <a:p>
            <a:pPr>
              <a:buNone/>
            </a:pPr>
            <a:endParaRPr sz="1700" b="1">
              <a:solidFill>
                <a:srgbClr val="334F6D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3" name="FOCUS_どの範囲？">
            <a:extLst>
              <a:ext uri="{FF2B5EF4-FFF2-40B4-BE49-F238E27FC236}">
                <a16:creationId xmlns:a16="http://schemas.microsoft.com/office/drawing/2014/main" id="{2756ECFB-526E-463E-8ED2-90E0CD3216B9}"/>
              </a:ext>
            </a:extLst>
          </p:cNvPr>
          <p:cNvSpPr>
            <a:spLocks noGrp="1"/>
          </p:cNvSpPr>
          <p:nvPr/>
        </p:nvSpPr>
        <p:spPr>
          <a:xfrm>
            <a:off x="5667375" y="3429000"/>
            <a:ext cx="2047875" cy="1952625"/>
          </a:xfrm>
          <a:prstGeom prst="roundRect">
            <a:avLst>
              <a:gd name="adj" fmla="val 5161"/>
            </a:avLst>
          </a:prstGeom>
          <a:solidFill>
            <a:srgbClr val="E6F5F1"/>
          </a:solidFill>
          <a:ln w="14288">
            <a:solidFill>
              <a:srgbClr val="2D7E7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C00000"/>
                </a:solidFill>
                <a:latin typeface="Yu Gothic"/>
                <a:ea typeface="Yu Gothic"/>
                <a:cs typeface="Yu Gothic"/>
              </a:rPr>
              <a:t>③ 本文で探す</a:t>
            </a:r>
          </a:p>
          <a:p>
            <a:pPr>
              <a:buNone/>
            </a:pPr>
            <a:r>
              <a:rPr sz="17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例を含む第二文と、その前後の第一・第三文</a:t>
            </a:r>
          </a:p>
          <a:p>
            <a:pPr>
              <a:buNone/>
            </a:pPr>
            <a:endParaRPr sz="1700" b="1">
              <a:solidFill>
                <a:srgbClr val="334F6D"/>
              </a:solidFill>
              <a:latin typeface="Yu Gothic"/>
              <a:ea typeface="Yu Gothic"/>
              <a:cs typeface="Yu Gothic"/>
            </a:endParaRPr>
          </a:p>
          <a:p>
            <a:pPr>
              <a:buNone/>
            </a:pPr>
            <a:endParaRPr sz="1700" b="1">
              <a:solidFill>
                <a:srgbClr val="334F6D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8" name="VOCAB_HELP">
            <a:extLst>
              <a:ext uri="{FF2B5EF4-FFF2-40B4-BE49-F238E27FC236}">
                <a16:creationId xmlns:a16="http://schemas.microsoft.com/office/drawing/2014/main" id="{A802EA55-A1A3-4A43-BF83-88AE299361D6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  <p:sp>
        <p:nvSpPr>
          <p:cNvPr id="2" name="STEP0_MAIN">
            <a:extLst>
              <a:ext uri="{FF2B5EF4-FFF2-40B4-BE49-F238E27FC236}">
                <a16:creationId xmlns:a16="http://schemas.microsoft.com/office/drawing/2014/main" id="{692FDA58-0695-0AEF-27B0-AB6436D8A63C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7096125" cy="1762125"/>
          </a:xfrm>
          <a:prstGeom prst="roundRect">
            <a:avLst>
              <a:gd name="adj" fmla="val 8421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短い説明が、いつも分かりやすいとは限らない。</a:t>
            </a:r>
            <a:r>
              <a:rPr sz="1400" b="1" u="sng">
                <a:solidFill>
                  <a:srgbClr val="138A72"/>
                </a:solidFill>
                <a:latin typeface="游明朝"/>
                <a:ea typeface="游明朝"/>
                <a:cs typeface="游明朝"/>
              </a:rPr>
              <a:t>駅で『こちらへ』とだけ書かれた案内は短いが、行き先が分からない。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必要な情報がなければ、短さは行動を助けない。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【例題1】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傍線部は、文章中でどのような役割を果たしているか。３つの解答欄を順に読み、答えに至る考え方を確認しなさい。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A5A14"/>
          </a:solidFill>
          <a:ln w="0">
            <a:solidFill>
              <a:srgbClr val="8A5A14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例題1　本文の前後をつなぎ、役割を言葉にする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7ページ  10/50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7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8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59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E5D7479F-C7A0-42A9-BB17-2ACF079B96AB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7C122F94-073B-4F34-8657-89A8684341C5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1B3085E1-9DE5-4D5B-A268-67B62ABA6B71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29543059-6825-4EE3-94F7-2A6B16924DEB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95F9B2D6-1556-4E93-ACCD-B34283F1F76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A5031B27-C332-4647-BC70-C1689C8BB80A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2D4019B4-EEAB-43F0-9133-CFC50EF873F0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BDCACCC8-8359-4359-AA8F-5A978412C4E9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18B6D62D-35B8-450A-A85F-AF1494D9D71B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E248F17F-D87D-4F11-A5AF-4E94462C9144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役割＝その文が文章の中でしている仕事。対象だけでなく、前後を見ます。</a:t>
            </a:r>
          </a:p>
        </p:txBody>
      </p:sp>
      <p:sp>
        <p:nvSpPr>
          <p:cNvPr id="42" name="EVIDENCE_② 同じ段落の言い換え">
            <a:extLst>
              <a:ext uri="{FF2B5EF4-FFF2-40B4-BE49-F238E27FC236}">
                <a16:creationId xmlns:a16="http://schemas.microsoft.com/office/drawing/2014/main" id="{1C572384-3E05-4197-BF3C-FA0FA910C760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6715125" cy="609600"/>
          </a:xfrm>
          <a:prstGeom prst="roundRect">
            <a:avLst>
              <a:gd name="adj" fmla="val 12121"/>
            </a:avLst>
          </a:prstGeom>
          <a:solidFill>
            <a:srgbClr val="FFF5D6"/>
          </a:solidFill>
          <a:ln w="14288">
            <a:solidFill>
              <a:srgbClr val="A6781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前：短い説明が、いつも分かりやすいとは限らない。</a:t>
            </a:r>
          </a:p>
        </p:txBody>
      </p:sp>
      <p:sp>
        <p:nvSpPr>
          <p:cNvPr id="43" name="EVIDENCE_③ 前後段落の原因・具体例">
            <a:extLst>
              <a:ext uri="{FF2B5EF4-FFF2-40B4-BE49-F238E27FC236}">
                <a16:creationId xmlns:a16="http://schemas.microsoft.com/office/drawing/2014/main" id="{498731F3-FE19-4309-AF54-5A3CF7CAC039}"/>
              </a:ext>
            </a:extLst>
          </p:cNvPr>
          <p:cNvSpPr>
            <a:spLocks noGrp="1"/>
          </p:cNvSpPr>
          <p:nvPr/>
        </p:nvSpPr>
        <p:spPr>
          <a:xfrm>
            <a:off x="762000" y="4219575"/>
            <a:ext cx="6715125" cy="609600"/>
          </a:xfrm>
          <a:prstGeom prst="roundRect">
            <a:avLst>
              <a:gd name="adj" fmla="val 12121"/>
            </a:avLst>
          </a:prstGeom>
          <a:solidFill>
            <a:srgbClr val="FFF5D6"/>
          </a:solidFill>
          <a:ln w="14288">
            <a:solidFill>
              <a:srgbClr val="A6781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対象：駅の案内の例で、短いだけでは困る場面を見せる。</a:t>
            </a:r>
          </a:p>
        </p:txBody>
      </p:sp>
      <p:sp>
        <p:nvSpPr>
          <p:cNvPr id="44" name="EVIDENCE_④ 文章全体の中心">
            <a:extLst>
              <a:ext uri="{FF2B5EF4-FFF2-40B4-BE49-F238E27FC236}">
                <a16:creationId xmlns:a16="http://schemas.microsoft.com/office/drawing/2014/main" id="{BE14A343-FF28-4C82-82A1-595AF49ECD1D}"/>
              </a:ext>
            </a:extLst>
          </p:cNvPr>
          <p:cNvSpPr>
            <a:spLocks noGrp="1"/>
          </p:cNvSpPr>
          <p:nvPr/>
        </p:nvSpPr>
        <p:spPr>
          <a:xfrm>
            <a:off x="762000" y="4962525"/>
            <a:ext cx="6715125" cy="609600"/>
          </a:xfrm>
          <a:prstGeom prst="roundRect">
            <a:avLst>
              <a:gd name="adj" fmla="val 12121"/>
            </a:avLst>
          </a:prstGeom>
          <a:solidFill>
            <a:srgbClr val="FFF5D6"/>
          </a:solidFill>
          <a:ln w="14288">
            <a:solidFill>
              <a:srgbClr val="A6781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後：必要な情報がなければ、短さは行動を助けない。</a:t>
            </a:r>
          </a:p>
        </p:txBody>
      </p:sp>
      <p:sp>
        <p:nvSpPr>
          <p:cNvPr id="49" name="VOCAB_HELP">
            <a:extLst>
              <a:ext uri="{FF2B5EF4-FFF2-40B4-BE49-F238E27FC236}">
                <a16:creationId xmlns:a16="http://schemas.microsoft.com/office/drawing/2014/main" id="{A03B1F2F-24A8-46C3-A793-47FBDC300C7D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  <p:sp>
        <p:nvSpPr>
          <p:cNvPr id="2" name="STEP0_MAIN">
            <a:extLst>
              <a:ext uri="{FF2B5EF4-FFF2-40B4-BE49-F238E27FC236}">
                <a16:creationId xmlns:a16="http://schemas.microsoft.com/office/drawing/2014/main" id="{ECD8E612-4DAF-2090-2267-C8268ED0ACEE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7096125" cy="1762125"/>
          </a:xfrm>
          <a:prstGeom prst="roundRect">
            <a:avLst>
              <a:gd name="adj" fmla="val 8421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短い説明が、いつも分かりやすいとは限らない。</a:t>
            </a:r>
            <a:r>
              <a:rPr sz="1400" b="1" u="sng">
                <a:solidFill>
                  <a:srgbClr val="138A72"/>
                </a:solidFill>
                <a:latin typeface="游明朝"/>
                <a:ea typeface="游明朝"/>
                <a:cs typeface="游明朝"/>
              </a:rPr>
              <a:t>駅で『こちらへ』とだけ書かれた案内は短いが、行き先が分からない。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必要な情報がなければ、短さは行動を助けない。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【例題1】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傍線部は、文章中でどのような役割を果たしているか。３つの解答欄を順に読み、答えに至る考え方を確認しなさい。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A5A14"/>
          </a:solidFill>
          <a:ln w="0">
            <a:solidFill>
              <a:srgbClr val="8A5A14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例題1　前・対象・後を一文の答えにまとめる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7ページ  11/50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1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2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3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FB91F3AF-60B2-4A94-B750-A38F760DE7DE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35E30E28-3F44-41C9-87DC-778AFC16EA63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A5F458CE-2777-44DE-A6A9-0DA66A1005FD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2A35D32A-4282-4463-9451-758D7F7E8877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36BD5F59-E84C-450A-B62A-FCBAB3BE631E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C80141E8-2704-4E78-884B-5D679E52C175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BE856412-17F2-43CB-9865-D9144483DFCF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3672E51A-4C0C-4FAD-8F06-4CA02566BB50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F5F64413-29A8-4A09-B78F-B2E61764B658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1710495E-9F7C-4B84-BD05-7720116B00E2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内容を写すのではなく、対象の文が前後に対してする仕事を答えます。</a:t>
            </a:r>
          </a:p>
        </p:txBody>
      </p:sp>
      <p:sp>
        <p:nvSpPr>
          <p:cNvPr id="41" name="KERNEL_A">
            <a:extLst>
              <a:ext uri="{FF2B5EF4-FFF2-40B4-BE49-F238E27FC236}">
                <a16:creationId xmlns:a16="http://schemas.microsoft.com/office/drawing/2014/main" id="{A03FA8CA-C94B-4051-9377-5DA975DB9780}"/>
              </a:ext>
            </a:extLst>
          </p:cNvPr>
          <p:cNvSpPr>
            <a:spLocks noGrp="1"/>
          </p:cNvSpPr>
          <p:nvPr/>
        </p:nvSpPr>
        <p:spPr>
          <a:xfrm>
            <a:off x="619125" y="3571875"/>
            <a:ext cx="2095500" cy="1095375"/>
          </a:xfrm>
          <a:prstGeom prst="roundRect">
            <a:avLst>
              <a:gd name="adj" fmla="val 7273"/>
            </a:avLst>
          </a:prstGeom>
          <a:solidFill>
            <a:srgbClr val="FFF5D6"/>
          </a:solidFill>
          <a:ln w="14288">
            <a:solidFill>
              <a:srgbClr val="A6781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前の主張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短いだけでは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分かりやすくない</a:t>
            </a:r>
          </a:p>
        </p:txBody>
      </p:sp>
      <p:sp>
        <p:nvSpPr>
          <p:cNvPr id="42" name="KERNEL_LINK">
            <a:extLst>
              <a:ext uri="{FF2B5EF4-FFF2-40B4-BE49-F238E27FC236}">
                <a16:creationId xmlns:a16="http://schemas.microsoft.com/office/drawing/2014/main" id="{567C9CDF-8F66-413A-977F-B2295EB367BF}"/>
              </a:ext>
            </a:extLst>
          </p:cNvPr>
          <p:cNvSpPr>
            <a:spLocks noGrp="1"/>
          </p:cNvSpPr>
          <p:nvPr/>
        </p:nvSpPr>
        <p:spPr>
          <a:xfrm>
            <a:off x="3048000" y="3571875"/>
            <a:ext cx="2095500" cy="1095375"/>
          </a:xfrm>
          <a:prstGeom prst="roundRect">
            <a:avLst>
              <a:gd name="adj" fmla="val 7273"/>
            </a:avLst>
          </a:prstGeom>
          <a:solidFill>
            <a:srgbClr val="FFF5D6"/>
          </a:solidFill>
          <a:ln w="14288">
            <a:solidFill>
              <a:srgbClr val="A6781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対象の仕事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駅の案内の例で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具体化する</a:t>
            </a:r>
          </a:p>
        </p:txBody>
      </p:sp>
      <p:sp>
        <p:nvSpPr>
          <p:cNvPr id="43" name="KERNEL_B">
            <a:extLst>
              <a:ext uri="{FF2B5EF4-FFF2-40B4-BE49-F238E27FC236}">
                <a16:creationId xmlns:a16="http://schemas.microsoft.com/office/drawing/2014/main" id="{6432DC4F-1627-4D94-BDCD-0B7296B3D1B5}"/>
              </a:ext>
            </a:extLst>
          </p:cNvPr>
          <p:cNvSpPr>
            <a:spLocks noGrp="1"/>
          </p:cNvSpPr>
          <p:nvPr/>
        </p:nvSpPr>
        <p:spPr>
          <a:xfrm>
            <a:off x="5476875" y="3571875"/>
            <a:ext cx="2095500" cy="1095375"/>
          </a:xfrm>
          <a:prstGeom prst="roundRect">
            <a:avLst>
              <a:gd name="adj" fmla="val 7273"/>
            </a:avLst>
          </a:prstGeom>
          <a:solidFill>
            <a:srgbClr val="FFF5D6"/>
          </a:solidFill>
          <a:ln w="14288">
            <a:solidFill>
              <a:srgbClr val="A6781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後のまとめ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必要な情報が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行動を助ける</a:t>
            </a:r>
          </a:p>
        </p:txBody>
      </p:sp>
      <p:sp>
        <p:nvSpPr>
          <p:cNvPr id="44" name="KERNEL_DOWN">
            <a:extLst>
              <a:ext uri="{FF2B5EF4-FFF2-40B4-BE49-F238E27FC236}">
                <a16:creationId xmlns:a16="http://schemas.microsoft.com/office/drawing/2014/main" id="{9D8EC1B4-7037-4208-B9B5-FD51F96857EB}"/>
              </a:ext>
            </a:extLst>
          </p:cNvPr>
          <p:cNvSpPr>
            <a:spLocks noGrp="1"/>
          </p:cNvSpPr>
          <p:nvPr/>
        </p:nvSpPr>
        <p:spPr>
          <a:xfrm>
            <a:off x="3762375" y="463867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4F86C6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4F86C6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49" name="VOCAB_HELP">
            <a:extLst>
              <a:ext uri="{FF2B5EF4-FFF2-40B4-BE49-F238E27FC236}">
                <a16:creationId xmlns:a16="http://schemas.microsoft.com/office/drawing/2014/main" id="{3225BAB4-B31E-4CC7-90B2-3B2F995E6235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  <p:sp>
        <p:nvSpPr>
          <p:cNvPr id="53" name="FINAL_ANSWER_PANEL">
            <a:extLst>
              <a:ext uri="{FF2B5EF4-FFF2-40B4-BE49-F238E27FC236}">
                <a16:creationId xmlns:a16="http://schemas.microsoft.com/office/drawing/2014/main" id="{73F5D39F-6F10-4661-9B36-309001CBEF32}"/>
              </a:ext>
            </a:extLst>
          </p:cNvPr>
          <p:cNvSpPr>
            <a:spLocks noGrp="1"/>
          </p:cNvSpPr>
          <p:nvPr/>
        </p:nvSpPr>
        <p:spPr>
          <a:xfrm>
            <a:off x="619125" y="5048250"/>
            <a:ext cx="6810375" cy="742950"/>
          </a:xfrm>
          <a:prstGeom prst="roundRect">
            <a:avLst>
              <a:gd name="adj" fmla="val 10256"/>
            </a:avLst>
          </a:prstGeom>
          <a:solidFill>
            <a:srgbClr val="FFF1ED"/>
          </a:solidFill>
          <a:ln w="14288">
            <a:solidFill>
              <a:srgbClr val="D49A89"/>
            </a:solidFill>
            <a:prstDash val="solid"/>
          </a:ln>
        </p:spPr>
        <p:txBody>
          <a:bodyPr anchor="ctr"/>
          <a:lstStyle/>
          <a:p>
            <a:pPr algn="l">
              <a:buNone/>
            </a:pPr>
            <a:r>
              <a:rPr sz="1700" b="1">
                <a:solidFill>
                  <a:srgbClr val="C00000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前の主張を駅の案内の例で具体化し、後のまとめへつなぐ。</a:t>
            </a:r>
          </a:p>
        </p:txBody>
      </p:sp>
      <p:sp>
        <p:nvSpPr>
          <p:cNvPr id="2" name="STEP0_MAIN">
            <a:extLst>
              <a:ext uri="{FF2B5EF4-FFF2-40B4-BE49-F238E27FC236}">
                <a16:creationId xmlns:a16="http://schemas.microsoft.com/office/drawing/2014/main" id="{7F5E37C2-E7FE-AE68-1D8C-237F6677E077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7096125" cy="1762125"/>
          </a:xfrm>
          <a:prstGeom prst="roundRect">
            <a:avLst>
              <a:gd name="adj" fmla="val 8421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短い説明が、いつも分かりやすいとは限らない。</a:t>
            </a:r>
            <a:r>
              <a:rPr sz="1400" b="1" u="sng">
                <a:solidFill>
                  <a:srgbClr val="138A72"/>
                </a:solidFill>
                <a:latin typeface="游明朝"/>
                <a:ea typeface="游明朝"/>
                <a:cs typeface="游明朝"/>
              </a:rPr>
              <a:t>駅で『こちらへ』とだけ書かれた案内は短いが、行き先が分からない。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必要な情報がなければ、短さは行動を助けない。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【例題1】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傍線部は、文章中でどのような役割を果たしているか。３つの解答欄を順に読み、答えに至る考え方を確認しなさい。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A5A14"/>
          </a:solidFill>
          <a:ln w="0">
            <a:solidFill>
              <a:srgbClr val="8A5A14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例題2・ケース1　本文と問を見て、書く欄を確かめる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9ページ  12/50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2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3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4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3544A115-554F-4909-89F9-A421CBA31307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A5DDAB02-BB3E-498E-8BC1-17E37DE46F71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73F6ADDC-84E8-435D-9EB0-36BA230891B3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B833810-9E01-49F0-90F1-A4F59FDC014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C408BACA-4E7B-41C5-82C5-6599F8AB945C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E9C73CD-E24B-4532-B18F-E66C69FE945A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5EBABB2C-65A9-408D-800C-6B7EE37AC44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E30ACE43-636C-464E-A736-E311D54354B2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BE8EF"/>
          </a:solidFill>
          <a:ln w="13335">
            <a:solidFill>
              <a:srgbClr val="E4A0B7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DCF46609-C50E-493D-ABFC-0926BC7D1483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C55D82"/>
          </a:solidFill>
          <a:ln w="9525">
            <a:solidFill>
              <a:srgbClr val="E4A0B7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かしこりん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34BFD9F2-C3AA-43DB-83CA-75713DBEE5BA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8F3D5B"/>
                </a:solidFill>
                <a:latin typeface="りいてがき筆"/>
                <a:ea typeface="りいてがき筆"/>
                <a:cs typeface="りいてがき筆"/>
              </a:rPr>
              <a:t>本文への直接の答えと、答えを導くための３つの解答欄を区別します。</a:t>
            </a:r>
          </a:p>
        </p:txBody>
      </p:sp>
      <p:sp>
        <p:nvSpPr>
          <p:cNvPr id="50" name="SOURCE_TRACE_PANEL">
            <a:extLst>
              <a:ext uri="{FF2B5EF4-FFF2-40B4-BE49-F238E27FC236}">
                <a16:creationId xmlns:a16="http://schemas.microsoft.com/office/drawing/2014/main" id="{7B818317-C941-4542-832C-476F031D7519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4724400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失敗の理由を記録すると、次の改善点が見える。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【例題2・ケース1】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筆者が最も述べたいことは何か。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〔根拠範囲〕</a:t>
            </a:r>
          </a:p>
        </p:txBody>
      </p:sp>
      <p:sp>
        <p:nvSpPr>
          <p:cNvPr id="54" name="VOCAB_HELP">
            <a:extLst>
              <a:ext uri="{FF2B5EF4-FFF2-40B4-BE49-F238E27FC236}">
                <a16:creationId xmlns:a16="http://schemas.microsoft.com/office/drawing/2014/main" id="{EC01B108-98E5-4FC0-8C05-C809A00054DD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A5A14"/>
          </a:solidFill>
          <a:ln w="0">
            <a:solidFill>
              <a:srgbClr val="8A5A14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例題2・ケース1　問いの最後の言葉から主型を決める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9ページ  13/50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8EBD7422-DE3A-488E-8EA5-8E56E8AE887C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D112064-A6E8-4166-BC77-3969190020D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AC73706-C468-40AF-8276-06F8419CFFDB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D01B732-695D-46C1-A2BA-FCCE26931C72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54996F9-91E6-4BE6-BF1D-A8DC08EEDD4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F0810A-8FA7-4908-9870-7F3A37B5525E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908B513A-79C3-4FFD-8906-6347F5E24A82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3C36A16-E061-413F-AB9F-A0B2F27A617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77AA83F1-649F-495B-BE9F-9F0680B6D30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8F56C545-B631-49C6-83FA-2A8A5C39AAB5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問いの最後の言葉の『最も述べたいこと』が、主張・要旨型の決め手です。</a:t>
            </a:r>
          </a:p>
        </p:txBody>
      </p:sp>
      <p:sp>
        <p:nvSpPr>
          <p:cNvPr id="42" name="STEP0_どういうことか">
            <a:extLst>
              <a:ext uri="{FF2B5EF4-FFF2-40B4-BE49-F238E27FC236}">
                <a16:creationId xmlns:a16="http://schemas.microsoft.com/office/drawing/2014/main" id="{4BE7D15B-CAFE-401C-AB56-4FDF7486125F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主型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主張・要旨型</a:t>
            </a:r>
          </a:p>
        </p:txBody>
      </p:sp>
      <p:sp>
        <p:nvSpPr>
          <p:cNvPr id="43" name="STEP0_なぜか">
            <a:extLst>
              <a:ext uri="{FF2B5EF4-FFF2-40B4-BE49-F238E27FC236}">
                <a16:creationId xmlns:a16="http://schemas.microsoft.com/office/drawing/2014/main" id="{23C56A34-262F-4F09-A147-F747B9E428D8}"/>
              </a:ext>
            </a:extLst>
          </p:cNvPr>
          <p:cNvSpPr>
            <a:spLocks noGrp="1"/>
          </p:cNvSpPr>
          <p:nvPr/>
        </p:nvSpPr>
        <p:spPr>
          <a:xfrm>
            <a:off x="300037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本文全体の中心的判断</a:t>
            </a:r>
          </a:p>
        </p:txBody>
      </p:sp>
      <p:sp>
        <p:nvSpPr>
          <p:cNvPr id="44" name="STEP0_どのような役割か">
            <a:extLst>
              <a:ext uri="{FF2B5EF4-FFF2-40B4-BE49-F238E27FC236}">
                <a16:creationId xmlns:a16="http://schemas.microsoft.com/office/drawing/2014/main" id="{60400D1A-58E2-40BB-ABB5-03CBF733C265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根拠範囲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全文</a:t>
            </a:r>
          </a:p>
        </p:txBody>
      </p:sp>
      <p:sp>
        <p:nvSpPr>
          <p:cNvPr id="45" name="STEP0_最も適切なもの">
            <a:extLst>
              <a:ext uri="{FF2B5EF4-FFF2-40B4-BE49-F238E27FC236}">
                <a16:creationId xmlns:a16="http://schemas.microsoft.com/office/drawing/2014/main" id="{A9E69F94-9A92-4B8E-A2C2-582ABBB99DAD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7096125" cy="571500"/>
          </a:xfrm>
          <a:prstGeom prst="roundRect">
            <a:avLst>
              <a:gd name="adj" fmla="val 10256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問いの最後の言葉の決め手：</a:t>
            </a: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『最も述べたいこと』</a:t>
            </a:r>
          </a:p>
        </p:txBody>
      </p:sp>
      <p:sp>
        <p:nvSpPr>
          <p:cNvPr id="46" name="STEP0_WARN">
            <a:extLst>
              <a:ext uri="{FF2B5EF4-FFF2-40B4-BE49-F238E27FC236}">
                <a16:creationId xmlns:a16="http://schemas.microsoft.com/office/drawing/2014/main" id="{3D7ED1BE-3E01-4E1B-89EC-ECCAC69AEC98}"/>
              </a:ext>
            </a:extLst>
          </p:cNvPr>
          <p:cNvSpPr>
            <a:spLocks noGrp="1"/>
          </p:cNvSpPr>
          <p:nvPr/>
        </p:nvSpPr>
        <p:spPr>
          <a:xfrm>
            <a:off x="1000125" y="5448300"/>
            <a:ext cx="6334125" cy="666750"/>
          </a:xfrm>
          <a:prstGeom prst="roundRect">
            <a:avLst>
              <a:gd name="adj" fmla="val 11429"/>
            </a:avLst>
          </a:prstGeom>
          <a:solidFill>
            <a:srgbClr val="FDEBD9"/>
          </a:solidFill>
          <a:ln w="14288">
            <a:solidFill>
              <a:srgbClr val="B15E2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C00000"/>
                </a:solidFill>
                <a:latin typeface="Yu Gothic"/>
                <a:ea typeface="Yu Gothic"/>
                <a:cs typeface="Yu Gothic"/>
              </a:rPr>
              <a:t>注意：</a:t>
            </a: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本文の『理由』という目立つ語だけを見て、理由型にしない。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E61D822D-D117-4C76-B681-1F6DACB800D2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  <p:sp>
        <p:nvSpPr>
          <p:cNvPr id="2" name="SOURCE_TRACE_PANEL">
            <a:extLst>
              <a:ext uri="{FF2B5EF4-FFF2-40B4-BE49-F238E27FC236}">
                <a16:creationId xmlns:a16="http://schemas.microsoft.com/office/drawing/2014/main" id="{70C8F79B-E4D7-82D7-1E8B-B9179FD0F405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1982534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失敗の理由を記録すると、次の改善点が見える。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【例題2・ケース1】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筆者が最も述べたいことは何か。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〔根拠範囲〕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A5A14"/>
          </a:solidFill>
          <a:ln w="0">
            <a:solidFill>
              <a:srgbClr val="8A5A14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例題2・ケース1　答えと決め手のつながりを確認する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9ページ  14/50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8EBD7422-DE3A-488E-8EA5-8E56E8AE887C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D112064-A6E8-4166-BC77-3969190020D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AC73706-C468-40AF-8276-06F8419CFFDB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D01B732-695D-46C1-A2BA-FCCE26931C72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54996F9-91E6-4BE6-BF1D-A8DC08EEDD4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F0810A-8FA7-4908-9870-7F3A37B5525E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908B513A-79C3-4FFD-8906-6347F5E24A82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3C36A16-E061-413F-AB9F-A0B2F27A617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77AA83F1-649F-495B-BE9F-9F0680B6D30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8F56C545-B631-49C6-83FA-2A8A5C39AAB5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問いの最後の言葉の言葉から、主型・焦点・本文で見る場所を決めます。</a:t>
            </a:r>
          </a:p>
        </p:txBody>
      </p:sp>
      <p:sp>
        <p:nvSpPr>
          <p:cNvPr id="42" name="STEP0_どういうことか">
            <a:extLst>
              <a:ext uri="{FF2B5EF4-FFF2-40B4-BE49-F238E27FC236}">
                <a16:creationId xmlns:a16="http://schemas.microsoft.com/office/drawing/2014/main" id="{4BE7D15B-CAFE-401C-AB56-4FDF7486125F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主型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主張・要旨型</a:t>
            </a:r>
          </a:p>
        </p:txBody>
      </p:sp>
      <p:sp>
        <p:nvSpPr>
          <p:cNvPr id="43" name="STEP0_なぜか">
            <a:extLst>
              <a:ext uri="{FF2B5EF4-FFF2-40B4-BE49-F238E27FC236}">
                <a16:creationId xmlns:a16="http://schemas.microsoft.com/office/drawing/2014/main" id="{23C56A34-262F-4F09-A147-F747B9E428D8}"/>
              </a:ext>
            </a:extLst>
          </p:cNvPr>
          <p:cNvSpPr>
            <a:spLocks noGrp="1"/>
          </p:cNvSpPr>
          <p:nvPr/>
        </p:nvSpPr>
        <p:spPr>
          <a:xfrm>
            <a:off x="300037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本文全体の中心的判断</a:t>
            </a:r>
          </a:p>
        </p:txBody>
      </p:sp>
      <p:sp>
        <p:nvSpPr>
          <p:cNvPr id="44" name="STEP0_どのような役割か">
            <a:extLst>
              <a:ext uri="{FF2B5EF4-FFF2-40B4-BE49-F238E27FC236}">
                <a16:creationId xmlns:a16="http://schemas.microsoft.com/office/drawing/2014/main" id="{60400D1A-58E2-40BB-ABB5-03CBF733C265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根拠範囲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全文</a:t>
            </a:r>
          </a:p>
        </p:txBody>
      </p:sp>
      <p:sp>
        <p:nvSpPr>
          <p:cNvPr id="45" name="STEP0_最も適切なもの">
            <a:extLst>
              <a:ext uri="{FF2B5EF4-FFF2-40B4-BE49-F238E27FC236}">
                <a16:creationId xmlns:a16="http://schemas.microsoft.com/office/drawing/2014/main" id="{A9E69F94-9A92-4B8E-A2C2-582ABBB99DAD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7096125" cy="571500"/>
          </a:xfrm>
          <a:prstGeom prst="roundRect">
            <a:avLst>
              <a:gd name="adj" fmla="val 10256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失敗の理由を記録すると、次の改善点が見える。</a:t>
            </a:r>
          </a:p>
        </p:txBody>
      </p:sp>
      <p:sp>
        <p:nvSpPr>
          <p:cNvPr id="46" name="STEP0_WARN">
            <a:extLst>
              <a:ext uri="{FF2B5EF4-FFF2-40B4-BE49-F238E27FC236}">
                <a16:creationId xmlns:a16="http://schemas.microsoft.com/office/drawing/2014/main" id="{3D7ED1BE-3E01-4E1B-89EC-ECCAC69AEC98}"/>
              </a:ext>
            </a:extLst>
          </p:cNvPr>
          <p:cNvSpPr>
            <a:spLocks noGrp="1"/>
          </p:cNvSpPr>
          <p:nvPr/>
        </p:nvSpPr>
        <p:spPr>
          <a:xfrm>
            <a:off x="1000125" y="5448300"/>
            <a:ext cx="6334125" cy="666750"/>
          </a:xfrm>
          <a:prstGeom prst="roundRect">
            <a:avLst>
              <a:gd name="adj" fmla="val 11429"/>
            </a:avLst>
          </a:prstGeom>
          <a:solidFill>
            <a:srgbClr val="FDEBD9"/>
          </a:solidFill>
          <a:ln w="14288">
            <a:solidFill>
              <a:srgbClr val="B15E2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138A72"/>
                </a:solidFill>
                <a:latin typeface="Yu Gothic"/>
                <a:ea typeface="Yu Gothic"/>
                <a:cs typeface="Yu Gothic"/>
              </a:rPr>
              <a:t>確かめ方：</a:t>
            </a: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問いの最後の言葉の『最も述べたいこと』と、全文の中心が一致するか確かめる。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B2B84E8C-CFB3-4173-AA9C-3B4A659F1CFF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  <p:sp>
        <p:nvSpPr>
          <p:cNvPr id="2" name="SOURCE_TRACE_PANEL">
            <a:extLst>
              <a:ext uri="{FF2B5EF4-FFF2-40B4-BE49-F238E27FC236}">
                <a16:creationId xmlns:a16="http://schemas.microsoft.com/office/drawing/2014/main" id="{DF25FD63-8335-177E-09EF-2040D95C52A4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1982534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失敗の理由を記録すると、次の改善点が見える。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【例題2・ケース1】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筆者が最も述べたいことは何か。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〔根拠範囲〕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A5A14"/>
          </a:solidFill>
          <a:ln w="0">
            <a:solidFill>
              <a:srgbClr val="8A5A14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例題2・ケース2　本文と問を見て、書く欄を確かめる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9ページ  15/50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2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3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4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3544A115-554F-4909-89F9-A421CBA31307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A5DDAB02-BB3E-498E-8BC1-17E37DE46F71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73F6ADDC-84E8-435D-9EB0-36BA230891B3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B833810-9E01-49F0-90F1-A4F59FDC014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C408BACA-4E7B-41C5-82C5-6599F8AB945C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E9C73CD-E24B-4532-B18F-E66C69FE945A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5EBABB2C-65A9-408D-800C-6B7EE37AC44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E30ACE43-636C-464E-A736-E311D54354B2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BE8EF"/>
          </a:solidFill>
          <a:ln w="13335">
            <a:solidFill>
              <a:srgbClr val="E4A0B7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DCF46609-C50E-493D-ABFC-0926BC7D1483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C55D82"/>
          </a:solidFill>
          <a:ln w="9525">
            <a:solidFill>
              <a:srgbClr val="E4A0B7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かしこりん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34BFD9F2-C3AA-43DB-83CA-75713DBEE5BA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8F3D5B"/>
                </a:solidFill>
                <a:latin typeface="りいてがき筆"/>
                <a:ea typeface="りいてがき筆"/>
                <a:cs typeface="りいてがき筆"/>
              </a:rPr>
              <a:t>本文への直接の答えと、答えを導くための３つの解答欄を区別します。</a:t>
            </a:r>
          </a:p>
        </p:txBody>
      </p:sp>
      <p:sp>
        <p:nvSpPr>
          <p:cNvPr id="50" name="SOURCE_TRACE_PANEL">
            <a:extLst>
              <a:ext uri="{FF2B5EF4-FFF2-40B4-BE49-F238E27FC236}">
                <a16:creationId xmlns:a16="http://schemas.microsoft.com/office/drawing/2014/main" id="{7B818317-C941-4542-832C-476F031D7519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4724400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【第一段落】話し合いをすぐ始めると、最初の発言に考えが引かれやすい。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【第二段落】そこで、話し合いの前に各自で考えを書く。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【第三段落】着眼点を残せば、互いの違いを比べられる。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【例題2・ケース2】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第二段落の、文章の構成上の役割はどれか。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ア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　方法を示し、効果へつなぐ。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イ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　前段落を否定する。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ウ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　後段落の結論を証明する。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エ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　道具を列挙する。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〔根拠範囲〕</a:t>
            </a:r>
          </a:p>
        </p:txBody>
      </p:sp>
      <p:sp>
        <p:nvSpPr>
          <p:cNvPr id="54" name="VOCAB_HELP">
            <a:extLst>
              <a:ext uri="{FF2B5EF4-FFF2-40B4-BE49-F238E27FC236}">
                <a16:creationId xmlns:a16="http://schemas.microsoft.com/office/drawing/2014/main" id="{316EE9A8-3512-44F7-8723-86C1A7DC3107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A5A14"/>
          </a:solidFill>
          <a:ln w="0">
            <a:solidFill>
              <a:srgbClr val="8A5A14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例題2・ケース2　選択肢を同じ物差しで比べる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9ページ  16/50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4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5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6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9C33F477-D582-4C59-9828-1A99E6CD3DD1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494B4A5-A2E3-40B1-BB20-0BCF7470D31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879382E3-DF3F-4689-80A4-0F324661BC2F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6E9D8856-6337-4C45-AEB3-1279F76BEFC5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D7C8D8BE-C07F-4BF7-81A4-6DFC75F63963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D5B8762D-FD00-4B35-8F9B-457FDCA50924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8EBB84B8-9B6E-4A64-A730-773CEB76E236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F8585A02-129D-431A-BCA3-40DE33BC7A9B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837139FD-709C-4218-A9F6-D0FD61863A13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6938771C-41C7-4FC4-95F0-919E73FE1D31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共通軸＝選択肢を同じ観点で比べる物差し。今回は『第二段落の仕事』です。</a:t>
            </a:r>
          </a:p>
        </p:txBody>
      </p:sp>
      <p:sp>
        <p:nvSpPr>
          <p:cNvPr id="41" name="TYPE_Q_どういうことか">
            <a:extLst>
              <a:ext uri="{FF2B5EF4-FFF2-40B4-BE49-F238E27FC236}">
                <a16:creationId xmlns:a16="http://schemas.microsoft.com/office/drawing/2014/main" id="{67AE8C38-0D12-4637-A007-499B79914C24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3476625" cy="457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4288">
            <a:solidFill>
              <a:srgbClr val="9AA9B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550" b="1">
                <a:solidFill>
                  <a:srgbClr val="138A72"/>
                </a:solidFill>
                <a:latin typeface="Yu Gothic"/>
                <a:ea typeface="Yu Gothic"/>
                <a:cs typeface="Yu Gothic"/>
              </a:rPr>
              <a:t>ア　方法を示し、効果へつなぐ。</a:t>
            </a:r>
          </a:p>
        </p:txBody>
      </p:sp>
      <p:sp>
        <p:nvSpPr>
          <p:cNvPr id="42" name="TYPE_A_どういうことか">
            <a:extLst>
              <a:ext uri="{FF2B5EF4-FFF2-40B4-BE49-F238E27FC236}">
                <a16:creationId xmlns:a16="http://schemas.microsoft.com/office/drawing/2014/main" id="{93002F44-CEF9-4A97-8828-E2CB3231AD70}"/>
              </a:ext>
            </a:extLst>
          </p:cNvPr>
          <p:cNvSpPr>
            <a:spLocks noGrp="1"/>
          </p:cNvSpPr>
          <p:nvPr/>
        </p:nvSpPr>
        <p:spPr>
          <a:xfrm>
            <a:off x="4238625" y="4238625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43" name="TYPE_RESULT_内容型">
            <a:extLst>
              <a:ext uri="{FF2B5EF4-FFF2-40B4-BE49-F238E27FC236}">
                <a16:creationId xmlns:a16="http://schemas.microsoft.com/office/drawing/2014/main" id="{A54914EF-DC53-438B-9975-D4EE9778C840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2714625" cy="457200"/>
          </a:xfrm>
          <a:prstGeom prst="roundRect">
            <a:avLst>
              <a:gd name="adj" fmla="val 11429"/>
            </a:avLst>
          </a:prstGeom>
          <a:solidFill>
            <a:srgbClr val="E6F4EA"/>
          </a:solidFill>
          <a:ln w="14288">
            <a:solidFill>
              <a:srgbClr val="3E7B5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50" b="1">
                <a:solidFill>
                  <a:srgbClr val="138A72"/>
                </a:solidFill>
                <a:latin typeface="Yu Gothic"/>
                <a:ea typeface="Yu Gothic"/>
                <a:cs typeface="Yu Gothic"/>
              </a:rPr>
              <a:t>前の問題への方法＋後の効果</a:t>
            </a:r>
          </a:p>
        </p:txBody>
      </p:sp>
      <p:sp>
        <p:nvSpPr>
          <p:cNvPr id="44" name="TYPE_Q_なぜか">
            <a:extLst>
              <a:ext uri="{FF2B5EF4-FFF2-40B4-BE49-F238E27FC236}">
                <a16:creationId xmlns:a16="http://schemas.microsoft.com/office/drawing/2014/main" id="{7C67CE69-DEC0-4974-B519-EAA6B7F2C108}"/>
              </a:ext>
            </a:extLst>
          </p:cNvPr>
          <p:cNvSpPr>
            <a:spLocks noGrp="1"/>
          </p:cNvSpPr>
          <p:nvPr/>
        </p:nvSpPr>
        <p:spPr>
          <a:xfrm>
            <a:off x="666750" y="4705350"/>
            <a:ext cx="3476625" cy="457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4288">
            <a:solidFill>
              <a:srgbClr val="9AA9B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55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イ　前段落を否定する。</a:t>
            </a:r>
          </a:p>
        </p:txBody>
      </p:sp>
      <p:sp>
        <p:nvSpPr>
          <p:cNvPr id="45" name="TYPE_A_なぜか">
            <a:extLst>
              <a:ext uri="{FF2B5EF4-FFF2-40B4-BE49-F238E27FC236}">
                <a16:creationId xmlns:a16="http://schemas.microsoft.com/office/drawing/2014/main" id="{553359DC-5076-4B8B-8CFD-89FD6B00A86C}"/>
              </a:ext>
            </a:extLst>
          </p:cNvPr>
          <p:cNvSpPr>
            <a:spLocks noGrp="1"/>
          </p:cNvSpPr>
          <p:nvPr/>
        </p:nvSpPr>
        <p:spPr>
          <a:xfrm>
            <a:off x="4238625" y="4752975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46" name="TYPE_RESULT_理由型">
            <a:extLst>
              <a:ext uri="{FF2B5EF4-FFF2-40B4-BE49-F238E27FC236}">
                <a16:creationId xmlns:a16="http://schemas.microsoft.com/office/drawing/2014/main" id="{745E46CC-177A-407C-897B-EAE216875FE8}"/>
              </a:ext>
            </a:extLst>
          </p:cNvPr>
          <p:cNvSpPr>
            <a:spLocks noGrp="1"/>
          </p:cNvSpPr>
          <p:nvPr/>
        </p:nvSpPr>
        <p:spPr>
          <a:xfrm>
            <a:off x="4762500" y="4705350"/>
            <a:ext cx="2714625" cy="457200"/>
          </a:xfrm>
          <a:prstGeom prst="roundRect">
            <a:avLst>
              <a:gd name="adj" fmla="val 11429"/>
            </a:avLst>
          </a:prstGeom>
          <a:solidFill>
            <a:srgbClr val="F8E8EC"/>
          </a:solidFill>
          <a:ln w="14288">
            <a:solidFill>
              <a:srgbClr val="A94B61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5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前段落を否定していない</a:t>
            </a:r>
          </a:p>
        </p:txBody>
      </p:sp>
      <p:sp>
        <p:nvSpPr>
          <p:cNvPr id="47" name="TYPE_Q_どのような役割か">
            <a:extLst>
              <a:ext uri="{FF2B5EF4-FFF2-40B4-BE49-F238E27FC236}">
                <a16:creationId xmlns:a16="http://schemas.microsoft.com/office/drawing/2014/main" id="{0508333B-AB87-42E0-82F6-49DF4FD2563A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3476625" cy="457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4288">
            <a:solidFill>
              <a:srgbClr val="9AA9B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55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ウ　後段落の結論を証明する。</a:t>
            </a:r>
          </a:p>
        </p:txBody>
      </p:sp>
      <p:sp>
        <p:nvSpPr>
          <p:cNvPr id="48" name="TYPE_A_どのような役割か">
            <a:extLst>
              <a:ext uri="{FF2B5EF4-FFF2-40B4-BE49-F238E27FC236}">
                <a16:creationId xmlns:a16="http://schemas.microsoft.com/office/drawing/2014/main" id="{221D0C4E-CFAA-41D1-8686-16906361787D}"/>
              </a:ext>
            </a:extLst>
          </p:cNvPr>
          <p:cNvSpPr>
            <a:spLocks noGrp="1"/>
          </p:cNvSpPr>
          <p:nvPr/>
        </p:nvSpPr>
        <p:spPr>
          <a:xfrm>
            <a:off x="4238625" y="5267325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49" name="TYPE_RESULT_構成型">
            <a:extLst>
              <a:ext uri="{FF2B5EF4-FFF2-40B4-BE49-F238E27FC236}">
                <a16:creationId xmlns:a16="http://schemas.microsoft.com/office/drawing/2014/main" id="{DA32462A-1F9F-4416-B34B-D35E63C555D3}"/>
              </a:ext>
            </a:extLst>
          </p:cNvPr>
          <p:cNvSpPr>
            <a:spLocks noGrp="1"/>
          </p:cNvSpPr>
          <p:nvPr/>
        </p:nvSpPr>
        <p:spPr>
          <a:xfrm>
            <a:off x="4762500" y="5219700"/>
            <a:ext cx="2714625" cy="457200"/>
          </a:xfrm>
          <a:prstGeom prst="roundRect">
            <a:avLst>
              <a:gd name="adj" fmla="val 11429"/>
            </a:avLst>
          </a:prstGeom>
          <a:solidFill>
            <a:srgbClr val="F8E8EC"/>
          </a:solidFill>
          <a:ln w="14288">
            <a:solidFill>
              <a:srgbClr val="A94B61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5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結論の証明ではない</a:t>
            </a:r>
          </a:p>
        </p:txBody>
      </p:sp>
      <p:sp>
        <p:nvSpPr>
          <p:cNvPr id="50" name="TYPE_Q_筆者の考えは何か">
            <a:extLst>
              <a:ext uri="{FF2B5EF4-FFF2-40B4-BE49-F238E27FC236}">
                <a16:creationId xmlns:a16="http://schemas.microsoft.com/office/drawing/2014/main" id="{C1CC74EE-0340-4418-866D-A758D76A48DC}"/>
              </a:ext>
            </a:extLst>
          </p:cNvPr>
          <p:cNvSpPr>
            <a:spLocks noGrp="1"/>
          </p:cNvSpPr>
          <p:nvPr/>
        </p:nvSpPr>
        <p:spPr>
          <a:xfrm>
            <a:off x="666750" y="5734050"/>
            <a:ext cx="3476625" cy="457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4288">
            <a:solidFill>
              <a:srgbClr val="9AA9B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55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エ　道具を列挙する。</a:t>
            </a:r>
          </a:p>
        </p:txBody>
      </p:sp>
      <p:sp>
        <p:nvSpPr>
          <p:cNvPr id="51" name="TYPE_A_筆者の考えは何か">
            <a:extLst>
              <a:ext uri="{FF2B5EF4-FFF2-40B4-BE49-F238E27FC236}">
                <a16:creationId xmlns:a16="http://schemas.microsoft.com/office/drawing/2014/main" id="{C2CC18BD-9F97-4AF8-B254-42A2080166C9}"/>
              </a:ext>
            </a:extLst>
          </p:cNvPr>
          <p:cNvSpPr>
            <a:spLocks noGrp="1"/>
          </p:cNvSpPr>
          <p:nvPr/>
        </p:nvSpPr>
        <p:spPr>
          <a:xfrm>
            <a:off x="4238625" y="5781675"/>
            <a:ext cx="4000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52" name="TYPE_RESULT_要旨型">
            <a:extLst>
              <a:ext uri="{FF2B5EF4-FFF2-40B4-BE49-F238E27FC236}">
                <a16:creationId xmlns:a16="http://schemas.microsoft.com/office/drawing/2014/main" id="{ADDF636A-4AE0-4A1F-8483-7653CB07CAFD}"/>
              </a:ext>
            </a:extLst>
          </p:cNvPr>
          <p:cNvSpPr>
            <a:spLocks noGrp="1"/>
          </p:cNvSpPr>
          <p:nvPr/>
        </p:nvSpPr>
        <p:spPr>
          <a:xfrm>
            <a:off x="4762500" y="5734050"/>
            <a:ext cx="2714625" cy="457200"/>
          </a:xfrm>
          <a:prstGeom prst="roundRect">
            <a:avLst>
              <a:gd name="adj" fmla="val 11429"/>
            </a:avLst>
          </a:prstGeom>
          <a:solidFill>
            <a:srgbClr val="F8E8EC"/>
          </a:solidFill>
          <a:ln w="14288">
            <a:solidFill>
              <a:srgbClr val="A94B61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5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道具を並べていない</a:t>
            </a:r>
          </a:p>
        </p:txBody>
      </p:sp>
      <p:sp>
        <p:nvSpPr>
          <p:cNvPr id="56" name="VOCAB_HELP">
            <a:extLst>
              <a:ext uri="{FF2B5EF4-FFF2-40B4-BE49-F238E27FC236}">
                <a16:creationId xmlns:a16="http://schemas.microsoft.com/office/drawing/2014/main" id="{75C6EB94-2019-4761-86CC-8CC5167C4CA9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  <p:sp>
        <p:nvSpPr>
          <p:cNvPr id="2" name="SOURCE_TRACE_PANEL">
            <a:extLst>
              <a:ext uri="{FF2B5EF4-FFF2-40B4-BE49-F238E27FC236}">
                <a16:creationId xmlns:a16="http://schemas.microsoft.com/office/drawing/2014/main" id="{E516E06E-1DB1-5CAB-7905-17B7E56B9B47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254317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【第一段落】話し合いをすぐ始めると、最初の発言に考えが引かれやすい。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【第二段落】そこで、話し合いの前に各自で考えを書く。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【第三段落】着眼点を残せば、互いの違いを比べられる。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【例題2・ケース2】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第二段落の、文章の構成上の役割はどれか。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ア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　方法を示し、効果へつなぐ。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イ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　前段落を否定する。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ウ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　後段落の結論を証明する。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エ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　道具を列挙する。</a:t>
            </a:r>
            <a:endParaRPr sz="1400" b="1">
              <a:solidFill>
                <a:srgbClr val="2F747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A5A14"/>
          </a:solidFill>
          <a:ln w="0">
            <a:solidFill>
              <a:srgbClr val="8A5A14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例題2・ケース2　第二段落と前後の関係を確かめる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9ページ  17/50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6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7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58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2E381E0D-956F-4DA1-8598-9FB536A1F6D5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F34428F5-4B21-457A-BEED-67461B888F2B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50D4A302-7C9A-46E5-86B4-A8FFA1F6C675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F748FBE7-5786-41E9-88FE-42619E0415A0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4FED08FE-3BCE-42F5-A723-0E2E8B072311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60BFFF74-BFFA-47B6-9AED-BF3BCAC0D73C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DF758F6B-1C45-432D-968C-2AC29B6C7EBF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271280E8-E42B-42F6-AF81-CE657B626431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3E75A97A-2A50-4C09-9592-A93A9E93516B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7B35A35F-33C0-4C6E-8AE6-15B7DA631FFE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役割は対象だけでなく、前後とのつながりで決まります。</a:t>
            </a:r>
          </a:p>
        </p:txBody>
      </p:sp>
      <p:sp>
        <p:nvSpPr>
          <p:cNvPr id="41" name="FOCUS_何について？">
            <a:extLst>
              <a:ext uri="{FF2B5EF4-FFF2-40B4-BE49-F238E27FC236}">
                <a16:creationId xmlns:a16="http://schemas.microsoft.com/office/drawing/2014/main" id="{58263AA0-486F-47A5-9308-ED90DD8DD548}"/>
              </a:ext>
            </a:extLst>
          </p:cNvPr>
          <p:cNvSpPr>
            <a:spLocks noGrp="1"/>
          </p:cNvSpPr>
          <p:nvPr/>
        </p:nvSpPr>
        <p:spPr>
          <a:xfrm>
            <a:off x="523875" y="4429239"/>
            <a:ext cx="2238375" cy="1381125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 w="14288">
            <a:solidFill>
              <a:srgbClr val="3E6F9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第一段落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問題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最初の発言に引かれる</a:t>
            </a:r>
          </a:p>
        </p:txBody>
      </p:sp>
      <p:sp>
        <p:nvSpPr>
          <p:cNvPr id="42" name="FOCUS_どの言葉？">
            <a:extLst>
              <a:ext uri="{FF2B5EF4-FFF2-40B4-BE49-F238E27FC236}">
                <a16:creationId xmlns:a16="http://schemas.microsoft.com/office/drawing/2014/main" id="{7FD70820-BAC3-410B-90D2-892A7C838380}"/>
              </a:ext>
            </a:extLst>
          </p:cNvPr>
          <p:cNvSpPr>
            <a:spLocks noGrp="1"/>
          </p:cNvSpPr>
          <p:nvPr/>
        </p:nvSpPr>
        <p:spPr>
          <a:xfrm>
            <a:off x="2952750" y="4429239"/>
            <a:ext cx="2238375" cy="1381125"/>
          </a:xfrm>
          <a:prstGeom prst="roundRect">
            <a:avLst>
              <a:gd name="adj" fmla="val 5161"/>
            </a:avLst>
          </a:prstGeom>
          <a:solidFill>
            <a:srgbClr val="FFF5D6"/>
          </a:solidFill>
          <a:ln w="14288">
            <a:solidFill>
              <a:srgbClr val="A6781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第二段落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方法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先に各自で考える</a:t>
            </a:r>
          </a:p>
        </p:txBody>
      </p:sp>
      <p:sp>
        <p:nvSpPr>
          <p:cNvPr id="43" name="FOCUS_どの範囲？">
            <a:extLst>
              <a:ext uri="{FF2B5EF4-FFF2-40B4-BE49-F238E27FC236}">
                <a16:creationId xmlns:a16="http://schemas.microsoft.com/office/drawing/2014/main" id="{2756ECFB-526E-463E-8ED2-90E0CD3216B9}"/>
              </a:ext>
            </a:extLst>
          </p:cNvPr>
          <p:cNvSpPr>
            <a:spLocks noGrp="1"/>
          </p:cNvSpPr>
          <p:nvPr/>
        </p:nvSpPr>
        <p:spPr>
          <a:xfrm>
            <a:off x="5381625" y="4429239"/>
            <a:ext cx="2238375" cy="1381125"/>
          </a:xfrm>
          <a:prstGeom prst="roundRect">
            <a:avLst>
              <a:gd name="adj" fmla="val 5161"/>
            </a:avLst>
          </a:prstGeom>
          <a:solidFill>
            <a:srgbClr val="E6F5F1"/>
          </a:solidFill>
          <a:ln w="14288">
            <a:solidFill>
              <a:srgbClr val="2D7E7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第三段落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効果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互いの違いを比べる</a:t>
            </a:r>
          </a:p>
        </p:txBody>
      </p:sp>
      <p:sp>
        <p:nvSpPr>
          <p:cNvPr id="48" name="VOCAB_HELP">
            <a:extLst>
              <a:ext uri="{FF2B5EF4-FFF2-40B4-BE49-F238E27FC236}">
                <a16:creationId xmlns:a16="http://schemas.microsoft.com/office/drawing/2014/main" id="{1EA4B6EC-B41C-487B-B15A-6B73AA73A34B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  <p:sp>
        <p:nvSpPr>
          <p:cNvPr id="2" name="SOURCE_TRACE_PANEL">
            <a:extLst>
              <a:ext uri="{FF2B5EF4-FFF2-40B4-BE49-F238E27FC236}">
                <a16:creationId xmlns:a16="http://schemas.microsoft.com/office/drawing/2014/main" id="{10F03597-B7D1-5EA7-BCF7-34A7515EB824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254317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【第一段落】話し合いをすぐ始めると、最初の発言に考えが引かれやすい。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【第二段落】そこで、話し合いの前に各自で考えを書く。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【第三段落】着眼点を残せば、互いの違いを比べられる。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【例題2・ケース2】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第二段落の、文章の構成上の役割はどれか。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ア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　方法を示し、効果へつなぐ。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イ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　前段落を否定する。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ウ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　後段落の結論を証明する。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エ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　道具を列挙する。</a:t>
            </a:r>
            <a:endParaRPr sz="1400" b="1">
              <a:solidFill>
                <a:srgbClr val="2F747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A5A14"/>
          </a:solidFill>
          <a:ln w="0">
            <a:solidFill>
              <a:srgbClr val="8A5A14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例題2・ケース2　答えと決め手のつながりを確認する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9ページ  18/50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BF1"/>
          </a:solidFill>
          <a:ln w="11906">
            <a:solidFill>
              <a:srgbClr val="E7C36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8EBD7422-DE3A-488E-8EA5-8E56E8AE887C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D112064-A6E8-4166-BC77-3969190020D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AC73706-C468-40AF-8276-06F8419CFFDB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D01B732-695D-46C1-A2BA-FCCE26931C72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54996F9-91E6-4BE6-BF1D-A8DC08EEDD4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F0810A-8FA7-4908-9870-7F3A37B5525E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908B513A-79C3-4FFD-8906-6347F5E24A82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3C36A16-E061-413F-AB9F-A0B2F27A617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77AA83F1-649F-495B-BE9F-9F0680B6D30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8F56C545-B631-49C6-83FA-2A8A5C39AAB5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問いの最後の言葉の言葉から、主型・焦点・本文で見る場所を決めます。</a:t>
            </a:r>
          </a:p>
        </p:txBody>
      </p:sp>
      <p:sp>
        <p:nvSpPr>
          <p:cNvPr id="42" name="STEP0_どういうことか">
            <a:extLst>
              <a:ext uri="{FF2B5EF4-FFF2-40B4-BE49-F238E27FC236}">
                <a16:creationId xmlns:a16="http://schemas.microsoft.com/office/drawing/2014/main" id="{4BE7D15B-CAFE-401C-AB56-4FDF7486125F}"/>
              </a:ext>
            </a:extLst>
          </p:cNvPr>
          <p:cNvSpPr>
            <a:spLocks noGrp="1"/>
          </p:cNvSpPr>
          <p:nvPr/>
        </p:nvSpPr>
        <p:spPr>
          <a:xfrm>
            <a:off x="619125" y="4143375"/>
            <a:ext cx="2190750" cy="876300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主型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構成・役割型</a:t>
            </a:r>
          </a:p>
        </p:txBody>
      </p:sp>
      <p:sp>
        <p:nvSpPr>
          <p:cNvPr id="43" name="STEP0_なぜか">
            <a:extLst>
              <a:ext uri="{FF2B5EF4-FFF2-40B4-BE49-F238E27FC236}">
                <a16:creationId xmlns:a16="http://schemas.microsoft.com/office/drawing/2014/main" id="{23C56A34-262F-4F09-A147-F747B9E428D8}"/>
              </a:ext>
            </a:extLst>
          </p:cNvPr>
          <p:cNvSpPr>
            <a:spLocks noGrp="1"/>
          </p:cNvSpPr>
          <p:nvPr/>
        </p:nvSpPr>
        <p:spPr>
          <a:xfrm>
            <a:off x="3000375" y="4143375"/>
            <a:ext cx="2190750" cy="876300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第二段落が前後に対して果たす働き</a:t>
            </a:r>
          </a:p>
        </p:txBody>
      </p:sp>
      <p:sp>
        <p:nvSpPr>
          <p:cNvPr id="44" name="STEP0_どのような役割か">
            <a:extLst>
              <a:ext uri="{FF2B5EF4-FFF2-40B4-BE49-F238E27FC236}">
                <a16:creationId xmlns:a16="http://schemas.microsoft.com/office/drawing/2014/main" id="{60400D1A-58E2-40BB-ABB5-03CBF733C265}"/>
              </a:ext>
            </a:extLst>
          </p:cNvPr>
          <p:cNvSpPr>
            <a:spLocks noGrp="1"/>
          </p:cNvSpPr>
          <p:nvPr/>
        </p:nvSpPr>
        <p:spPr>
          <a:xfrm>
            <a:off x="5381625" y="4143375"/>
            <a:ext cx="2190750" cy="876300"/>
          </a:xfrm>
          <a:prstGeom prst="roundRect">
            <a:avLst>
              <a:gd name="adj" fmla="val 10256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根拠範囲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第二段落と、その前後の段落</a:t>
            </a:r>
          </a:p>
        </p:txBody>
      </p:sp>
      <p:sp>
        <p:nvSpPr>
          <p:cNvPr id="45" name="STEP0_最も適切なもの">
            <a:extLst>
              <a:ext uri="{FF2B5EF4-FFF2-40B4-BE49-F238E27FC236}">
                <a16:creationId xmlns:a16="http://schemas.microsoft.com/office/drawing/2014/main" id="{A9E69F94-9A92-4B8E-A2C2-582ABBB99DAD}"/>
              </a:ext>
            </a:extLst>
          </p:cNvPr>
          <p:cNvSpPr>
            <a:spLocks noGrp="1"/>
          </p:cNvSpPr>
          <p:nvPr/>
        </p:nvSpPr>
        <p:spPr>
          <a:xfrm>
            <a:off x="619125" y="5143500"/>
            <a:ext cx="7096125" cy="552450"/>
          </a:xfrm>
          <a:prstGeom prst="roundRect">
            <a:avLst>
              <a:gd name="adj" fmla="val 10256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ア　方法を示し、効果へつなぐ。</a:t>
            </a:r>
          </a:p>
        </p:txBody>
      </p:sp>
      <p:sp>
        <p:nvSpPr>
          <p:cNvPr id="46" name="STEP0_WARN">
            <a:extLst>
              <a:ext uri="{FF2B5EF4-FFF2-40B4-BE49-F238E27FC236}">
                <a16:creationId xmlns:a16="http://schemas.microsoft.com/office/drawing/2014/main" id="{3D7ED1BE-3E01-4E1B-89EC-ECCAC69AEC98}"/>
              </a:ext>
            </a:extLst>
          </p:cNvPr>
          <p:cNvSpPr>
            <a:spLocks noGrp="1"/>
          </p:cNvSpPr>
          <p:nvPr/>
        </p:nvSpPr>
        <p:spPr>
          <a:xfrm>
            <a:off x="1000125" y="5743575"/>
            <a:ext cx="6334125" cy="542925"/>
          </a:xfrm>
          <a:prstGeom prst="roundRect">
            <a:avLst>
              <a:gd name="adj" fmla="val 11429"/>
            </a:avLst>
          </a:prstGeom>
          <a:solidFill>
            <a:srgbClr val="FDEBD9"/>
          </a:solidFill>
          <a:ln w="14288">
            <a:solidFill>
              <a:srgbClr val="B15E2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138A72"/>
                </a:solidFill>
                <a:latin typeface="Yu Gothic"/>
                <a:ea typeface="Yu Gothic"/>
                <a:cs typeface="Yu Gothic"/>
              </a:rPr>
              <a:t>確かめ方：</a:t>
            </a: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アの『方法』と『効果へつなぐ』が、前後両方に合うか確かめる。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E61D822D-D117-4C76-B681-1F6DACB800D2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  <p:sp>
        <p:nvSpPr>
          <p:cNvPr id="2" name="SOURCE_TRACE_PANEL">
            <a:extLst>
              <a:ext uri="{FF2B5EF4-FFF2-40B4-BE49-F238E27FC236}">
                <a16:creationId xmlns:a16="http://schemas.microsoft.com/office/drawing/2014/main" id="{37C66077-CBC9-C201-76D7-19F15DC63EE5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254317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【第一段落】話し合いをすぐ始めると、最初の発言に考えが引かれやすい。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【第二段落】そこで、話し合いの前に各自で考えを書く。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【第三段落】着眼点を残せば、互いの違いを比べられる。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【例題2・ケース2】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第二段落の、文章の構成上の役割はどれか。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ア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　方法を示し、効果へつなぐ。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イ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　前段落を否定する。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ウ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　後段落の結論を証明する。</a:t>
            </a: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エ</a:t>
            </a: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　道具を列挙する。</a:t>
            </a:r>
            <a:endParaRPr sz="1400" b="1">
              <a:solidFill>
                <a:srgbClr val="2F747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D668F"/>
          </a:solidFill>
          <a:ln w="0">
            <a:solidFill>
              <a:srgbClr val="3D668F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問01　本文と問を見て、自分で３つの解答欄を決める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8ページ  19/50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3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4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5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3544A115-554F-4909-89F9-A421CBA31307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A5DDAB02-BB3E-498E-8BC1-17E37DE46F71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73F6ADDC-84E8-435D-9EB0-36BA230891B3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B833810-9E01-49F0-90F1-A4F59FDC014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C408BACA-4E7B-41C5-82C5-6599F8AB945C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E9C73CD-E24B-4532-B18F-E66C69FE945A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5EBABB2C-65A9-408D-800C-6B7EE37AC44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E30ACE43-636C-464E-A736-E311D54354B2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DCF46609-C50E-493D-ABFC-0926BC7D1483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34BFD9F2-C3AA-43DB-83CA-75713DBEE5BA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問を先に見て、何を答え、本文のどこを探すかを決めます。</a:t>
            </a:r>
          </a:p>
        </p:txBody>
      </p:sp>
      <p:sp>
        <p:nvSpPr>
          <p:cNvPr id="50" name="SOURCE_TRACE_PANEL">
            <a:extLst>
              <a:ext uri="{FF2B5EF4-FFF2-40B4-BE49-F238E27FC236}">
                <a16:creationId xmlns:a16="http://schemas.microsoft.com/office/drawing/2014/main" id="{7B818317-C941-4542-832C-476F031D7519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404812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読みやすい案内は、文字が少ない案内と同じではない。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必要な行動に合う情報を選び、目立たせる必要がある。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例えば、出口を探す人には店名の一覧より矢印が先に見える方がよい。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情報の量ではなく、目的との関係が分かりやすさを決める。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【問01】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『読みやすい案内』とはどういうものか。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〔根拠範囲〕</a:t>
            </a:r>
          </a:p>
        </p:txBody>
      </p:sp>
      <p:sp>
        <p:nvSpPr>
          <p:cNvPr id="55" name="VOCAB_HELP">
            <a:extLst>
              <a:ext uri="{FF2B5EF4-FFF2-40B4-BE49-F238E27FC236}">
                <a16:creationId xmlns:a16="http://schemas.microsoft.com/office/drawing/2014/main" id="{201337FE-BD60-4D56-AEC0-77060A40EDDE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9D4836"/>
          </a:solidFill>
          <a:ln w="0">
            <a:solidFill>
              <a:srgbClr val="9D4836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問01　答えと決め手のつながりを確認する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8ページ  20/50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8EBD7422-DE3A-488E-8EA5-8E56E8AE887C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D112064-A6E8-4166-BC77-3969190020D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AC73706-C468-40AF-8276-06F8419CFFDB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D01B732-695D-46C1-A2BA-FCCE26931C72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54996F9-91E6-4BE6-BF1D-A8DC08EEDD4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F0810A-8FA7-4908-9870-7F3A37B5525E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908B513A-79C3-4FFD-8906-6347F5E24A82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3C36A16-E061-413F-AB9F-A0B2F27A617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77AA83F1-649F-495B-BE9F-9F0680B6D30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8F56C545-B631-49C6-83FA-2A8A5C39AAB5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問いの最後の言葉の言葉から、主型・焦点・本文で見る場所を決めます。</a:t>
            </a:r>
          </a:p>
        </p:txBody>
      </p:sp>
      <p:sp>
        <p:nvSpPr>
          <p:cNvPr id="42" name="STEP0_どういうことか">
            <a:extLst>
              <a:ext uri="{FF2B5EF4-FFF2-40B4-BE49-F238E27FC236}">
                <a16:creationId xmlns:a16="http://schemas.microsoft.com/office/drawing/2014/main" id="{4BE7D15B-CAFE-401C-AB56-4FDF7486125F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主型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言い換え型</a:t>
            </a:r>
          </a:p>
        </p:txBody>
      </p:sp>
      <p:sp>
        <p:nvSpPr>
          <p:cNvPr id="43" name="STEP0_なぜか">
            <a:extLst>
              <a:ext uri="{FF2B5EF4-FFF2-40B4-BE49-F238E27FC236}">
                <a16:creationId xmlns:a16="http://schemas.microsoft.com/office/drawing/2014/main" id="{23C56A34-262F-4F09-A147-F747B9E428D8}"/>
              </a:ext>
            </a:extLst>
          </p:cNvPr>
          <p:cNvSpPr>
            <a:spLocks noGrp="1"/>
          </p:cNvSpPr>
          <p:nvPr/>
        </p:nvSpPr>
        <p:spPr>
          <a:xfrm>
            <a:off x="300037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『読みやすい案内』の定義</a:t>
            </a:r>
          </a:p>
        </p:txBody>
      </p:sp>
      <p:sp>
        <p:nvSpPr>
          <p:cNvPr id="44" name="STEP0_どのような役割か">
            <a:extLst>
              <a:ext uri="{FF2B5EF4-FFF2-40B4-BE49-F238E27FC236}">
                <a16:creationId xmlns:a16="http://schemas.microsoft.com/office/drawing/2014/main" id="{60400D1A-58E2-40BB-ABB5-03CBF733C265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根拠範囲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全文（特に冒頭二文と結末）</a:t>
            </a:r>
          </a:p>
        </p:txBody>
      </p:sp>
      <p:sp>
        <p:nvSpPr>
          <p:cNvPr id="45" name="STEP0_最も適切なもの">
            <a:extLst>
              <a:ext uri="{FF2B5EF4-FFF2-40B4-BE49-F238E27FC236}">
                <a16:creationId xmlns:a16="http://schemas.microsoft.com/office/drawing/2014/main" id="{A9E69F94-9A92-4B8E-A2C2-582ABBB99DAD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7096125" cy="571500"/>
          </a:xfrm>
          <a:prstGeom prst="roundRect">
            <a:avLst>
              <a:gd name="adj" fmla="val 10256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言い換え型／『読みやすい案内』の定義／全文（特に冒頭二文と結末）</a:t>
            </a:r>
          </a:p>
        </p:txBody>
      </p:sp>
      <p:sp>
        <p:nvSpPr>
          <p:cNvPr id="46" name="STEP0_WARN">
            <a:extLst>
              <a:ext uri="{FF2B5EF4-FFF2-40B4-BE49-F238E27FC236}">
                <a16:creationId xmlns:a16="http://schemas.microsoft.com/office/drawing/2014/main" id="{3D7ED1BE-3E01-4E1B-89EC-ECCAC69AEC98}"/>
              </a:ext>
            </a:extLst>
          </p:cNvPr>
          <p:cNvSpPr>
            <a:spLocks noGrp="1"/>
          </p:cNvSpPr>
          <p:nvPr/>
        </p:nvSpPr>
        <p:spPr>
          <a:xfrm>
            <a:off x="1000125" y="5448300"/>
            <a:ext cx="6334125" cy="666750"/>
          </a:xfrm>
          <a:prstGeom prst="roundRect">
            <a:avLst>
              <a:gd name="adj" fmla="val 11429"/>
            </a:avLst>
          </a:prstGeom>
          <a:solidFill>
            <a:srgbClr val="FDEBD9"/>
          </a:solidFill>
          <a:ln w="14288">
            <a:solidFill>
              <a:srgbClr val="B15E2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138A72"/>
                </a:solidFill>
                <a:latin typeface="Yu Gothic"/>
                <a:ea typeface="Yu Gothic"/>
                <a:cs typeface="Yu Gothic"/>
              </a:rPr>
              <a:t>確かめ方：</a:t>
            </a: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答えが『情報の少なさ』ではなく『目的に合う情報の選び方』を表しているか確かめる。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E61D822D-D117-4C76-B681-1F6DACB800D2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  <p:sp>
        <p:nvSpPr>
          <p:cNvPr id="2" name="SOURCE_TRACE_PANEL">
            <a:extLst>
              <a:ext uri="{FF2B5EF4-FFF2-40B4-BE49-F238E27FC236}">
                <a16:creationId xmlns:a16="http://schemas.microsoft.com/office/drawing/2014/main" id="{AAB251DC-FC93-56E5-3B15-60114FCCC15F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210502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読みやすい案内は、文字が少ない案内と同じではない。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必要な行動に合う情報を選び、目立たせる必要がある。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例えば、出口を探す人には店名の一覧より矢印が先に見える方がよい。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情報の量ではなく、目的との関係が分かりやすさを決める。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【問01】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『読みやすい案内』とはどういうものか。</a:t>
            </a:r>
            <a:endParaRPr sz="1400" b="1">
              <a:solidFill>
                <a:srgbClr val="2F747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C4E8A"/>
          </a:solidFill>
          <a:ln w="0">
            <a:solidFill>
              <a:srgbClr val="6C4E8A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問01　見る場所・理由・誤り・確かめ方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AF7FC"/>
          </a:solidFill>
          <a:ln w="11906">
            <a:solidFill>
              <a:srgbClr val="C9B4DF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8ページ  21/50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AF7FC"/>
          </a:solidFill>
          <a:ln w="11906">
            <a:solidFill>
              <a:srgbClr val="C9B4D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0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1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2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2E381E0D-956F-4DA1-8598-9FB536A1F6D5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F34428F5-4B21-457A-BEED-67461B888F2B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50D4A302-7C9A-46E5-86B4-A8FFA1F6C675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F748FBE7-5786-41E9-88FE-42619E0415A0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4FED08FE-3BCE-42F5-A723-0E2E8B072311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60BFFF74-BFFA-47B6-9AED-BF3BCAC0D73C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DF758F6B-1C45-432D-968C-2AC29B6C7EBF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271280E8-E42B-42F6-AF81-CE657B626431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3E75A97A-2A50-4C09-9592-A93A9E93516B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7B35A35F-33C0-4C6E-8AE6-15B7DA631FFE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答えを写したあとに、『なぜその３つの解答欄になるか』まで言えるようにします。</a:t>
            </a:r>
          </a:p>
        </p:txBody>
      </p:sp>
      <p:sp>
        <p:nvSpPr>
          <p:cNvPr id="41" name="FOCUS_何について？">
            <a:extLst>
              <a:ext uri="{FF2B5EF4-FFF2-40B4-BE49-F238E27FC236}">
                <a16:creationId xmlns:a16="http://schemas.microsoft.com/office/drawing/2014/main" id="{58263AA0-486F-47A5-9308-ED90DD8DD548}"/>
              </a:ext>
            </a:extLst>
          </p:cNvPr>
          <p:cNvSpPr>
            <a:spLocks noGrp="1"/>
          </p:cNvSpPr>
          <p:nvPr/>
        </p:nvSpPr>
        <p:spPr>
          <a:xfrm>
            <a:off x="523875" y="4429125"/>
            <a:ext cx="1809750" cy="1666875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 w="14288">
            <a:solidFill>
              <a:srgbClr val="3E6F9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6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見る場所</a:t>
            </a:r>
          </a:p>
          <a:p>
            <a:pPr algn="l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全文（特に冒頭二文と結末）</a:t>
            </a:r>
          </a:p>
        </p:txBody>
      </p:sp>
      <p:sp>
        <p:nvSpPr>
          <p:cNvPr id="42" name="FOCUS_どの言葉？">
            <a:extLst>
              <a:ext uri="{FF2B5EF4-FFF2-40B4-BE49-F238E27FC236}">
                <a16:creationId xmlns:a16="http://schemas.microsoft.com/office/drawing/2014/main" id="{7FD70820-BAC3-410B-90D2-892A7C838380}"/>
              </a:ext>
            </a:extLst>
          </p:cNvPr>
          <p:cNvSpPr>
            <a:spLocks noGrp="1"/>
          </p:cNvSpPr>
          <p:nvPr/>
        </p:nvSpPr>
        <p:spPr>
          <a:xfrm>
            <a:off x="2476500" y="4429125"/>
            <a:ext cx="2190750" cy="1666875"/>
          </a:xfrm>
          <a:prstGeom prst="roundRect">
            <a:avLst>
              <a:gd name="adj" fmla="val 5161"/>
            </a:avLst>
          </a:prstGeom>
          <a:solidFill>
            <a:srgbClr val="FFF5D6"/>
          </a:solidFill>
          <a:ln w="14288">
            <a:solidFill>
              <a:srgbClr val="A6781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6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理由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冒頭で『文字が少ない案内と同じではない』と否定し、次の文と結末で、目的に合う情報が必要だと説明している。</a:t>
            </a:r>
          </a:p>
        </p:txBody>
      </p:sp>
      <p:sp>
        <p:nvSpPr>
          <p:cNvPr id="43" name="FOCUS_どの範囲？">
            <a:extLst>
              <a:ext uri="{FF2B5EF4-FFF2-40B4-BE49-F238E27FC236}">
                <a16:creationId xmlns:a16="http://schemas.microsoft.com/office/drawing/2014/main" id="{2756ECFB-526E-463E-8ED2-90E0CD3216B9}"/>
              </a:ext>
            </a:extLst>
          </p:cNvPr>
          <p:cNvSpPr>
            <a:spLocks noGrp="1"/>
          </p:cNvSpPr>
          <p:nvPr/>
        </p:nvSpPr>
        <p:spPr>
          <a:xfrm>
            <a:off x="4810125" y="4429125"/>
            <a:ext cx="2905125" cy="1666875"/>
          </a:xfrm>
          <a:prstGeom prst="roundRect">
            <a:avLst>
              <a:gd name="adj" fmla="val 5161"/>
            </a:avLst>
          </a:prstGeom>
          <a:solidFill>
            <a:srgbClr val="E6F5F1"/>
          </a:solidFill>
          <a:ln w="14288">
            <a:solidFill>
              <a:srgbClr val="2D7E7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6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注意と確認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駅の矢印の例だけを答えると、『読みやすい案内』全体の定義にならない。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答えが『情報の少なさ』ではなく『目的に合う情報の選び方』を表しているか確かめる。</a:t>
            </a:r>
          </a:p>
        </p:txBody>
      </p:sp>
      <p:sp>
        <p:nvSpPr>
          <p:cNvPr id="48" name="VOCAB_HELP">
            <a:extLst>
              <a:ext uri="{FF2B5EF4-FFF2-40B4-BE49-F238E27FC236}">
                <a16:creationId xmlns:a16="http://schemas.microsoft.com/office/drawing/2014/main" id="{A802EA55-A1A3-4A43-BF83-88AE299361D6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  <p:sp>
        <p:nvSpPr>
          <p:cNvPr id="52" name="DEEP_ANSWER_PANEL">
            <a:extLst>
              <a:ext uri="{FF2B5EF4-FFF2-40B4-BE49-F238E27FC236}">
                <a16:creationId xmlns:a16="http://schemas.microsoft.com/office/drawing/2014/main" id="{C12423FC-E3A6-41E9-AF07-7B96802C875B}"/>
              </a:ext>
            </a:extLst>
          </p:cNvPr>
          <p:cNvSpPr>
            <a:spLocks noGrp="1"/>
          </p:cNvSpPr>
          <p:nvPr/>
        </p:nvSpPr>
        <p:spPr>
          <a:xfrm>
            <a:off x="381001" y="3667125"/>
            <a:ext cx="7734300" cy="523875"/>
          </a:xfrm>
          <a:prstGeom prst="roundRect">
            <a:avLst>
              <a:gd name="adj" fmla="val 14545"/>
            </a:avLst>
          </a:prstGeom>
          <a:solidFill>
            <a:srgbClr val="FFF1ED"/>
          </a:solidFill>
          <a:ln w="14288">
            <a:solidFill>
              <a:srgbClr val="D49A89"/>
            </a:solidFill>
            <a:prstDash val="solid"/>
          </a:ln>
        </p:spPr>
        <p:txBody>
          <a:bodyPr anchor="ctr"/>
          <a:lstStyle/>
          <a:p>
            <a:pPr algn="l">
              <a:buNone/>
            </a:pPr>
            <a:r>
              <a:rPr sz="1700" b="1">
                <a:solidFill>
                  <a:srgbClr val="C00000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言い換え型／『読みやすい案内』の定義／全文（特に冒頭二文と結末）</a:t>
            </a:r>
          </a:p>
        </p:txBody>
      </p:sp>
      <p:sp>
        <p:nvSpPr>
          <p:cNvPr id="2" name="SOURCE_TRACE_PANEL">
            <a:extLst>
              <a:ext uri="{FF2B5EF4-FFF2-40B4-BE49-F238E27FC236}">
                <a16:creationId xmlns:a16="http://schemas.microsoft.com/office/drawing/2014/main" id="{6D549AA4-4F6B-4944-6B23-B0D24E8B7CBD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210502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読みやすい案内は、文字が少ない案内と同じではない。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必要な行動に合う情報を選び、目立たせる必要がある。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例えば、出口を探す人には店名の一覧より矢印が先に見える方がよい。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情報の量ではなく、目的との関係が分かりやすさを決める。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【問01】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『読みやすい案内』とはどういうものか。</a:t>
            </a:r>
            <a:endParaRPr sz="1400" b="1">
              <a:solidFill>
                <a:srgbClr val="2F747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D668F"/>
          </a:solidFill>
          <a:ln w="0">
            <a:solidFill>
              <a:srgbClr val="3D668F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問02　本文と問を見て、自分で３つの解答欄を決める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8ページ  22/50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3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4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5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3544A115-554F-4909-89F9-A421CBA31307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A5DDAB02-BB3E-498E-8BC1-17E37DE46F71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73F6ADDC-84E8-435D-9EB0-36BA230891B3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B833810-9E01-49F0-90F1-A4F59FDC014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C408BACA-4E7B-41C5-82C5-6599F8AB945C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E9C73CD-E24B-4532-B18F-E66C69FE945A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5EBABB2C-65A9-408D-800C-6B7EE37AC44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E30ACE43-636C-464E-A736-E311D54354B2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DCF46609-C50E-493D-ABFC-0926BC7D1483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34BFD9F2-C3AA-43DB-83CA-75713DBEE5BA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問を先に見て、何を答え、本文のどこを探すかを決めます。</a:t>
            </a:r>
          </a:p>
        </p:txBody>
      </p:sp>
      <p:sp>
        <p:nvSpPr>
          <p:cNvPr id="50" name="SOURCE_TRACE_PANEL">
            <a:extLst>
              <a:ext uri="{FF2B5EF4-FFF2-40B4-BE49-F238E27FC236}">
                <a16:creationId xmlns:a16="http://schemas.microsoft.com/office/drawing/2014/main" id="{7B818317-C941-4542-832C-476F031D7519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404812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読みやすい案内は、文字が少ない案内と同じではない。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必要な行動に合う情報を選び、目立たせる必要がある。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例えば、出口を探す人には店名の一覧より矢印が先に見える方がよい。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情報の量ではなく、目的との関係が分かりやすさを決める。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【問02】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必要な情報を目立たせるのはなぜか。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〔根拠範囲〕</a:t>
            </a:r>
          </a:p>
        </p:txBody>
      </p:sp>
      <p:sp>
        <p:nvSpPr>
          <p:cNvPr id="55" name="VOCAB_HELP">
            <a:extLst>
              <a:ext uri="{FF2B5EF4-FFF2-40B4-BE49-F238E27FC236}">
                <a16:creationId xmlns:a16="http://schemas.microsoft.com/office/drawing/2014/main" id="{219C0857-27C2-4817-AFD4-E2050C6CF319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9D4836"/>
          </a:solidFill>
          <a:ln w="0">
            <a:solidFill>
              <a:srgbClr val="9D4836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問02　答えと決め手のつながりを確認する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8ページ  23/50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8EBD7422-DE3A-488E-8EA5-8E56E8AE887C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D112064-A6E8-4166-BC77-3969190020D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AC73706-C468-40AF-8276-06F8419CFFDB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D01B732-695D-46C1-A2BA-FCCE26931C72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54996F9-91E6-4BE6-BF1D-A8DC08EEDD4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F0810A-8FA7-4908-9870-7F3A37B5525E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908B513A-79C3-4FFD-8906-6347F5E24A82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3C36A16-E061-413F-AB9F-A0B2F27A617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77AA83F1-649F-495B-BE9F-9F0680B6D30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8F56C545-B631-49C6-83FA-2A8A5C39AAB5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問いの最後の言葉の言葉から、主型・焦点・本文で見る場所を決めます。</a:t>
            </a:r>
          </a:p>
        </p:txBody>
      </p:sp>
      <p:sp>
        <p:nvSpPr>
          <p:cNvPr id="41" name="STEP0_MAIN">
            <a:extLst>
              <a:ext uri="{FF2B5EF4-FFF2-40B4-BE49-F238E27FC236}">
                <a16:creationId xmlns:a16="http://schemas.microsoft.com/office/drawing/2014/main" id="{EA708313-3931-4708-8CA8-F19E45327735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7096125" cy="1952625"/>
          </a:xfrm>
          <a:prstGeom prst="roundRect">
            <a:avLst>
              <a:gd name="adj" fmla="val 8421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読みやすい案内は、文字が少ない案内と同じではない。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必要な行動に合う情報を選び、目立たせる必要がある。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例えば、出口を探す人には店名の一覧より矢印が先に見える方がよい。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情報の量ではなく、目的との関係が分かりやすさを決める。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【問02】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必要な情報を目立たせるのはなぜか。</a:t>
            </a:r>
          </a:p>
        </p:txBody>
      </p:sp>
      <p:sp>
        <p:nvSpPr>
          <p:cNvPr id="42" name="STEP0_どういうことか">
            <a:extLst>
              <a:ext uri="{FF2B5EF4-FFF2-40B4-BE49-F238E27FC236}">
                <a16:creationId xmlns:a16="http://schemas.microsoft.com/office/drawing/2014/main" id="{4BE7D15B-CAFE-401C-AB56-4FDF7486125F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主型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理由型</a:t>
            </a:r>
          </a:p>
        </p:txBody>
      </p:sp>
      <p:sp>
        <p:nvSpPr>
          <p:cNvPr id="43" name="STEP0_なぜか">
            <a:extLst>
              <a:ext uri="{FF2B5EF4-FFF2-40B4-BE49-F238E27FC236}">
                <a16:creationId xmlns:a16="http://schemas.microsoft.com/office/drawing/2014/main" id="{23C56A34-262F-4F09-A147-F747B9E428D8}"/>
              </a:ext>
            </a:extLst>
          </p:cNvPr>
          <p:cNvSpPr>
            <a:spLocks noGrp="1"/>
          </p:cNvSpPr>
          <p:nvPr/>
        </p:nvSpPr>
        <p:spPr>
          <a:xfrm>
            <a:off x="300037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情報を目立たせる理由・目的</a:t>
            </a:r>
          </a:p>
        </p:txBody>
      </p:sp>
      <p:sp>
        <p:nvSpPr>
          <p:cNvPr id="44" name="STEP0_どのような役割か">
            <a:extLst>
              <a:ext uri="{FF2B5EF4-FFF2-40B4-BE49-F238E27FC236}">
                <a16:creationId xmlns:a16="http://schemas.microsoft.com/office/drawing/2014/main" id="{60400D1A-58E2-40BB-ABB5-03CBF733C265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根拠範囲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全文（特に冒頭と結末）</a:t>
            </a:r>
          </a:p>
        </p:txBody>
      </p:sp>
      <p:sp>
        <p:nvSpPr>
          <p:cNvPr id="45" name="STEP0_最も適切なもの">
            <a:extLst>
              <a:ext uri="{FF2B5EF4-FFF2-40B4-BE49-F238E27FC236}">
                <a16:creationId xmlns:a16="http://schemas.microsoft.com/office/drawing/2014/main" id="{A9E69F94-9A92-4B8E-A2C2-582ABBB99DAD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7096125" cy="571500"/>
          </a:xfrm>
          <a:prstGeom prst="roundRect">
            <a:avLst>
              <a:gd name="adj" fmla="val 10256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理由型／情報を目立たせる理由・目的／全文（特に冒頭と結末）</a:t>
            </a:r>
          </a:p>
        </p:txBody>
      </p:sp>
      <p:sp>
        <p:nvSpPr>
          <p:cNvPr id="46" name="STEP0_WARN">
            <a:extLst>
              <a:ext uri="{FF2B5EF4-FFF2-40B4-BE49-F238E27FC236}">
                <a16:creationId xmlns:a16="http://schemas.microsoft.com/office/drawing/2014/main" id="{3D7ED1BE-3E01-4E1B-89EC-ECCAC69AEC98}"/>
              </a:ext>
            </a:extLst>
          </p:cNvPr>
          <p:cNvSpPr>
            <a:spLocks noGrp="1"/>
          </p:cNvSpPr>
          <p:nvPr/>
        </p:nvSpPr>
        <p:spPr>
          <a:xfrm>
            <a:off x="1000125" y="5448300"/>
            <a:ext cx="6334125" cy="666750"/>
          </a:xfrm>
          <a:prstGeom prst="roundRect">
            <a:avLst>
              <a:gd name="adj" fmla="val 11429"/>
            </a:avLst>
          </a:prstGeom>
          <a:solidFill>
            <a:srgbClr val="FDEBD9"/>
          </a:solidFill>
          <a:ln w="14288">
            <a:solidFill>
              <a:srgbClr val="B15E2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138A72"/>
                </a:solidFill>
                <a:latin typeface="Yu Gothic"/>
                <a:ea typeface="Yu Gothic"/>
                <a:cs typeface="Yu Gothic"/>
              </a:rPr>
              <a:t>確かめ方：</a:t>
            </a: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答えに、行動と分かりやすさを結ぶ目的が入っているか確かめる。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E61D822D-D117-4C76-B681-1F6DACB800D2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C4E8A"/>
          </a:solidFill>
          <a:ln w="0">
            <a:solidFill>
              <a:srgbClr val="6C4E8A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問02　見る場所・理由・誤り・確かめ方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AF7FC"/>
          </a:solidFill>
          <a:ln w="11906">
            <a:solidFill>
              <a:srgbClr val="C9B4DF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8ページ  24/50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AF7FC"/>
          </a:solidFill>
          <a:ln w="11906">
            <a:solidFill>
              <a:srgbClr val="C9B4D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0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1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2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2E381E0D-956F-4DA1-8598-9FB536A1F6D5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F34428F5-4B21-457A-BEED-67461B888F2B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50D4A302-7C9A-46E5-86B4-A8FFA1F6C675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F748FBE7-5786-41E9-88FE-42619E0415A0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4FED08FE-3BCE-42F5-A723-0E2E8B072311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60BFFF74-BFFA-47B6-9AED-BF3BCAC0D73C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DF758F6B-1C45-432D-968C-2AC29B6C7EBF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271280E8-E42B-42F6-AF81-CE657B626431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3E75A97A-2A50-4C09-9592-A93A9E93516B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7B35A35F-33C0-4C6E-8AE6-15B7DA631FFE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答えを写したあとに、『なぜその３つの解答欄になるか』まで言えるようにします。</a:t>
            </a:r>
          </a:p>
        </p:txBody>
      </p:sp>
      <p:sp>
        <p:nvSpPr>
          <p:cNvPr id="41" name="FOCUS_何について？">
            <a:extLst>
              <a:ext uri="{FF2B5EF4-FFF2-40B4-BE49-F238E27FC236}">
                <a16:creationId xmlns:a16="http://schemas.microsoft.com/office/drawing/2014/main" id="{58263AA0-486F-47A5-9308-ED90DD8DD548}"/>
              </a:ext>
            </a:extLst>
          </p:cNvPr>
          <p:cNvSpPr>
            <a:spLocks noGrp="1"/>
          </p:cNvSpPr>
          <p:nvPr/>
        </p:nvSpPr>
        <p:spPr>
          <a:xfrm>
            <a:off x="523875" y="4429125"/>
            <a:ext cx="1809750" cy="1666875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 w="14288">
            <a:solidFill>
              <a:srgbClr val="3E6F9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6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見る場所</a:t>
            </a:r>
          </a:p>
          <a:p>
            <a:pPr algn="l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全文（特に冒頭と結末）</a:t>
            </a:r>
          </a:p>
        </p:txBody>
      </p:sp>
      <p:sp>
        <p:nvSpPr>
          <p:cNvPr id="42" name="FOCUS_どの言葉？">
            <a:extLst>
              <a:ext uri="{FF2B5EF4-FFF2-40B4-BE49-F238E27FC236}">
                <a16:creationId xmlns:a16="http://schemas.microsoft.com/office/drawing/2014/main" id="{7FD70820-BAC3-410B-90D2-892A7C838380}"/>
              </a:ext>
            </a:extLst>
          </p:cNvPr>
          <p:cNvSpPr>
            <a:spLocks noGrp="1"/>
          </p:cNvSpPr>
          <p:nvPr/>
        </p:nvSpPr>
        <p:spPr>
          <a:xfrm>
            <a:off x="2476500" y="4429125"/>
            <a:ext cx="2190750" cy="1666875"/>
          </a:xfrm>
          <a:prstGeom prst="roundRect">
            <a:avLst>
              <a:gd name="adj" fmla="val 5161"/>
            </a:avLst>
          </a:prstGeom>
          <a:solidFill>
            <a:srgbClr val="FFF5D6"/>
          </a:solidFill>
          <a:ln w="14288">
            <a:solidFill>
              <a:srgbClr val="A6781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6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理由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情報を目立たせる行動の後に、必要な行動がしやすくなるという目的が続いている。</a:t>
            </a:r>
          </a:p>
        </p:txBody>
      </p:sp>
      <p:sp>
        <p:nvSpPr>
          <p:cNvPr id="43" name="FOCUS_どの範囲？">
            <a:extLst>
              <a:ext uri="{FF2B5EF4-FFF2-40B4-BE49-F238E27FC236}">
                <a16:creationId xmlns:a16="http://schemas.microsoft.com/office/drawing/2014/main" id="{2756ECFB-526E-463E-8ED2-90E0CD3216B9}"/>
              </a:ext>
            </a:extLst>
          </p:cNvPr>
          <p:cNvSpPr>
            <a:spLocks noGrp="1"/>
          </p:cNvSpPr>
          <p:nvPr/>
        </p:nvSpPr>
        <p:spPr>
          <a:xfrm>
            <a:off x="4810125" y="4429125"/>
            <a:ext cx="2905125" cy="1666875"/>
          </a:xfrm>
          <a:prstGeom prst="roundRect">
            <a:avLst>
              <a:gd name="adj" fmla="val 5161"/>
            </a:avLst>
          </a:prstGeom>
          <a:solidFill>
            <a:srgbClr val="E6F5F1"/>
          </a:solidFill>
          <a:ln w="14288">
            <a:solidFill>
              <a:srgbClr val="2D7E7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6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注意と確認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『目立つから』では言い換えただけで、なぜ目立たせるのかを説明していない。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答えに、行動と分かりやすさを結ぶ目的が入っているか確かめる。</a:t>
            </a:r>
          </a:p>
        </p:txBody>
      </p:sp>
      <p:sp>
        <p:nvSpPr>
          <p:cNvPr id="44" name="FOCUS_RULE">
            <a:extLst>
              <a:ext uri="{FF2B5EF4-FFF2-40B4-BE49-F238E27FC236}">
                <a16:creationId xmlns:a16="http://schemas.microsoft.com/office/drawing/2014/main" id="{F694E59E-B6B2-4D1C-93AE-6BED77834EC7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7191375" cy="2000250"/>
          </a:xfrm>
          <a:prstGeom prst="roundRect">
            <a:avLst>
              <a:gd name="adj" fmla="val 8421"/>
            </a:avLst>
          </a:prstGeom>
          <a:solidFill>
            <a:srgbClr val="EAF5F5"/>
          </a:solidFill>
          <a:ln w="14288">
            <a:solidFill>
              <a:srgbClr val="73B6BC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読みやすい案内は、文字が少ない案内と同じではない。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必要な行動に合う情報を選び、目立たせる必要がある。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例えば、出口を探す人には店名の一覧より矢印が先に見える方がよい。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情報の量ではなく、目的との関係が分かりやすさを決める。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【問02】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必要な情報を目立たせるのはなぜか。</a:t>
            </a:r>
          </a:p>
        </p:txBody>
      </p:sp>
      <p:sp>
        <p:nvSpPr>
          <p:cNvPr id="48" name="VOCAB_HELP">
            <a:extLst>
              <a:ext uri="{FF2B5EF4-FFF2-40B4-BE49-F238E27FC236}">
                <a16:creationId xmlns:a16="http://schemas.microsoft.com/office/drawing/2014/main" id="{A802EA55-A1A3-4A43-BF83-88AE299361D6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  <p:sp>
        <p:nvSpPr>
          <p:cNvPr id="52" name="DEEP_ANSWER_PANEL">
            <a:extLst>
              <a:ext uri="{FF2B5EF4-FFF2-40B4-BE49-F238E27FC236}">
                <a16:creationId xmlns:a16="http://schemas.microsoft.com/office/drawing/2014/main" id="{FCD90F4F-A19A-4D13-AE63-772F21FC2205}"/>
              </a:ext>
            </a:extLst>
          </p:cNvPr>
          <p:cNvSpPr>
            <a:spLocks noGrp="1"/>
          </p:cNvSpPr>
          <p:nvPr/>
        </p:nvSpPr>
        <p:spPr>
          <a:xfrm>
            <a:off x="523875" y="3667125"/>
            <a:ext cx="7191375" cy="523875"/>
          </a:xfrm>
          <a:prstGeom prst="roundRect">
            <a:avLst>
              <a:gd name="adj" fmla="val 14545"/>
            </a:avLst>
          </a:prstGeom>
          <a:solidFill>
            <a:srgbClr val="FFF1ED"/>
          </a:solidFill>
          <a:ln w="14288">
            <a:solidFill>
              <a:srgbClr val="D49A89"/>
            </a:solidFill>
            <a:prstDash val="solid"/>
          </a:ln>
        </p:spPr>
        <p:txBody>
          <a:bodyPr anchor="ctr"/>
          <a:lstStyle/>
          <a:p>
            <a:pPr algn="l">
              <a:buNone/>
            </a:pPr>
            <a:r>
              <a:rPr sz="1700" b="1">
                <a:solidFill>
                  <a:srgbClr val="C00000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理由型／情報を目立たせる理由・目的／全文（特に冒頭と結末）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D668F"/>
          </a:solidFill>
          <a:ln w="0">
            <a:solidFill>
              <a:srgbClr val="3D668F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問03　本文と問を見て、自分で３つの解答欄を決める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8ページ  25/50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3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4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5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3544A115-554F-4909-89F9-A421CBA31307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A5DDAB02-BB3E-498E-8BC1-17E37DE46F71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73F6ADDC-84E8-435D-9EB0-36BA230891B3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B833810-9E01-49F0-90F1-A4F59FDC014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C408BACA-4E7B-41C5-82C5-6599F8AB945C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E9C73CD-E24B-4532-B18F-E66C69FE945A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5EBABB2C-65A9-408D-800C-6B7EE37AC44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E30ACE43-636C-464E-A736-E311D54354B2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DCF46609-C50E-493D-ABFC-0926BC7D1483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34BFD9F2-C3AA-43DB-83CA-75713DBEE5BA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問を先に見て、何を答え、本文のどこを探すかを決めます。</a:t>
            </a:r>
          </a:p>
        </p:txBody>
      </p:sp>
      <p:sp>
        <p:nvSpPr>
          <p:cNvPr id="50" name="SOURCE_TRACE_PANEL">
            <a:extLst>
              <a:ext uri="{FF2B5EF4-FFF2-40B4-BE49-F238E27FC236}">
                <a16:creationId xmlns:a16="http://schemas.microsoft.com/office/drawing/2014/main" id="{7B818317-C941-4542-832C-476F031D7519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404812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読みやすい案内は、文字が少ない案内と同じではない。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必要な行動に合う情報を選び、目立たせる必要がある。</a:t>
            </a:r>
          </a:p>
          <a:p>
            <a:pPr algn="l">
              <a:buNone/>
            </a:pPr>
            <a:r>
              <a:rPr sz="1400" b="1" u="sng">
                <a:solidFill>
                  <a:srgbClr val="138A72"/>
                </a:solidFill>
                <a:latin typeface="游明朝"/>
                <a:ea typeface="游明朝"/>
                <a:cs typeface="游明朝"/>
              </a:rPr>
              <a:t>例えば、出口を探す人には店名の一覧より矢印が先に見える方がよい。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情報の量ではなく、目的との関係が分かりやすさを決める。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【問03】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傍線部は、どのような役割を果たしているか。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〔根拠範囲〕</a:t>
            </a:r>
          </a:p>
        </p:txBody>
      </p:sp>
      <p:sp>
        <p:nvSpPr>
          <p:cNvPr id="54" name="PRACTICE_STOP_PROMPT">
            <a:extLst>
              <a:ext uri="{FF2B5EF4-FFF2-40B4-BE49-F238E27FC236}">
                <a16:creationId xmlns:a16="http://schemas.microsoft.com/office/drawing/2014/main" id="{DFBFE510-34CC-4638-B443-1B1DCB6EC15F}"/>
              </a:ext>
            </a:extLst>
          </p:cNvPr>
          <p:cNvSpPr>
            <a:spLocks noGrp="1"/>
          </p:cNvSpPr>
          <p:nvPr/>
        </p:nvSpPr>
        <p:spPr>
          <a:xfrm>
            <a:off x="381000" y="5619750"/>
            <a:ext cx="7734300" cy="533400"/>
          </a:xfrm>
          <a:prstGeom prst="roundRect">
            <a:avLst>
              <a:gd name="adj" fmla="val 14286"/>
            </a:avLst>
          </a:prstGeom>
          <a:noFill/>
          <a:ln w="0">
            <a:solidFill>
              <a:srgbClr val="FCFAF5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55" name="VOCAB_HELP">
            <a:extLst>
              <a:ext uri="{FF2B5EF4-FFF2-40B4-BE49-F238E27FC236}">
                <a16:creationId xmlns:a16="http://schemas.microsoft.com/office/drawing/2014/main" id="{F086B60D-57ED-462E-A010-49AF4161B08A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9D4836"/>
          </a:solidFill>
          <a:ln w="0">
            <a:solidFill>
              <a:srgbClr val="9D4836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問03　答えと決め手のつながりを確認する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8ページ  26/50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8EBD7422-DE3A-488E-8EA5-8E56E8AE887C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D112064-A6E8-4166-BC77-3969190020D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AC73706-C468-40AF-8276-06F8419CFFDB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D01B732-695D-46C1-A2BA-FCCE26931C72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54996F9-91E6-4BE6-BF1D-A8DC08EEDD4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F0810A-8FA7-4908-9870-7F3A37B5525E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908B513A-79C3-4FFD-8906-6347F5E24A82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3C36A16-E061-413F-AB9F-A0B2F27A617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77AA83F1-649F-495B-BE9F-9F0680B6D30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8F56C545-B631-49C6-83FA-2A8A5C39AAB5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問いの最後の言葉の言葉から、主型・焦点・本文で見る場所を決めます。</a:t>
            </a:r>
          </a:p>
        </p:txBody>
      </p:sp>
      <p:sp>
        <p:nvSpPr>
          <p:cNvPr id="41" name="STEP0_MAIN">
            <a:extLst>
              <a:ext uri="{FF2B5EF4-FFF2-40B4-BE49-F238E27FC236}">
                <a16:creationId xmlns:a16="http://schemas.microsoft.com/office/drawing/2014/main" id="{EA708313-3931-4708-8CA8-F19E45327735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7096125" cy="1952625"/>
          </a:xfrm>
          <a:prstGeom prst="roundRect">
            <a:avLst>
              <a:gd name="adj" fmla="val 8421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読みやすい案内は、文字が少ない案内と同じではない。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必要な行動に合う情報を選び、目立たせる必要がある。</a:t>
            </a:r>
          </a:p>
          <a:p>
            <a:pPr algn="l">
              <a:buNone/>
            </a:pPr>
            <a:r>
              <a:rPr sz="1400" b="1" u="sng">
                <a:solidFill>
                  <a:srgbClr val="138A72"/>
                </a:solidFill>
                <a:latin typeface="游明朝"/>
                <a:ea typeface="游明朝"/>
                <a:cs typeface="游明朝"/>
              </a:rPr>
              <a:t>例えば、出口を探す人には店名の一覧より矢印が先に見える方がよい。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情報の量ではなく、目的との関係が分かりやすさを決める。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【問03】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傍線部は、どのような役割を果たしているか。</a:t>
            </a:r>
          </a:p>
        </p:txBody>
      </p:sp>
      <p:sp>
        <p:nvSpPr>
          <p:cNvPr id="42" name="STEP0_どういうことか">
            <a:extLst>
              <a:ext uri="{FF2B5EF4-FFF2-40B4-BE49-F238E27FC236}">
                <a16:creationId xmlns:a16="http://schemas.microsoft.com/office/drawing/2014/main" id="{4BE7D15B-CAFE-401C-AB56-4FDF7486125F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主型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構成・役割型</a:t>
            </a:r>
          </a:p>
        </p:txBody>
      </p:sp>
      <p:sp>
        <p:nvSpPr>
          <p:cNvPr id="43" name="STEP0_なぜか">
            <a:extLst>
              <a:ext uri="{FF2B5EF4-FFF2-40B4-BE49-F238E27FC236}">
                <a16:creationId xmlns:a16="http://schemas.microsoft.com/office/drawing/2014/main" id="{23C56A34-262F-4F09-A147-F747B9E428D8}"/>
              </a:ext>
            </a:extLst>
          </p:cNvPr>
          <p:cNvSpPr>
            <a:spLocks noGrp="1"/>
          </p:cNvSpPr>
          <p:nvPr/>
        </p:nvSpPr>
        <p:spPr>
          <a:xfrm>
            <a:off x="300037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例が前後に果たす働き</a:t>
            </a:r>
          </a:p>
        </p:txBody>
      </p:sp>
      <p:sp>
        <p:nvSpPr>
          <p:cNvPr id="44" name="STEP0_どのような役割か">
            <a:extLst>
              <a:ext uri="{FF2B5EF4-FFF2-40B4-BE49-F238E27FC236}">
                <a16:creationId xmlns:a16="http://schemas.microsoft.com/office/drawing/2014/main" id="{60400D1A-58E2-40BB-ABB5-03CBF733C265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根拠範囲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傍線部とその前後</a:t>
            </a:r>
          </a:p>
        </p:txBody>
      </p:sp>
      <p:sp>
        <p:nvSpPr>
          <p:cNvPr id="45" name="STEP0_最も適切なもの">
            <a:extLst>
              <a:ext uri="{FF2B5EF4-FFF2-40B4-BE49-F238E27FC236}">
                <a16:creationId xmlns:a16="http://schemas.microsoft.com/office/drawing/2014/main" id="{A9E69F94-9A92-4B8E-A2C2-582ABBB99DAD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7096125" cy="571500"/>
          </a:xfrm>
          <a:prstGeom prst="roundRect">
            <a:avLst>
              <a:gd name="adj" fmla="val 10256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構成・役割型／例が前後に果たす働き／傍線部とその前後</a:t>
            </a:r>
          </a:p>
        </p:txBody>
      </p:sp>
      <p:sp>
        <p:nvSpPr>
          <p:cNvPr id="46" name="STEP0_WARN">
            <a:extLst>
              <a:ext uri="{FF2B5EF4-FFF2-40B4-BE49-F238E27FC236}">
                <a16:creationId xmlns:a16="http://schemas.microsoft.com/office/drawing/2014/main" id="{3D7ED1BE-3E01-4E1B-89EC-ECCAC69AEC98}"/>
              </a:ext>
            </a:extLst>
          </p:cNvPr>
          <p:cNvSpPr>
            <a:spLocks noGrp="1"/>
          </p:cNvSpPr>
          <p:nvPr/>
        </p:nvSpPr>
        <p:spPr>
          <a:xfrm>
            <a:off x="1000125" y="5448300"/>
            <a:ext cx="6334125" cy="666750"/>
          </a:xfrm>
          <a:prstGeom prst="roundRect">
            <a:avLst>
              <a:gd name="adj" fmla="val 11429"/>
            </a:avLst>
          </a:prstGeom>
          <a:solidFill>
            <a:srgbClr val="FDEBD9"/>
          </a:solidFill>
          <a:ln w="14288">
            <a:solidFill>
              <a:srgbClr val="B15E2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138A72"/>
                </a:solidFill>
                <a:latin typeface="Yu Gothic"/>
                <a:ea typeface="Yu Gothic"/>
                <a:cs typeface="Yu Gothic"/>
              </a:rPr>
              <a:t>確かめ方：</a:t>
            </a: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答えに『前の考え』と『具体化』の両方が入っているか確かめる。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E61D822D-D117-4C76-B681-1F6DACB800D2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C4E8A"/>
          </a:solidFill>
          <a:ln w="0">
            <a:solidFill>
              <a:srgbClr val="6C4E8A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問03　見る場所・理由・誤り・確かめ方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AF7FC"/>
          </a:solidFill>
          <a:ln w="11906">
            <a:solidFill>
              <a:srgbClr val="C9B4DF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8ページ  27/50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AF7FC"/>
          </a:solidFill>
          <a:ln w="11906">
            <a:solidFill>
              <a:srgbClr val="C9B4D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0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1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2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2E381E0D-956F-4DA1-8598-9FB536A1F6D5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F34428F5-4B21-457A-BEED-67461B888F2B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50D4A302-7C9A-46E5-86B4-A8FFA1F6C675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F748FBE7-5786-41E9-88FE-42619E0415A0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4FED08FE-3BCE-42F5-A723-0E2E8B072311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60BFFF74-BFFA-47B6-9AED-BF3BCAC0D73C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DF758F6B-1C45-432D-968C-2AC29B6C7EBF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271280E8-E42B-42F6-AF81-CE657B626431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3E75A97A-2A50-4C09-9592-A93A9E93516B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7B35A35F-33C0-4C6E-8AE6-15B7DA631FFE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答えを写したあとに、『なぜその３つの解答欄になるか』まで言えるようにします。</a:t>
            </a:r>
          </a:p>
        </p:txBody>
      </p:sp>
      <p:sp>
        <p:nvSpPr>
          <p:cNvPr id="41" name="FOCUS_何について？">
            <a:extLst>
              <a:ext uri="{FF2B5EF4-FFF2-40B4-BE49-F238E27FC236}">
                <a16:creationId xmlns:a16="http://schemas.microsoft.com/office/drawing/2014/main" id="{58263AA0-486F-47A5-9308-ED90DD8DD548}"/>
              </a:ext>
            </a:extLst>
          </p:cNvPr>
          <p:cNvSpPr>
            <a:spLocks noGrp="1"/>
          </p:cNvSpPr>
          <p:nvPr/>
        </p:nvSpPr>
        <p:spPr>
          <a:xfrm>
            <a:off x="523875" y="4429125"/>
            <a:ext cx="1809750" cy="1666875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 w="14288">
            <a:solidFill>
              <a:srgbClr val="3E6F9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6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見る場所</a:t>
            </a:r>
          </a:p>
          <a:p>
            <a:pPr algn="l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傍線部とその前後</a:t>
            </a:r>
          </a:p>
        </p:txBody>
      </p:sp>
      <p:sp>
        <p:nvSpPr>
          <p:cNvPr id="42" name="FOCUS_どの言葉？">
            <a:extLst>
              <a:ext uri="{FF2B5EF4-FFF2-40B4-BE49-F238E27FC236}">
                <a16:creationId xmlns:a16="http://schemas.microsoft.com/office/drawing/2014/main" id="{7FD70820-BAC3-410B-90D2-892A7C838380}"/>
              </a:ext>
            </a:extLst>
          </p:cNvPr>
          <p:cNvSpPr>
            <a:spLocks noGrp="1"/>
          </p:cNvSpPr>
          <p:nvPr/>
        </p:nvSpPr>
        <p:spPr>
          <a:xfrm>
            <a:off x="2476500" y="4429125"/>
            <a:ext cx="2190750" cy="1666875"/>
          </a:xfrm>
          <a:prstGeom prst="roundRect">
            <a:avLst>
              <a:gd name="adj" fmla="val 5161"/>
            </a:avLst>
          </a:prstGeom>
          <a:solidFill>
            <a:srgbClr val="FFF5D6"/>
          </a:solidFill>
          <a:ln w="14288">
            <a:solidFill>
              <a:srgbClr val="A6781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6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理由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傍線部は、前の『必要な行動に合う情報』を、出口と矢印の例で具体的に見せている。</a:t>
            </a:r>
          </a:p>
        </p:txBody>
      </p:sp>
      <p:sp>
        <p:nvSpPr>
          <p:cNvPr id="43" name="FOCUS_どの範囲？">
            <a:extLst>
              <a:ext uri="{FF2B5EF4-FFF2-40B4-BE49-F238E27FC236}">
                <a16:creationId xmlns:a16="http://schemas.microsoft.com/office/drawing/2014/main" id="{2756ECFB-526E-463E-8ED2-90E0CD3216B9}"/>
              </a:ext>
            </a:extLst>
          </p:cNvPr>
          <p:cNvSpPr>
            <a:spLocks noGrp="1"/>
          </p:cNvSpPr>
          <p:nvPr/>
        </p:nvSpPr>
        <p:spPr>
          <a:xfrm>
            <a:off x="4810125" y="4429125"/>
            <a:ext cx="2905125" cy="1666875"/>
          </a:xfrm>
          <a:prstGeom prst="roundRect">
            <a:avLst>
              <a:gd name="adj" fmla="val 5161"/>
            </a:avLst>
          </a:prstGeom>
          <a:solidFill>
            <a:srgbClr val="E6F5F1"/>
          </a:solidFill>
          <a:ln w="14288">
            <a:solidFill>
              <a:srgbClr val="2D7E7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6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注意と確認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『出口を探す場面を書いている』だけでは、前後に対する働きが分からない。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答えに『前の考え』と『具体化』の両方が入っているか確かめる。</a:t>
            </a:r>
          </a:p>
        </p:txBody>
      </p:sp>
      <p:sp>
        <p:nvSpPr>
          <p:cNvPr id="44" name="FOCUS_RULE">
            <a:extLst>
              <a:ext uri="{FF2B5EF4-FFF2-40B4-BE49-F238E27FC236}">
                <a16:creationId xmlns:a16="http://schemas.microsoft.com/office/drawing/2014/main" id="{F694E59E-B6B2-4D1C-93AE-6BED77834EC7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7191375" cy="2000250"/>
          </a:xfrm>
          <a:prstGeom prst="roundRect">
            <a:avLst>
              <a:gd name="adj" fmla="val 8421"/>
            </a:avLst>
          </a:prstGeom>
          <a:solidFill>
            <a:srgbClr val="EAF5F5"/>
          </a:solidFill>
          <a:ln w="14288">
            <a:solidFill>
              <a:srgbClr val="73B6BC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読みやすい案内は、文字が少ない案内と同じではない。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必要な行動に合う情報を選び、目立たせる必要がある。</a:t>
            </a:r>
          </a:p>
          <a:p>
            <a:pPr algn="l">
              <a:buNone/>
            </a:pPr>
            <a:r>
              <a:rPr sz="1400" b="1" u="sng">
                <a:solidFill>
                  <a:srgbClr val="138A72"/>
                </a:solidFill>
                <a:latin typeface="游明朝"/>
                <a:ea typeface="游明朝"/>
                <a:cs typeface="游明朝"/>
              </a:rPr>
              <a:t>例えば、出口を探す人には店名の一覧より矢印が先に見える方がよい。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情報の量ではなく、目的との関係が分かりやすさを決める。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【問03】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傍線部は、どのような役割を果たしているか。</a:t>
            </a:r>
          </a:p>
        </p:txBody>
      </p:sp>
      <p:sp>
        <p:nvSpPr>
          <p:cNvPr id="48" name="VOCAB_HELP">
            <a:extLst>
              <a:ext uri="{FF2B5EF4-FFF2-40B4-BE49-F238E27FC236}">
                <a16:creationId xmlns:a16="http://schemas.microsoft.com/office/drawing/2014/main" id="{A802EA55-A1A3-4A43-BF83-88AE299361D6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  <p:sp>
        <p:nvSpPr>
          <p:cNvPr id="52" name="DEEP_ANSWER_PANEL">
            <a:extLst>
              <a:ext uri="{FF2B5EF4-FFF2-40B4-BE49-F238E27FC236}">
                <a16:creationId xmlns:a16="http://schemas.microsoft.com/office/drawing/2014/main" id="{1B6EB481-6EE2-4C31-BB6B-92E276452340}"/>
              </a:ext>
            </a:extLst>
          </p:cNvPr>
          <p:cNvSpPr>
            <a:spLocks noGrp="1"/>
          </p:cNvSpPr>
          <p:nvPr/>
        </p:nvSpPr>
        <p:spPr>
          <a:xfrm>
            <a:off x="523875" y="3667125"/>
            <a:ext cx="7191375" cy="523875"/>
          </a:xfrm>
          <a:prstGeom prst="roundRect">
            <a:avLst>
              <a:gd name="adj" fmla="val 14545"/>
            </a:avLst>
          </a:prstGeom>
          <a:solidFill>
            <a:srgbClr val="FFF1ED"/>
          </a:solidFill>
          <a:ln w="14288">
            <a:solidFill>
              <a:srgbClr val="D49A89"/>
            </a:solidFill>
            <a:prstDash val="solid"/>
          </a:ln>
        </p:spPr>
        <p:txBody>
          <a:bodyPr anchor="ctr"/>
          <a:lstStyle/>
          <a:p>
            <a:pPr algn="l">
              <a:buNone/>
            </a:pPr>
            <a:r>
              <a:rPr sz="1700" b="1">
                <a:solidFill>
                  <a:srgbClr val="C00000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構成・役割型／例が前後に果たす働き／傍線部とその前後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D668F"/>
          </a:solidFill>
          <a:ln w="0">
            <a:solidFill>
              <a:srgbClr val="3D668F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問04　本文と問を見て、自分で３つの解答欄を決める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8ページ  28/50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3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4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5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3544A115-554F-4909-89F9-A421CBA31307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A5DDAB02-BB3E-498E-8BC1-17E37DE46F71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73F6ADDC-84E8-435D-9EB0-36BA230891B3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B833810-9E01-49F0-90F1-A4F59FDC014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C408BACA-4E7B-41C5-82C5-6599F8AB945C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E9C73CD-E24B-4532-B18F-E66C69FE945A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5EBABB2C-65A9-408D-800C-6B7EE37AC44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E30ACE43-636C-464E-A736-E311D54354B2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DCF46609-C50E-493D-ABFC-0926BC7D1483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34BFD9F2-C3AA-43DB-83CA-75713DBEE5BA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問を先に見て、何を答え、本文のどこを探すかを決めます。</a:t>
            </a:r>
          </a:p>
        </p:txBody>
      </p:sp>
      <p:sp>
        <p:nvSpPr>
          <p:cNvPr id="50" name="SOURCE_TRACE_PANEL">
            <a:extLst>
              <a:ext uri="{FF2B5EF4-FFF2-40B4-BE49-F238E27FC236}">
                <a16:creationId xmlns:a16="http://schemas.microsoft.com/office/drawing/2014/main" id="{7B818317-C941-4542-832C-476F031D7519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404812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読みやすい案内は、文字が少ない案内と同じではない。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必要な行動に合う情報を選び、目立たせる必要がある。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例えば、出口を探す人には店名の一覧より矢印が先に見える方がよい。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情報の量ではなく、目的との関係が分かりやすさを決める。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【問04】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本文で筆者が最も述べたいことは何か。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〔根拠範囲〕</a:t>
            </a:r>
          </a:p>
        </p:txBody>
      </p:sp>
      <p:sp>
        <p:nvSpPr>
          <p:cNvPr id="55" name="VOCAB_HELP">
            <a:extLst>
              <a:ext uri="{FF2B5EF4-FFF2-40B4-BE49-F238E27FC236}">
                <a16:creationId xmlns:a16="http://schemas.microsoft.com/office/drawing/2014/main" id="{B4F5B5CB-25C3-4AFF-8480-5EF7B7772DDE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9D4836"/>
          </a:solidFill>
          <a:ln w="0">
            <a:solidFill>
              <a:srgbClr val="9D4836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問04　答えと決め手のつながりを確認する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8ページ  29/50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8EBD7422-DE3A-488E-8EA5-8E56E8AE887C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D112064-A6E8-4166-BC77-3969190020D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AC73706-C468-40AF-8276-06F8419CFFDB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D01B732-695D-46C1-A2BA-FCCE26931C72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54996F9-91E6-4BE6-BF1D-A8DC08EEDD4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F0810A-8FA7-4908-9870-7F3A37B5525E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908B513A-79C3-4FFD-8906-6347F5E24A82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3C36A16-E061-413F-AB9F-A0B2F27A617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77AA83F1-649F-495B-BE9F-9F0680B6D30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8F56C545-B631-49C6-83FA-2A8A5C39AAB5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問いの最後の言葉の言葉から、主型・焦点・本文で見る場所を決めます。</a:t>
            </a:r>
          </a:p>
        </p:txBody>
      </p:sp>
      <p:sp>
        <p:nvSpPr>
          <p:cNvPr id="41" name="STEP0_MAIN">
            <a:extLst>
              <a:ext uri="{FF2B5EF4-FFF2-40B4-BE49-F238E27FC236}">
                <a16:creationId xmlns:a16="http://schemas.microsoft.com/office/drawing/2014/main" id="{EA708313-3931-4708-8CA8-F19E45327735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7096125" cy="1952625"/>
          </a:xfrm>
          <a:prstGeom prst="roundRect">
            <a:avLst>
              <a:gd name="adj" fmla="val 8421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読みやすい案内は、文字が少ない案内と同じではない。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必要な行動に合う情報を選び、目立たせる必要がある。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例えば、出口を探す人には店名の一覧より矢印が先に見える方がよい。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情報の量ではなく、目的との関係が分かりやすさを決める。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【問04】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本文で筆者が最も述べたいことは何か。</a:t>
            </a:r>
          </a:p>
        </p:txBody>
      </p:sp>
      <p:sp>
        <p:nvSpPr>
          <p:cNvPr id="42" name="STEP0_どういうことか">
            <a:extLst>
              <a:ext uri="{FF2B5EF4-FFF2-40B4-BE49-F238E27FC236}">
                <a16:creationId xmlns:a16="http://schemas.microsoft.com/office/drawing/2014/main" id="{4BE7D15B-CAFE-401C-AB56-4FDF7486125F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主型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主張・要旨型</a:t>
            </a:r>
          </a:p>
        </p:txBody>
      </p:sp>
      <p:sp>
        <p:nvSpPr>
          <p:cNvPr id="43" name="STEP0_なぜか">
            <a:extLst>
              <a:ext uri="{FF2B5EF4-FFF2-40B4-BE49-F238E27FC236}">
                <a16:creationId xmlns:a16="http://schemas.microsoft.com/office/drawing/2014/main" id="{23C56A34-262F-4F09-A147-F747B9E428D8}"/>
              </a:ext>
            </a:extLst>
          </p:cNvPr>
          <p:cNvSpPr>
            <a:spLocks noGrp="1"/>
          </p:cNvSpPr>
          <p:nvPr/>
        </p:nvSpPr>
        <p:spPr>
          <a:xfrm>
            <a:off x="300037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本文全体の中心的判断</a:t>
            </a:r>
          </a:p>
        </p:txBody>
      </p:sp>
      <p:sp>
        <p:nvSpPr>
          <p:cNvPr id="44" name="STEP0_どのような役割か">
            <a:extLst>
              <a:ext uri="{FF2B5EF4-FFF2-40B4-BE49-F238E27FC236}">
                <a16:creationId xmlns:a16="http://schemas.microsoft.com/office/drawing/2014/main" id="{60400D1A-58E2-40BB-ABB5-03CBF733C265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根拠範囲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全文（特に冒頭と結末）</a:t>
            </a:r>
          </a:p>
        </p:txBody>
      </p:sp>
      <p:sp>
        <p:nvSpPr>
          <p:cNvPr id="45" name="STEP0_最も適切なもの">
            <a:extLst>
              <a:ext uri="{FF2B5EF4-FFF2-40B4-BE49-F238E27FC236}">
                <a16:creationId xmlns:a16="http://schemas.microsoft.com/office/drawing/2014/main" id="{A9E69F94-9A92-4B8E-A2C2-582ABBB99DAD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7096125" cy="571500"/>
          </a:xfrm>
          <a:prstGeom prst="roundRect">
            <a:avLst>
              <a:gd name="adj" fmla="val 10256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主張・要旨型／本文全体の中心的判断／全文（特に冒頭と結末）</a:t>
            </a:r>
          </a:p>
        </p:txBody>
      </p:sp>
      <p:sp>
        <p:nvSpPr>
          <p:cNvPr id="46" name="STEP0_WARN">
            <a:extLst>
              <a:ext uri="{FF2B5EF4-FFF2-40B4-BE49-F238E27FC236}">
                <a16:creationId xmlns:a16="http://schemas.microsoft.com/office/drawing/2014/main" id="{3D7ED1BE-3E01-4E1B-89EC-ECCAC69AEC98}"/>
              </a:ext>
            </a:extLst>
          </p:cNvPr>
          <p:cNvSpPr>
            <a:spLocks noGrp="1"/>
          </p:cNvSpPr>
          <p:nvPr/>
        </p:nvSpPr>
        <p:spPr>
          <a:xfrm>
            <a:off x="1000125" y="5448300"/>
            <a:ext cx="6334125" cy="666750"/>
          </a:xfrm>
          <a:prstGeom prst="roundRect">
            <a:avLst>
              <a:gd name="adj" fmla="val 11429"/>
            </a:avLst>
          </a:prstGeom>
          <a:solidFill>
            <a:srgbClr val="FDEBD9"/>
          </a:solidFill>
          <a:ln w="14288">
            <a:solidFill>
              <a:srgbClr val="B15E2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138A72"/>
                </a:solidFill>
                <a:latin typeface="Yu Gothic"/>
                <a:ea typeface="Yu Gothic"/>
                <a:cs typeface="Yu Gothic"/>
              </a:rPr>
              <a:t>確かめ方：</a:t>
            </a: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冒頭と結末を一文でまとめても同じ判断になるか確かめる。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E61D822D-D117-4C76-B681-1F6DACB800D2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C4E8A"/>
          </a:solidFill>
          <a:ln w="0">
            <a:solidFill>
              <a:srgbClr val="6C4E8A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問04　見る場所・理由・誤り・確かめ方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AF7FC"/>
          </a:solidFill>
          <a:ln w="11906">
            <a:solidFill>
              <a:srgbClr val="C9B4DF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8ページ  30/50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AF7FC"/>
          </a:solidFill>
          <a:ln w="11906">
            <a:solidFill>
              <a:srgbClr val="C9B4DF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0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1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2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2E381E0D-956F-4DA1-8598-9FB536A1F6D5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F34428F5-4B21-457A-BEED-67461B888F2B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50D4A302-7C9A-46E5-86B4-A8FFA1F6C675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F748FBE7-5786-41E9-88FE-42619E0415A0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4FED08FE-3BCE-42F5-A723-0E2E8B072311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60BFFF74-BFFA-47B6-9AED-BF3BCAC0D73C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DF758F6B-1C45-432D-968C-2AC29B6C7EBF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271280E8-E42B-42F6-AF81-CE657B626431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3E75A97A-2A50-4C09-9592-A93A9E93516B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7B35A35F-33C0-4C6E-8AE6-15B7DA631FFE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答えを写したあとに、『なぜその３つの解答欄になるか』まで言えるようにします。</a:t>
            </a:r>
          </a:p>
        </p:txBody>
      </p:sp>
      <p:sp>
        <p:nvSpPr>
          <p:cNvPr id="41" name="FOCUS_何について？">
            <a:extLst>
              <a:ext uri="{FF2B5EF4-FFF2-40B4-BE49-F238E27FC236}">
                <a16:creationId xmlns:a16="http://schemas.microsoft.com/office/drawing/2014/main" id="{58263AA0-486F-47A5-9308-ED90DD8DD548}"/>
              </a:ext>
            </a:extLst>
          </p:cNvPr>
          <p:cNvSpPr>
            <a:spLocks noGrp="1"/>
          </p:cNvSpPr>
          <p:nvPr/>
        </p:nvSpPr>
        <p:spPr>
          <a:xfrm>
            <a:off x="523875" y="4429125"/>
            <a:ext cx="1809750" cy="1666875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 w="14288">
            <a:solidFill>
              <a:srgbClr val="3E6F9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6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見る場所</a:t>
            </a:r>
          </a:p>
          <a:p>
            <a:pPr algn="l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全文（特に冒頭と結末）</a:t>
            </a:r>
          </a:p>
        </p:txBody>
      </p:sp>
      <p:sp>
        <p:nvSpPr>
          <p:cNvPr id="42" name="FOCUS_どの言葉？">
            <a:extLst>
              <a:ext uri="{FF2B5EF4-FFF2-40B4-BE49-F238E27FC236}">
                <a16:creationId xmlns:a16="http://schemas.microsoft.com/office/drawing/2014/main" id="{7FD70820-BAC3-410B-90D2-892A7C838380}"/>
              </a:ext>
            </a:extLst>
          </p:cNvPr>
          <p:cNvSpPr>
            <a:spLocks noGrp="1"/>
          </p:cNvSpPr>
          <p:nvPr/>
        </p:nvSpPr>
        <p:spPr>
          <a:xfrm>
            <a:off x="2476500" y="4429125"/>
            <a:ext cx="2190750" cy="1666875"/>
          </a:xfrm>
          <a:prstGeom prst="roundRect">
            <a:avLst>
              <a:gd name="adj" fmla="val 5161"/>
            </a:avLst>
          </a:prstGeom>
          <a:solidFill>
            <a:srgbClr val="FFF5D6"/>
          </a:solidFill>
          <a:ln w="14288">
            <a:solidFill>
              <a:srgbClr val="A6781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6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理由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冒頭で誤解を退け、結末で『目的との関係が分かりやすさを決める』と中心を言い切っている。</a:t>
            </a:r>
          </a:p>
        </p:txBody>
      </p:sp>
      <p:sp>
        <p:nvSpPr>
          <p:cNvPr id="43" name="FOCUS_どの範囲？">
            <a:extLst>
              <a:ext uri="{FF2B5EF4-FFF2-40B4-BE49-F238E27FC236}">
                <a16:creationId xmlns:a16="http://schemas.microsoft.com/office/drawing/2014/main" id="{2756ECFB-526E-463E-8ED2-90E0CD3216B9}"/>
              </a:ext>
            </a:extLst>
          </p:cNvPr>
          <p:cNvSpPr>
            <a:spLocks noGrp="1"/>
          </p:cNvSpPr>
          <p:nvPr/>
        </p:nvSpPr>
        <p:spPr>
          <a:xfrm>
            <a:off x="4810125" y="4429125"/>
            <a:ext cx="2905125" cy="1666875"/>
          </a:xfrm>
          <a:prstGeom prst="roundRect">
            <a:avLst>
              <a:gd name="adj" fmla="val 5161"/>
            </a:avLst>
          </a:prstGeom>
          <a:solidFill>
            <a:srgbClr val="E6F5F1"/>
          </a:solidFill>
          <a:ln w="14288">
            <a:solidFill>
              <a:srgbClr val="2D7E7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</a:pPr>
            <a:r>
              <a:rPr sz="16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注意と確認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印象に残った矢印の例だけを選ぶと、本文全体の中心から外れる。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冒頭と結末を一文でまとめても同じ判断になるか確かめる。</a:t>
            </a:r>
          </a:p>
        </p:txBody>
      </p:sp>
      <p:sp>
        <p:nvSpPr>
          <p:cNvPr id="44" name="FOCUS_RULE">
            <a:extLst>
              <a:ext uri="{FF2B5EF4-FFF2-40B4-BE49-F238E27FC236}">
                <a16:creationId xmlns:a16="http://schemas.microsoft.com/office/drawing/2014/main" id="{F694E59E-B6B2-4D1C-93AE-6BED77834EC7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7191375" cy="2000250"/>
          </a:xfrm>
          <a:prstGeom prst="roundRect">
            <a:avLst>
              <a:gd name="adj" fmla="val 8421"/>
            </a:avLst>
          </a:prstGeom>
          <a:solidFill>
            <a:srgbClr val="EAF5F5"/>
          </a:solidFill>
          <a:ln w="14288">
            <a:solidFill>
              <a:srgbClr val="73B6BC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読みやすい案内は、文字が少ない案内と同じではない。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必要な行動に合う情報を選び、目立たせる必要がある。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例えば、出口を探す人には店名の一覧より矢印が先に見える方がよい。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情報の量ではなく、目的との関係が分かりやすさを決める。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【問04】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本文で筆者が最も述べたいことは何か。</a:t>
            </a:r>
          </a:p>
        </p:txBody>
      </p:sp>
      <p:sp>
        <p:nvSpPr>
          <p:cNvPr id="48" name="VOCAB_HELP">
            <a:extLst>
              <a:ext uri="{FF2B5EF4-FFF2-40B4-BE49-F238E27FC236}">
                <a16:creationId xmlns:a16="http://schemas.microsoft.com/office/drawing/2014/main" id="{A802EA55-A1A3-4A43-BF83-88AE299361D6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  <p:sp>
        <p:nvSpPr>
          <p:cNvPr id="52" name="DEEP_ANSWER_PANEL">
            <a:extLst>
              <a:ext uri="{FF2B5EF4-FFF2-40B4-BE49-F238E27FC236}">
                <a16:creationId xmlns:a16="http://schemas.microsoft.com/office/drawing/2014/main" id="{E770B30B-2C9F-4D9C-9D40-E85AA3291956}"/>
              </a:ext>
            </a:extLst>
          </p:cNvPr>
          <p:cNvSpPr>
            <a:spLocks noGrp="1"/>
          </p:cNvSpPr>
          <p:nvPr/>
        </p:nvSpPr>
        <p:spPr>
          <a:xfrm>
            <a:off x="523875" y="3667125"/>
            <a:ext cx="7191375" cy="523875"/>
          </a:xfrm>
          <a:prstGeom prst="roundRect">
            <a:avLst>
              <a:gd name="adj" fmla="val 14545"/>
            </a:avLst>
          </a:prstGeom>
          <a:solidFill>
            <a:srgbClr val="FFF1ED"/>
          </a:solidFill>
          <a:ln w="14288">
            <a:solidFill>
              <a:srgbClr val="D49A89"/>
            </a:solidFill>
            <a:prstDash val="solid"/>
          </a:ln>
        </p:spPr>
        <p:txBody>
          <a:bodyPr anchor="ctr"/>
          <a:lstStyle/>
          <a:p>
            <a:pPr algn="l">
              <a:buNone/>
            </a:pPr>
            <a:r>
              <a:rPr sz="1700" b="1">
                <a:solidFill>
                  <a:srgbClr val="C00000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主張・要旨型／本文全体の中心的判断／全文（特に冒頭と結末）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4A0B0E6-C27C-4487-9769-17E917439D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26B2C"/>
          </a:solidFill>
          <a:ln w="0">
            <a:solidFill>
              <a:srgbClr val="526B2C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A1614BB-B91D-4072-8042-C5DCE25E89CB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526B2C"/>
                </a:solidFill>
                <a:latin typeface="Yu Gothic"/>
                <a:ea typeface="Yu Gothic"/>
                <a:cs typeface="Yu Gothic"/>
              </a:rPr>
              <a:t>8ページ　問いの最後の言葉・焦点・本文で見る場所を確認する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8984686-1104-4E81-B356-DE528FB84E29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7FAF2"/>
          </a:solidFill>
          <a:ln w="11906">
            <a:solidFill>
              <a:srgbClr val="C7D7A5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526B2C"/>
                </a:solidFill>
                <a:latin typeface="Yu Gothic"/>
                <a:ea typeface="Yu Gothic"/>
                <a:cs typeface="Yu Gothic"/>
              </a:rPr>
              <a:t>8ページ  31/50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5333BFE-9B66-4946-A0A9-67CC0C527ED1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7FAF2"/>
          </a:solidFill>
          <a:ln w="11906">
            <a:solidFill>
              <a:srgbClr val="C7D7A5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9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0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1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1A8CDBF6-4B37-4E46-95A2-3B74B8D76CCE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E487CCB2-B777-4275-9833-5D8D77BDE3DA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11597E2D-2C2D-4992-BE1C-F213E1F46271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8BEE8878-EA3E-466E-8864-DC4C9FE84288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82D67AC5-973D-497F-8504-732E9FBCB560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B572678D-8AAA-4558-B842-F716D882F2EC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13512AF7-AC1E-4768-BFE9-21957EA3A791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C566BE1A-7FB0-4A43-83E0-F16DD2E9B79A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83D9580C-DC41-4692-98EB-D8FD22FF1A57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D9D29EE9-5005-491A-B0A8-DA8313472ECC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４つの問を比べ、問いの最後の言葉の違いで答え方が変わることを確かめます。</a:t>
            </a:r>
          </a:p>
        </p:txBody>
      </p:sp>
      <p:sp>
        <p:nvSpPr>
          <p:cNvPr id="44" name="CHOICE_OK">
            <a:extLst>
              <a:ext uri="{FF2B5EF4-FFF2-40B4-BE49-F238E27FC236}">
                <a16:creationId xmlns:a16="http://schemas.microsoft.com/office/drawing/2014/main" id="{E6F179E3-DD40-4DF1-9607-23807F382693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143250" cy="1476375"/>
          </a:xfrm>
          <a:prstGeom prst="roundRect">
            <a:avLst>
              <a:gd name="adj" fmla="val 9412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rmAutofit fontScale="92500" lnSpcReduction="10000"/>
          </a:bodyPr>
          <a:lstStyle/>
          <a:p>
            <a:pPr algn="l">
              <a:buNone/>
            </a:pPr>
            <a:r>
              <a:rPr sz="160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問01〔答え〕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主型：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言い換え型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答えるもの：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『読みやすい案内』の定義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根拠範囲：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全文（特に冒頭二文と結末）</a:t>
            </a:r>
          </a:p>
        </p:txBody>
      </p:sp>
      <p:sp>
        <p:nvSpPr>
          <p:cNvPr id="45" name="CHOICE_ADD">
            <a:extLst>
              <a:ext uri="{FF2B5EF4-FFF2-40B4-BE49-F238E27FC236}">
                <a16:creationId xmlns:a16="http://schemas.microsoft.com/office/drawing/2014/main" id="{EB26D5AE-AA78-4624-B6F0-5D76EABD84F5}"/>
              </a:ext>
            </a:extLst>
          </p:cNvPr>
          <p:cNvSpPr>
            <a:spLocks noGrp="1"/>
          </p:cNvSpPr>
          <p:nvPr/>
        </p:nvSpPr>
        <p:spPr>
          <a:xfrm>
            <a:off x="4333875" y="1809750"/>
            <a:ext cx="3143250" cy="1476375"/>
          </a:xfrm>
          <a:prstGeom prst="roundRect">
            <a:avLst>
              <a:gd name="adj" fmla="val 9412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rmAutofit fontScale="92500" lnSpcReduction="10000"/>
          </a:bodyPr>
          <a:lstStyle/>
          <a:p>
            <a:pPr algn="l">
              <a:buNone/>
            </a:pPr>
            <a:r>
              <a:rPr sz="160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問02〔答え〕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主型：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理由型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答えるもの：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情報を目立たせる理由・目的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根拠範囲：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全文（特に冒頭と結末）</a:t>
            </a:r>
          </a:p>
        </p:txBody>
      </p:sp>
      <p:sp>
        <p:nvSpPr>
          <p:cNvPr id="46" name="CHOICE_REVERSE">
            <a:extLst>
              <a:ext uri="{FF2B5EF4-FFF2-40B4-BE49-F238E27FC236}">
                <a16:creationId xmlns:a16="http://schemas.microsoft.com/office/drawing/2014/main" id="{9E517808-5BF0-4A2D-9CF6-8D21B7A19017}"/>
              </a:ext>
            </a:extLst>
          </p:cNvPr>
          <p:cNvSpPr>
            <a:spLocks noGrp="1"/>
          </p:cNvSpPr>
          <p:nvPr/>
        </p:nvSpPr>
        <p:spPr>
          <a:xfrm>
            <a:off x="666750" y="3762375"/>
            <a:ext cx="3143250" cy="1476375"/>
          </a:xfrm>
          <a:prstGeom prst="roundRect">
            <a:avLst>
              <a:gd name="adj" fmla="val 9412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</a:pPr>
            <a:r>
              <a:rPr sz="160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問03〔答え〕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主型：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構成・役割型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答えるもの：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例が前後に果たす働き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根拠範囲：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傍線部とその前後</a:t>
            </a:r>
          </a:p>
        </p:txBody>
      </p:sp>
      <p:sp>
        <p:nvSpPr>
          <p:cNvPr id="47" name="CHOICE_RULE">
            <a:extLst>
              <a:ext uri="{FF2B5EF4-FFF2-40B4-BE49-F238E27FC236}">
                <a16:creationId xmlns:a16="http://schemas.microsoft.com/office/drawing/2014/main" id="{8A74FC54-DD55-42E4-873D-A4C8DBE1E447}"/>
              </a:ext>
            </a:extLst>
          </p:cNvPr>
          <p:cNvSpPr>
            <a:spLocks noGrp="1"/>
          </p:cNvSpPr>
          <p:nvPr/>
        </p:nvSpPr>
        <p:spPr>
          <a:xfrm>
            <a:off x="4333875" y="3762375"/>
            <a:ext cx="3143250" cy="1476375"/>
          </a:xfrm>
          <a:prstGeom prst="roundRect">
            <a:avLst>
              <a:gd name="adj" fmla="val 12903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rmAutofit fontScale="92500" lnSpcReduction="10000"/>
          </a:bodyPr>
          <a:lstStyle/>
          <a:p>
            <a:pPr algn="l">
              <a:buNone/>
            </a:pP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問04〔答え〕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主型：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主張・要旨型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答えるもの：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本文全体の中心的判断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根拠範囲：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全文（特に冒頭と結末）</a:t>
            </a:r>
          </a:p>
        </p:txBody>
      </p:sp>
      <p:sp>
        <p:nvSpPr>
          <p:cNvPr id="51" name="VOCAB_HELP">
            <a:extLst>
              <a:ext uri="{FF2B5EF4-FFF2-40B4-BE49-F238E27FC236}">
                <a16:creationId xmlns:a16="http://schemas.microsoft.com/office/drawing/2014/main" id="{60DF9364-1C92-49F6-BB0A-802D4D620D92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6952519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D668F"/>
          </a:solidFill>
          <a:ln w="0">
            <a:solidFill>
              <a:srgbClr val="3D668F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問05　本文と問を見て、自分で３つの解答欄を決める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10ページ  32/50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3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4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5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3544A115-554F-4909-89F9-A421CBA31307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A5DDAB02-BB3E-498E-8BC1-17E37DE46F71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73F6ADDC-84E8-435D-9EB0-36BA230891B3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B833810-9E01-49F0-90F1-A4F59FDC014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C408BACA-4E7B-41C5-82C5-6599F8AB945C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E9C73CD-E24B-4532-B18F-E66C69FE945A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5EBABB2C-65A9-408D-800C-6B7EE37AC44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E30ACE43-636C-464E-A736-E311D54354B2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DCF46609-C50E-493D-ABFC-0926BC7D1483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34BFD9F2-C3AA-43DB-83CA-75713DBEE5BA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本文はありません。設問文だけから、答え方と本文で見る関係を決めます。</a:t>
            </a:r>
          </a:p>
        </p:txBody>
      </p:sp>
      <p:sp>
        <p:nvSpPr>
          <p:cNvPr id="50" name="SOURCE_TRACE_PANEL">
            <a:extLst>
              <a:ext uri="{FF2B5EF4-FFF2-40B4-BE49-F238E27FC236}">
                <a16:creationId xmlns:a16="http://schemas.microsoft.com/office/drawing/2014/main" id="{7B818317-C941-4542-832C-476F031D7519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404812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なし（このページは、設問文だけを読む練習です。）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【問05】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『学ぶとは、答えを増やすことだけではない』とはどういうことか。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〔型別に見るもの〕</a:t>
            </a:r>
          </a:p>
        </p:txBody>
      </p:sp>
      <p:sp>
        <p:nvSpPr>
          <p:cNvPr id="55" name="VOCAB_HELP">
            <a:extLst>
              <a:ext uri="{FF2B5EF4-FFF2-40B4-BE49-F238E27FC236}">
                <a16:creationId xmlns:a16="http://schemas.microsoft.com/office/drawing/2014/main" id="{49F34EF3-1359-4023-8658-00F70FC3F42F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9D4836"/>
          </a:solidFill>
          <a:ln w="0">
            <a:solidFill>
              <a:srgbClr val="9D4836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問05　答えと決め手のつながりを確認する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10ページ  33/50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8EBD7422-DE3A-488E-8EA5-8E56E8AE887C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D112064-A6E8-4166-BC77-3969190020D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AC73706-C468-40AF-8276-06F8419CFFDB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D01B732-695D-46C1-A2BA-FCCE26931C72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54996F9-91E6-4BE6-BF1D-A8DC08EEDD4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F0810A-8FA7-4908-9870-7F3A37B5525E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908B513A-79C3-4FFD-8906-6347F5E24A82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3C36A16-E061-413F-AB9F-A0B2F27A617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77AA83F1-649F-495B-BE9F-9F0680B6D30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8F56C545-B631-49C6-83FA-2A8A5C39AAB5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問いの最後の言葉の言葉から、主型・焦点・本文で見る場所を決めます。</a:t>
            </a:r>
          </a:p>
        </p:txBody>
      </p:sp>
      <p:sp>
        <p:nvSpPr>
          <p:cNvPr id="41" name="STEP0_MAIN">
            <a:extLst>
              <a:ext uri="{FF2B5EF4-FFF2-40B4-BE49-F238E27FC236}">
                <a16:creationId xmlns:a16="http://schemas.microsoft.com/office/drawing/2014/main" id="{EA708313-3931-4708-8CA8-F19E45327735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7096125" cy="1952625"/>
          </a:xfrm>
          <a:prstGeom prst="roundRect">
            <a:avLst>
              <a:gd name="adj" fmla="val 8421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なし（このページは、設問文だけを読む練習です。）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【問05】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『学ぶとは、答えを増やすことだけではない』とはどういうことか。</a:t>
            </a:r>
          </a:p>
        </p:txBody>
      </p:sp>
      <p:sp>
        <p:nvSpPr>
          <p:cNvPr id="42" name="STEP0_どういうことか">
            <a:extLst>
              <a:ext uri="{FF2B5EF4-FFF2-40B4-BE49-F238E27FC236}">
                <a16:creationId xmlns:a16="http://schemas.microsoft.com/office/drawing/2014/main" id="{4BE7D15B-CAFE-401C-AB56-4FDF7486125F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主型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言い換え型</a:t>
            </a:r>
          </a:p>
        </p:txBody>
      </p:sp>
      <p:sp>
        <p:nvSpPr>
          <p:cNvPr id="43" name="STEP0_なぜか">
            <a:extLst>
              <a:ext uri="{FF2B5EF4-FFF2-40B4-BE49-F238E27FC236}">
                <a16:creationId xmlns:a16="http://schemas.microsoft.com/office/drawing/2014/main" id="{23C56A34-262F-4F09-A147-F747B9E428D8}"/>
              </a:ext>
            </a:extLst>
          </p:cNvPr>
          <p:cNvSpPr>
            <a:spLocks noGrp="1"/>
          </p:cNvSpPr>
          <p:nvPr/>
        </p:nvSpPr>
        <p:spPr>
          <a:xfrm>
            <a:off x="300037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傍線部と同じ内容</a:t>
            </a:r>
          </a:p>
        </p:txBody>
      </p:sp>
      <p:sp>
        <p:nvSpPr>
          <p:cNvPr id="44" name="STEP0_どのような役割か">
            <a:extLst>
              <a:ext uri="{FF2B5EF4-FFF2-40B4-BE49-F238E27FC236}">
                <a16:creationId xmlns:a16="http://schemas.microsoft.com/office/drawing/2014/main" id="{60400D1A-58E2-40BB-ABB5-03CBF733C265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型別に見るもの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定義・言い換え・具体と抽象</a:t>
            </a:r>
          </a:p>
        </p:txBody>
      </p:sp>
      <p:sp>
        <p:nvSpPr>
          <p:cNvPr id="45" name="STEP0_最も適切なもの">
            <a:extLst>
              <a:ext uri="{FF2B5EF4-FFF2-40B4-BE49-F238E27FC236}">
                <a16:creationId xmlns:a16="http://schemas.microsoft.com/office/drawing/2014/main" id="{A9E69F94-9A92-4B8E-A2C2-582ABBB99DAD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7096125" cy="571500"/>
          </a:xfrm>
          <a:prstGeom prst="roundRect">
            <a:avLst>
              <a:gd name="adj" fmla="val 10256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言い換え型／傍線部と同じ内容／定義・言い換え・具体と抽象</a:t>
            </a:r>
          </a:p>
        </p:txBody>
      </p:sp>
      <p:sp>
        <p:nvSpPr>
          <p:cNvPr id="46" name="STEP0_WARN">
            <a:extLst>
              <a:ext uri="{FF2B5EF4-FFF2-40B4-BE49-F238E27FC236}">
                <a16:creationId xmlns:a16="http://schemas.microsoft.com/office/drawing/2014/main" id="{3D7ED1BE-3E01-4E1B-89EC-ECCAC69AEC98}"/>
              </a:ext>
            </a:extLst>
          </p:cNvPr>
          <p:cNvSpPr>
            <a:spLocks noGrp="1"/>
          </p:cNvSpPr>
          <p:nvPr/>
        </p:nvSpPr>
        <p:spPr>
          <a:xfrm>
            <a:off x="1000125" y="5448300"/>
            <a:ext cx="6334125" cy="666750"/>
          </a:xfrm>
          <a:prstGeom prst="roundRect">
            <a:avLst>
              <a:gd name="adj" fmla="val 11429"/>
            </a:avLst>
          </a:prstGeom>
          <a:solidFill>
            <a:srgbClr val="FDEBD9"/>
          </a:solidFill>
          <a:ln w="14288">
            <a:solidFill>
              <a:srgbClr val="B15E2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138A72"/>
                </a:solidFill>
                <a:latin typeface="Yu Gothic"/>
                <a:ea typeface="Yu Gothic"/>
                <a:cs typeface="Yu Gothic"/>
              </a:rPr>
              <a:t>確かめ方：</a:t>
            </a: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主型・答えるもの・型別に見るものの３つの解答欄が、設問の言葉と対応しているか確かめる。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E61D822D-D117-4C76-B681-1F6DACB800D2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D668F"/>
          </a:solidFill>
          <a:ln w="0">
            <a:solidFill>
              <a:srgbClr val="3D668F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問06　本文と問を見て、自分で３つの解答欄を決める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10ページ  34/50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3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4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5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3544A115-554F-4909-89F9-A421CBA31307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A5DDAB02-BB3E-498E-8BC1-17E37DE46F71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73F6ADDC-84E8-435D-9EB0-36BA230891B3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B833810-9E01-49F0-90F1-A4F59FDC014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C408BACA-4E7B-41C5-82C5-6599F8AB945C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E9C73CD-E24B-4532-B18F-E66C69FE945A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5EBABB2C-65A9-408D-800C-6B7EE37AC44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E30ACE43-636C-464E-A736-E311D54354B2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DCF46609-C50E-493D-ABFC-0926BC7D1483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34BFD9F2-C3AA-43DB-83CA-75713DBEE5BA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本文はありません。設問文だけから、答え方と本文で見る関係を決めます。</a:t>
            </a:r>
          </a:p>
        </p:txBody>
      </p:sp>
      <p:sp>
        <p:nvSpPr>
          <p:cNvPr id="50" name="SOURCE_TRACE_PANEL">
            <a:extLst>
              <a:ext uri="{FF2B5EF4-FFF2-40B4-BE49-F238E27FC236}">
                <a16:creationId xmlns:a16="http://schemas.microsoft.com/office/drawing/2014/main" id="{7B818317-C941-4542-832C-476F031D7519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404812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なし（このページは、設問文だけを読む練習です。）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【問06】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失敗した条件も記録するのはなぜか。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〔型別に見るもの〕</a:t>
            </a:r>
          </a:p>
        </p:txBody>
      </p:sp>
      <p:sp>
        <p:nvSpPr>
          <p:cNvPr id="55" name="VOCAB_HELP">
            <a:extLst>
              <a:ext uri="{FF2B5EF4-FFF2-40B4-BE49-F238E27FC236}">
                <a16:creationId xmlns:a16="http://schemas.microsoft.com/office/drawing/2014/main" id="{7FA713E4-9D0B-4B7E-B0C3-BCEB489C7484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9D4836"/>
          </a:solidFill>
          <a:ln w="0">
            <a:solidFill>
              <a:srgbClr val="9D4836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問06　答えと決め手のつながりを確認する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10ページ  35/50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8EBD7422-DE3A-488E-8EA5-8E56E8AE887C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D112064-A6E8-4166-BC77-3969190020D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AC73706-C468-40AF-8276-06F8419CFFDB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D01B732-695D-46C1-A2BA-FCCE26931C72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54996F9-91E6-4BE6-BF1D-A8DC08EEDD4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F0810A-8FA7-4908-9870-7F3A37B5525E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908B513A-79C3-4FFD-8906-6347F5E24A82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3C36A16-E061-413F-AB9F-A0B2F27A617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77AA83F1-649F-495B-BE9F-9F0680B6D30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8F56C545-B631-49C6-83FA-2A8A5C39AAB5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問いの最後の言葉の言葉から、主型・焦点・本文で見る場所を決めます。</a:t>
            </a:r>
          </a:p>
        </p:txBody>
      </p:sp>
      <p:sp>
        <p:nvSpPr>
          <p:cNvPr id="41" name="STEP0_MAIN">
            <a:extLst>
              <a:ext uri="{FF2B5EF4-FFF2-40B4-BE49-F238E27FC236}">
                <a16:creationId xmlns:a16="http://schemas.microsoft.com/office/drawing/2014/main" id="{EA708313-3931-4708-8CA8-F19E45327735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7096125" cy="1952625"/>
          </a:xfrm>
          <a:prstGeom prst="roundRect">
            <a:avLst>
              <a:gd name="adj" fmla="val 8421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なし（このページは、設問文だけを読む練習です。）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【問06】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失敗した条件も記録するのはなぜか。</a:t>
            </a:r>
          </a:p>
        </p:txBody>
      </p:sp>
      <p:sp>
        <p:nvSpPr>
          <p:cNvPr id="42" name="STEP0_どういうことか">
            <a:extLst>
              <a:ext uri="{FF2B5EF4-FFF2-40B4-BE49-F238E27FC236}">
                <a16:creationId xmlns:a16="http://schemas.microsoft.com/office/drawing/2014/main" id="{4BE7D15B-CAFE-401C-AB56-4FDF7486125F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主型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理由型</a:t>
            </a:r>
          </a:p>
        </p:txBody>
      </p:sp>
      <p:sp>
        <p:nvSpPr>
          <p:cNvPr id="43" name="STEP0_なぜか">
            <a:extLst>
              <a:ext uri="{FF2B5EF4-FFF2-40B4-BE49-F238E27FC236}">
                <a16:creationId xmlns:a16="http://schemas.microsoft.com/office/drawing/2014/main" id="{23C56A34-262F-4F09-A147-F747B9E428D8}"/>
              </a:ext>
            </a:extLst>
          </p:cNvPr>
          <p:cNvSpPr>
            <a:spLocks noGrp="1"/>
          </p:cNvSpPr>
          <p:nvPr/>
        </p:nvSpPr>
        <p:spPr>
          <a:xfrm>
            <a:off x="300037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条件も記録する理由・目的</a:t>
            </a:r>
          </a:p>
        </p:txBody>
      </p:sp>
      <p:sp>
        <p:nvSpPr>
          <p:cNvPr id="44" name="STEP0_どのような役割か">
            <a:extLst>
              <a:ext uri="{FF2B5EF4-FFF2-40B4-BE49-F238E27FC236}">
                <a16:creationId xmlns:a16="http://schemas.microsoft.com/office/drawing/2014/main" id="{60400D1A-58E2-40BB-ABB5-03CBF733C265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型別に見るもの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原因・条件・目的と因果の向き</a:t>
            </a:r>
          </a:p>
        </p:txBody>
      </p:sp>
      <p:sp>
        <p:nvSpPr>
          <p:cNvPr id="45" name="STEP0_最も適切なもの">
            <a:extLst>
              <a:ext uri="{FF2B5EF4-FFF2-40B4-BE49-F238E27FC236}">
                <a16:creationId xmlns:a16="http://schemas.microsoft.com/office/drawing/2014/main" id="{A9E69F94-9A92-4B8E-A2C2-582ABBB99DAD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7096125" cy="571500"/>
          </a:xfrm>
          <a:prstGeom prst="roundRect">
            <a:avLst>
              <a:gd name="adj" fmla="val 10256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理由型／条件も記録する理由・目的／原因・条件・目的と因果の向き</a:t>
            </a:r>
          </a:p>
        </p:txBody>
      </p:sp>
      <p:sp>
        <p:nvSpPr>
          <p:cNvPr id="46" name="STEP0_WARN">
            <a:extLst>
              <a:ext uri="{FF2B5EF4-FFF2-40B4-BE49-F238E27FC236}">
                <a16:creationId xmlns:a16="http://schemas.microsoft.com/office/drawing/2014/main" id="{3D7ED1BE-3E01-4E1B-89EC-ECCAC69AEC98}"/>
              </a:ext>
            </a:extLst>
          </p:cNvPr>
          <p:cNvSpPr>
            <a:spLocks noGrp="1"/>
          </p:cNvSpPr>
          <p:nvPr/>
        </p:nvSpPr>
        <p:spPr>
          <a:xfrm>
            <a:off x="1000125" y="5448300"/>
            <a:ext cx="6334125" cy="666750"/>
          </a:xfrm>
          <a:prstGeom prst="roundRect">
            <a:avLst>
              <a:gd name="adj" fmla="val 11429"/>
            </a:avLst>
          </a:prstGeom>
          <a:solidFill>
            <a:srgbClr val="FDEBD9"/>
          </a:solidFill>
          <a:ln w="14288">
            <a:solidFill>
              <a:srgbClr val="B15E2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138A72"/>
                </a:solidFill>
                <a:latin typeface="Yu Gothic"/>
                <a:ea typeface="Yu Gothic"/>
                <a:cs typeface="Yu Gothic"/>
              </a:rPr>
              <a:t>確かめ方：</a:t>
            </a: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主型・答えるもの・型別に見るものの３つの解答欄が、設問の言葉と対応しているか確かめる。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E61D822D-D117-4C76-B681-1F6DACB800D2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D668F"/>
          </a:solidFill>
          <a:ln w="0">
            <a:solidFill>
              <a:srgbClr val="3D668F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問07　本文と問を見て、自分で３つの解答欄を決める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10ページ  36/50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3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4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5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3544A115-554F-4909-89F9-A421CBA31307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A5DDAB02-BB3E-498E-8BC1-17E37DE46F71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73F6ADDC-84E8-435D-9EB0-36BA230891B3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B833810-9E01-49F0-90F1-A4F59FDC014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C408BACA-4E7B-41C5-82C5-6599F8AB945C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E9C73CD-E24B-4532-B18F-E66C69FE945A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5EBABB2C-65A9-408D-800C-6B7EE37AC44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E30ACE43-636C-464E-A736-E311D54354B2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DCF46609-C50E-493D-ABFC-0926BC7D1483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34BFD9F2-C3AA-43DB-83CA-75713DBEE5BA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本文はありません。設問文だけから、答え方と本文で見る関係を決めます。</a:t>
            </a:r>
          </a:p>
        </p:txBody>
      </p:sp>
      <p:sp>
        <p:nvSpPr>
          <p:cNvPr id="50" name="SOURCE_TRACE_PANEL">
            <a:extLst>
              <a:ext uri="{FF2B5EF4-FFF2-40B4-BE49-F238E27FC236}">
                <a16:creationId xmlns:a16="http://schemas.microsoft.com/office/drawing/2014/main" id="{7B818317-C941-4542-832C-476F031D7519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404812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なし（このページは、設問文だけを読む練習です。）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【問07】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ここで実験の例を挙げたのは、どのような役割を果たすためか。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〔型別に見るもの〕</a:t>
            </a:r>
          </a:p>
        </p:txBody>
      </p:sp>
      <p:sp>
        <p:nvSpPr>
          <p:cNvPr id="55" name="VOCAB_HELP">
            <a:extLst>
              <a:ext uri="{FF2B5EF4-FFF2-40B4-BE49-F238E27FC236}">
                <a16:creationId xmlns:a16="http://schemas.microsoft.com/office/drawing/2014/main" id="{AB861CE5-242D-4F22-95F3-82B0640D2B6E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9D4836"/>
          </a:solidFill>
          <a:ln w="0">
            <a:solidFill>
              <a:srgbClr val="9D4836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問07　答えと決め手のつながりを確認する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10ページ  37/50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8EBD7422-DE3A-488E-8EA5-8E56E8AE887C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D112064-A6E8-4166-BC77-3969190020D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AC73706-C468-40AF-8276-06F8419CFFDB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D01B732-695D-46C1-A2BA-FCCE26931C72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54996F9-91E6-4BE6-BF1D-A8DC08EEDD4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F0810A-8FA7-4908-9870-7F3A37B5525E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908B513A-79C3-4FFD-8906-6347F5E24A82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3C36A16-E061-413F-AB9F-A0B2F27A617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77AA83F1-649F-495B-BE9F-9F0680B6D30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8F56C545-B631-49C6-83FA-2A8A5C39AAB5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問いの最後の言葉の言葉から、主型・焦点・本文で見る場所を決めます。</a:t>
            </a:r>
          </a:p>
        </p:txBody>
      </p:sp>
      <p:sp>
        <p:nvSpPr>
          <p:cNvPr id="41" name="STEP0_MAIN">
            <a:extLst>
              <a:ext uri="{FF2B5EF4-FFF2-40B4-BE49-F238E27FC236}">
                <a16:creationId xmlns:a16="http://schemas.microsoft.com/office/drawing/2014/main" id="{EA708313-3931-4708-8CA8-F19E45327735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7096125" cy="1952625"/>
          </a:xfrm>
          <a:prstGeom prst="roundRect">
            <a:avLst>
              <a:gd name="adj" fmla="val 8421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なし（このページは、設問文だけを読む練習です。）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【問07】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ここで実験の例を挙げたのは、どのような役割を果たすためか。</a:t>
            </a:r>
          </a:p>
        </p:txBody>
      </p:sp>
      <p:sp>
        <p:nvSpPr>
          <p:cNvPr id="42" name="STEP0_どういうことか">
            <a:extLst>
              <a:ext uri="{FF2B5EF4-FFF2-40B4-BE49-F238E27FC236}">
                <a16:creationId xmlns:a16="http://schemas.microsoft.com/office/drawing/2014/main" id="{4BE7D15B-CAFE-401C-AB56-4FDF7486125F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主型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構成・役割型</a:t>
            </a:r>
          </a:p>
        </p:txBody>
      </p:sp>
      <p:sp>
        <p:nvSpPr>
          <p:cNvPr id="43" name="STEP0_なぜか">
            <a:extLst>
              <a:ext uri="{FF2B5EF4-FFF2-40B4-BE49-F238E27FC236}">
                <a16:creationId xmlns:a16="http://schemas.microsoft.com/office/drawing/2014/main" id="{23C56A34-262F-4F09-A147-F747B9E428D8}"/>
              </a:ext>
            </a:extLst>
          </p:cNvPr>
          <p:cNvSpPr>
            <a:spLocks noGrp="1"/>
          </p:cNvSpPr>
          <p:nvPr/>
        </p:nvSpPr>
        <p:spPr>
          <a:xfrm>
            <a:off x="300037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実験例が前後に果たす働き</a:t>
            </a:r>
          </a:p>
        </p:txBody>
      </p:sp>
      <p:sp>
        <p:nvSpPr>
          <p:cNvPr id="44" name="STEP0_どのような役割か">
            <a:extLst>
              <a:ext uri="{FF2B5EF4-FFF2-40B4-BE49-F238E27FC236}">
                <a16:creationId xmlns:a16="http://schemas.microsoft.com/office/drawing/2014/main" id="{60400D1A-58E2-40BB-ABB5-03CBF733C265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型別に見るもの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例と前後・具体と抽象</a:t>
            </a:r>
          </a:p>
        </p:txBody>
      </p:sp>
      <p:sp>
        <p:nvSpPr>
          <p:cNvPr id="45" name="STEP0_最も適切なもの">
            <a:extLst>
              <a:ext uri="{FF2B5EF4-FFF2-40B4-BE49-F238E27FC236}">
                <a16:creationId xmlns:a16="http://schemas.microsoft.com/office/drawing/2014/main" id="{A9E69F94-9A92-4B8E-A2C2-582ABBB99DAD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7096125" cy="571500"/>
          </a:xfrm>
          <a:prstGeom prst="roundRect">
            <a:avLst>
              <a:gd name="adj" fmla="val 10256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構成・役割型／実験例が前後に果たす働き／例と前後・具体と抽象</a:t>
            </a:r>
          </a:p>
        </p:txBody>
      </p:sp>
      <p:sp>
        <p:nvSpPr>
          <p:cNvPr id="46" name="STEP0_WARN">
            <a:extLst>
              <a:ext uri="{FF2B5EF4-FFF2-40B4-BE49-F238E27FC236}">
                <a16:creationId xmlns:a16="http://schemas.microsoft.com/office/drawing/2014/main" id="{3D7ED1BE-3E01-4E1B-89EC-ECCAC69AEC98}"/>
              </a:ext>
            </a:extLst>
          </p:cNvPr>
          <p:cNvSpPr>
            <a:spLocks noGrp="1"/>
          </p:cNvSpPr>
          <p:nvPr/>
        </p:nvSpPr>
        <p:spPr>
          <a:xfrm>
            <a:off x="1000125" y="5448300"/>
            <a:ext cx="6334125" cy="666750"/>
          </a:xfrm>
          <a:prstGeom prst="roundRect">
            <a:avLst>
              <a:gd name="adj" fmla="val 11429"/>
            </a:avLst>
          </a:prstGeom>
          <a:solidFill>
            <a:srgbClr val="FDEBD9"/>
          </a:solidFill>
          <a:ln w="14288">
            <a:solidFill>
              <a:srgbClr val="B15E2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138A72"/>
                </a:solidFill>
                <a:latin typeface="Yu Gothic"/>
                <a:ea typeface="Yu Gothic"/>
                <a:cs typeface="Yu Gothic"/>
              </a:rPr>
              <a:t>確かめ方：</a:t>
            </a: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主型・答えるもの・型別に見るものの３つの解答欄が、設問の言葉と対応しているか確かめる。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E61D822D-D117-4C76-B681-1F6DACB800D2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D668F"/>
          </a:solidFill>
          <a:ln w="0">
            <a:solidFill>
              <a:srgbClr val="3D668F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問08　本文と問を見て、自分で３つの解答欄を決める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10ページ  38/50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3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4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5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3544A115-554F-4909-89F9-A421CBA31307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A5DDAB02-BB3E-498E-8BC1-17E37DE46F71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73F6ADDC-84E8-435D-9EB0-36BA230891B3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B833810-9E01-49F0-90F1-A4F59FDC014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C408BACA-4E7B-41C5-82C5-6599F8AB945C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E9C73CD-E24B-4532-B18F-E66C69FE945A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5EBABB2C-65A9-408D-800C-6B7EE37AC44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E30ACE43-636C-464E-A736-E311D54354B2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DCF46609-C50E-493D-ABFC-0926BC7D1483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34BFD9F2-C3AA-43DB-83CA-75713DBEE5BA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本文はありません。設問文だけから、答え方と本文で見る関係を決めます。</a:t>
            </a:r>
          </a:p>
        </p:txBody>
      </p:sp>
      <p:sp>
        <p:nvSpPr>
          <p:cNvPr id="50" name="SOURCE_TRACE_PANEL">
            <a:extLst>
              <a:ext uri="{FF2B5EF4-FFF2-40B4-BE49-F238E27FC236}">
                <a16:creationId xmlns:a16="http://schemas.microsoft.com/office/drawing/2014/main" id="{7B818317-C941-4542-832C-476F031D7519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404812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なし（このページは、設問文だけを読む練習です。）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【問08】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本文で筆者が最も述べたいことは何か。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〔型別に見るもの〕</a:t>
            </a:r>
          </a:p>
        </p:txBody>
      </p:sp>
      <p:sp>
        <p:nvSpPr>
          <p:cNvPr id="55" name="VOCAB_HELP">
            <a:extLst>
              <a:ext uri="{FF2B5EF4-FFF2-40B4-BE49-F238E27FC236}">
                <a16:creationId xmlns:a16="http://schemas.microsoft.com/office/drawing/2014/main" id="{015885AE-9E4D-4471-8715-D8D930EE0D54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9D4836"/>
          </a:solidFill>
          <a:ln w="0">
            <a:solidFill>
              <a:srgbClr val="9D4836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問08　答えと決め手のつながりを確認する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10ページ  39/50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8EBD7422-DE3A-488E-8EA5-8E56E8AE887C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D112064-A6E8-4166-BC77-3969190020D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AC73706-C468-40AF-8276-06F8419CFFDB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D01B732-695D-46C1-A2BA-FCCE26931C72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54996F9-91E6-4BE6-BF1D-A8DC08EEDD4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F0810A-8FA7-4908-9870-7F3A37B5525E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908B513A-79C3-4FFD-8906-6347F5E24A82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3C36A16-E061-413F-AB9F-A0B2F27A617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77AA83F1-649F-495B-BE9F-9F0680B6D30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8F56C545-B631-49C6-83FA-2A8A5C39AAB5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問いの最後の言葉の言葉から、主型・焦点・本文で見る場所を決めます。</a:t>
            </a:r>
          </a:p>
        </p:txBody>
      </p:sp>
      <p:sp>
        <p:nvSpPr>
          <p:cNvPr id="41" name="STEP0_MAIN">
            <a:extLst>
              <a:ext uri="{FF2B5EF4-FFF2-40B4-BE49-F238E27FC236}">
                <a16:creationId xmlns:a16="http://schemas.microsoft.com/office/drawing/2014/main" id="{EA708313-3931-4708-8CA8-F19E45327735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7096125" cy="1952625"/>
          </a:xfrm>
          <a:prstGeom prst="roundRect">
            <a:avLst>
              <a:gd name="adj" fmla="val 8421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なし（このページは、設問文だけを読む練習です。）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【問08】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本文で筆者が最も述べたいことは何か。</a:t>
            </a:r>
          </a:p>
        </p:txBody>
      </p:sp>
      <p:sp>
        <p:nvSpPr>
          <p:cNvPr id="42" name="STEP0_どういうことか">
            <a:extLst>
              <a:ext uri="{FF2B5EF4-FFF2-40B4-BE49-F238E27FC236}">
                <a16:creationId xmlns:a16="http://schemas.microsoft.com/office/drawing/2014/main" id="{4BE7D15B-CAFE-401C-AB56-4FDF7486125F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主型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主張・要旨型</a:t>
            </a:r>
          </a:p>
        </p:txBody>
      </p:sp>
      <p:sp>
        <p:nvSpPr>
          <p:cNvPr id="43" name="STEP0_なぜか">
            <a:extLst>
              <a:ext uri="{FF2B5EF4-FFF2-40B4-BE49-F238E27FC236}">
                <a16:creationId xmlns:a16="http://schemas.microsoft.com/office/drawing/2014/main" id="{23C56A34-262F-4F09-A147-F747B9E428D8}"/>
              </a:ext>
            </a:extLst>
          </p:cNvPr>
          <p:cNvSpPr>
            <a:spLocks noGrp="1"/>
          </p:cNvSpPr>
          <p:nvPr/>
        </p:nvSpPr>
        <p:spPr>
          <a:xfrm>
            <a:off x="300037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本文全体の中心的判断</a:t>
            </a:r>
          </a:p>
        </p:txBody>
      </p:sp>
      <p:sp>
        <p:nvSpPr>
          <p:cNvPr id="44" name="STEP0_どのような役割か">
            <a:extLst>
              <a:ext uri="{FF2B5EF4-FFF2-40B4-BE49-F238E27FC236}">
                <a16:creationId xmlns:a16="http://schemas.microsoft.com/office/drawing/2014/main" id="{60400D1A-58E2-40BB-ABB5-03CBF733C265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型別に見るもの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全文・冒頭・結末・対比・反復</a:t>
            </a:r>
          </a:p>
        </p:txBody>
      </p:sp>
      <p:sp>
        <p:nvSpPr>
          <p:cNvPr id="45" name="STEP0_最も適切なもの">
            <a:extLst>
              <a:ext uri="{FF2B5EF4-FFF2-40B4-BE49-F238E27FC236}">
                <a16:creationId xmlns:a16="http://schemas.microsoft.com/office/drawing/2014/main" id="{A9E69F94-9A92-4B8E-A2C2-582ABBB99DAD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7096125" cy="571500"/>
          </a:xfrm>
          <a:prstGeom prst="roundRect">
            <a:avLst>
              <a:gd name="adj" fmla="val 10256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主張・要旨型／本文全体の中心的判断／全文・冒頭・結末・対比・反復</a:t>
            </a:r>
          </a:p>
        </p:txBody>
      </p:sp>
      <p:sp>
        <p:nvSpPr>
          <p:cNvPr id="46" name="STEP0_WARN">
            <a:extLst>
              <a:ext uri="{FF2B5EF4-FFF2-40B4-BE49-F238E27FC236}">
                <a16:creationId xmlns:a16="http://schemas.microsoft.com/office/drawing/2014/main" id="{3D7ED1BE-3E01-4E1B-89EC-ECCAC69AEC98}"/>
              </a:ext>
            </a:extLst>
          </p:cNvPr>
          <p:cNvSpPr>
            <a:spLocks noGrp="1"/>
          </p:cNvSpPr>
          <p:nvPr/>
        </p:nvSpPr>
        <p:spPr>
          <a:xfrm>
            <a:off x="1000125" y="5448300"/>
            <a:ext cx="6334125" cy="666750"/>
          </a:xfrm>
          <a:prstGeom prst="roundRect">
            <a:avLst>
              <a:gd name="adj" fmla="val 11429"/>
            </a:avLst>
          </a:prstGeom>
          <a:solidFill>
            <a:srgbClr val="FDEBD9"/>
          </a:solidFill>
          <a:ln w="14288">
            <a:solidFill>
              <a:srgbClr val="B15E2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138A72"/>
                </a:solidFill>
                <a:latin typeface="Yu Gothic"/>
                <a:ea typeface="Yu Gothic"/>
                <a:cs typeface="Yu Gothic"/>
              </a:rPr>
              <a:t>確かめ方：</a:t>
            </a: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主型・答えるもの・型別に見るものの３つの解答欄が、設問の言葉と対応しているか確かめる。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E61D822D-D117-4C76-B681-1F6DACB800D2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4A0B0E6-C27C-4487-9769-17E917439D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26B2C"/>
          </a:solidFill>
          <a:ln w="0">
            <a:solidFill>
              <a:srgbClr val="526B2C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A1614BB-B91D-4072-8042-C5DCE25E89CB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526B2C"/>
                </a:solidFill>
                <a:latin typeface="Yu Gothic"/>
                <a:ea typeface="Yu Gothic"/>
                <a:cs typeface="Yu Gothic"/>
              </a:rPr>
              <a:t>10ページ　問いの最後の言葉・焦点・本文で見る場所を確認する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8984686-1104-4E81-B356-DE528FB84E29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7FAF2"/>
          </a:solidFill>
          <a:ln w="11906">
            <a:solidFill>
              <a:srgbClr val="C7D7A5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526B2C"/>
                </a:solidFill>
                <a:latin typeface="Yu Gothic"/>
                <a:ea typeface="Yu Gothic"/>
                <a:cs typeface="Yu Gothic"/>
              </a:rPr>
              <a:t>10ページ  40/50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5333BFE-9B66-4946-A0A9-67CC0C527ED1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7FAF2"/>
          </a:solidFill>
          <a:ln w="11906">
            <a:solidFill>
              <a:srgbClr val="C7D7A5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9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0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1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1A8CDBF6-4B37-4E46-95A2-3B74B8D76CCE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E487CCB2-B777-4275-9833-5D8D77BDE3DA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11597E2D-2C2D-4992-BE1C-F213E1F46271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8BEE8878-EA3E-466E-8864-DC4C9FE84288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82D67AC5-973D-497F-8504-732E9FBCB560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B572678D-8AAA-4558-B842-F716D882F2EC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13512AF7-AC1E-4768-BFE9-21957EA3A791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C566BE1A-7FB0-4A43-83E0-F16DD2E9B79A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83D9580C-DC41-4692-98EB-D8FD22FF1A57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D9D29EE9-5005-491A-B0A8-DA8313472ECC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４つの問を比べ、問いの最後の言葉の違いで答え方が変わることを確かめます。</a:t>
            </a:r>
          </a:p>
        </p:txBody>
      </p:sp>
      <p:sp>
        <p:nvSpPr>
          <p:cNvPr id="44" name="CHOICE_OK">
            <a:extLst>
              <a:ext uri="{FF2B5EF4-FFF2-40B4-BE49-F238E27FC236}">
                <a16:creationId xmlns:a16="http://schemas.microsoft.com/office/drawing/2014/main" id="{E6F179E3-DD40-4DF1-9607-23807F382693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143250" cy="1476375"/>
          </a:xfrm>
          <a:prstGeom prst="roundRect">
            <a:avLst>
              <a:gd name="adj" fmla="val 9412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</a:pPr>
            <a:r>
              <a:rPr sz="160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問05〔答え〕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主型：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言い換え型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答えるもの：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傍線部と同じ内容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型別に見るもの：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定義・言い換え・具体と抽象</a:t>
            </a:r>
          </a:p>
        </p:txBody>
      </p:sp>
      <p:sp>
        <p:nvSpPr>
          <p:cNvPr id="45" name="CHOICE_ADD">
            <a:extLst>
              <a:ext uri="{FF2B5EF4-FFF2-40B4-BE49-F238E27FC236}">
                <a16:creationId xmlns:a16="http://schemas.microsoft.com/office/drawing/2014/main" id="{EB26D5AE-AA78-4624-B6F0-5D76EABD84F5}"/>
              </a:ext>
            </a:extLst>
          </p:cNvPr>
          <p:cNvSpPr>
            <a:spLocks noGrp="1"/>
          </p:cNvSpPr>
          <p:nvPr/>
        </p:nvSpPr>
        <p:spPr>
          <a:xfrm>
            <a:off x="4333875" y="1809750"/>
            <a:ext cx="3143250" cy="1476375"/>
          </a:xfrm>
          <a:prstGeom prst="roundRect">
            <a:avLst>
              <a:gd name="adj" fmla="val 9412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rmAutofit fontScale="92500" lnSpcReduction="10000"/>
          </a:bodyPr>
          <a:lstStyle/>
          <a:p>
            <a:pPr algn="l">
              <a:buNone/>
            </a:pPr>
            <a:r>
              <a:rPr sz="160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問06〔答え〕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主型：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理由型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答えるもの：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条件も記録する理由・目的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型別に見るもの：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原因・条件・目的と因果の向き</a:t>
            </a:r>
          </a:p>
        </p:txBody>
      </p:sp>
      <p:sp>
        <p:nvSpPr>
          <p:cNvPr id="46" name="CHOICE_REVERSE">
            <a:extLst>
              <a:ext uri="{FF2B5EF4-FFF2-40B4-BE49-F238E27FC236}">
                <a16:creationId xmlns:a16="http://schemas.microsoft.com/office/drawing/2014/main" id="{9E517808-5BF0-4A2D-9CF6-8D21B7A19017}"/>
              </a:ext>
            </a:extLst>
          </p:cNvPr>
          <p:cNvSpPr>
            <a:spLocks noGrp="1"/>
          </p:cNvSpPr>
          <p:nvPr/>
        </p:nvSpPr>
        <p:spPr>
          <a:xfrm>
            <a:off x="666750" y="3762375"/>
            <a:ext cx="3143250" cy="1476375"/>
          </a:xfrm>
          <a:prstGeom prst="roundRect">
            <a:avLst>
              <a:gd name="adj" fmla="val 9412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rmAutofit fontScale="92500" lnSpcReduction="10000"/>
          </a:bodyPr>
          <a:lstStyle/>
          <a:p>
            <a:pPr algn="l">
              <a:buNone/>
            </a:pPr>
            <a:r>
              <a:rPr sz="160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問07〔答え〕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主型：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構成・役割型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答えるもの：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実験例が前後に果たす働き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型別に見るもの：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例と前後・具体と抽象</a:t>
            </a:r>
          </a:p>
        </p:txBody>
      </p:sp>
      <p:sp>
        <p:nvSpPr>
          <p:cNvPr id="47" name="CHOICE_RULE">
            <a:extLst>
              <a:ext uri="{FF2B5EF4-FFF2-40B4-BE49-F238E27FC236}">
                <a16:creationId xmlns:a16="http://schemas.microsoft.com/office/drawing/2014/main" id="{8A74FC54-DD55-42E4-873D-A4C8DBE1E447}"/>
              </a:ext>
            </a:extLst>
          </p:cNvPr>
          <p:cNvSpPr>
            <a:spLocks noGrp="1"/>
          </p:cNvSpPr>
          <p:nvPr/>
        </p:nvSpPr>
        <p:spPr>
          <a:xfrm>
            <a:off x="4333875" y="3762375"/>
            <a:ext cx="3143250" cy="1476375"/>
          </a:xfrm>
          <a:prstGeom prst="roundRect">
            <a:avLst>
              <a:gd name="adj" fmla="val 12903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rmAutofit fontScale="92500" lnSpcReduction="10000"/>
          </a:bodyPr>
          <a:lstStyle/>
          <a:p>
            <a:pPr algn="l">
              <a:buNone/>
            </a:pP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問08〔答え〕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主型：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主張・要旨型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答えるもの：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本文全体の中心的判断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型別に見るもの：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全文・冒頭・結末・対比・反復</a:t>
            </a:r>
          </a:p>
        </p:txBody>
      </p:sp>
      <p:sp>
        <p:nvSpPr>
          <p:cNvPr id="51" name="VOCAB_HELP">
            <a:extLst>
              <a:ext uri="{FF2B5EF4-FFF2-40B4-BE49-F238E27FC236}">
                <a16:creationId xmlns:a16="http://schemas.microsoft.com/office/drawing/2014/main" id="{BA5ED33D-6572-4236-9CEA-B882DC526E7A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6952519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D668F"/>
          </a:solidFill>
          <a:ln w="0">
            <a:solidFill>
              <a:srgbClr val="3D668F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問09　本文と問を見て、自分で３つの解答欄を決める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11ページ  41/50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3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4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5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3544A115-554F-4909-89F9-A421CBA31307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A5DDAB02-BB3E-498E-8BC1-17E37DE46F71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73F6ADDC-84E8-435D-9EB0-36BA230891B3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B833810-9E01-49F0-90F1-A4F59FDC014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C408BACA-4E7B-41C5-82C5-6599F8AB945C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E9C73CD-E24B-4532-B18F-E66C69FE945A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5EBABB2C-65A9-408D-800C-6B7EE37AC44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E30ACE43-636C-464E-A736-E311D54354B2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DCF46609-C50E-493D-ABFC-0926BC7D1483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34BFD9F2-C3AA-43DB-83CA-75713DBEE5BA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本文はありません。設問文だけから、答え方と本文で見る関係を決めます。</a:t>
            </a:r>
          </a:p>
        </p:txBody>
      </p:sp>
      <p:sp>
        <p:nvSpPr>
          <p:cNvPr id="50" name="SOURCE_TRACE_PANEL">
            <a:extLst>
              <a:ext uri="{FF2B5EF4-FFF2-40B4-BE49-F238E27FC236}">
                <a16:creationId xmlns:a16="http://schemas.microsoft.com/office/drawing/2014/main" id="{7B818317-C941-4542-832C-476F031D7519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404812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なし（このページは、設問文だけを読む練習です。）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【問09】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『便利さは判断を消すことではない』とはどういうことか。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〔型別に見るもの〕</a:t>
            </a:r>
          </a:p>
        </p:txBody>
      </p:sp>
      <p:sp>
        <p:nvSpPr>
          <p:cNvPr id="55" name="VOCAB_HELP">
            <a:extLst>
              <a:ext uri="{FF2B5EF4-FFF2-40B4-BE49-F238E27FC236}">
                <a16:creationId xmlns:a16="http://schemas.microsoft.com/office/drawing/2014/main" id="{BBCDAA3B-AE9F-4CB8-989A-B94212C25779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9D4836"/>
          </a:solidFill>
          <a:ln w="0">
            <a:solidFill>
              <a:srgbClr val="9D4836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問09　答えと決め手のつながりを確認する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11ページ  42/50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8EBD7422-DE3A-488E-8EA5-8E56E8AE887C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D112064-A6E8-4166-BC77-3969190020D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AC73706-C468-40AF-8276-06F8419CFFDB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D01B732-695D-46C1-A2BA-FCCE26931C72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54996F9-91E6-4BE6-BF1D-A8DC08EEDD4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F0810A-8FA7-4908-9870-7F3A37B5525E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908B513A-79C3-4FFD-8906-6347F5E24A82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3C36A16-E061-413F-AB9F-A0B2F27A617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77AA83F1-649F-495B-BE9F-9F0680B6D30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8F56C545-B631-49C6-83FA-2A8A5C39AAB5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問いの最後の言葉の言葉から、主型・焦点・本文で見る場所を決めます。</a:t>
            </a:r>
          </a:p>
        </p:txBody>
      </p:sp>
      <p:sp>
        <p:nvSpPr>
          <p:cNvPr id="41" name="STEP0_MAIN">
            <a:extLst>
              <a:ext uri="{FF2B5EF4-FFF2-40B4-BE49-F238E27FC236}">
                <a16:creationId xmlns:a16="http://schemas.microsoft.com/office/drawing/2014/main" id="{EA708313-3931-4708-8CA8-F19E45327735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7096125" cy="1952625"/>
          </a:xfrm>
          <a:prstGeom prst="roundRect">
            <a:avLst>
              <a:gd name="adj" fmla="val 8421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なし（このページは、設問文だけを読む練習です。）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【問09】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『便利さは判断を消すことではない』とはどういうことか。</a:t>
            </a:r>
          </a:p>
        </p:txBody>
      </p:sp>
      <p:sp>
        <p:nvSpPr>
          <p:cNvPr id="42" name="STEP0_どういうことか">
            <a:extLst>
              <a:ext uri="{FF2B5EF4-FFF2-40B4-BE49-F238E27FC236}">
                <a16:creationId xmlns:a16="http://schemas.microsoft.com/office/drawing/2014/main" id="{4BE7D15B-CAFE-401C-AB56-4FDF7486125F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主型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言い換え型</a:t>
            </a:r>
          </a:p>
        </p:txBody>
      </p:sp>
      <p:sp>
        <p:nvSpPr>
          <p:cNvPr id="43" name="STEP0_なぜか">
            <a:extLst>
              <a:ext uri="{FF2B5EF4-FFF2-40B4-BE49-F238E27FC236}">
                <a16:creationId xmlns:a16="http://schemas.microsoft.com/office/drawing/2014/main" id="{23C56A34-262F-4F09-A147-F747B9E428D8}"/>
              </a:ext>
            </a:extLst>
          </p:cNvPr>
          <p:cNvSpPr>
            <a:spLocks noGrp="1"/>
          </p:cNvSpPr>
          <p:nvPr/>
        </p:nvSpPr>
        <p:spPr>
          <a:xfrm>
            <a:off x="300037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傍線部と同じ内容</a:t>
            </a:r>
          </a:p>
        </p:txBody>
      </p:sp>
      <p:sp>
        <p:nvSpPr>
          <p:cNvPr id="44" name="STEP0_どのような役割か">
            <a:extLst>
              <a:ext uri="{FF2B5EF4-FFF2-40B4-BE49-F238E27FC236}">
                <a16:creationId xmlns:a16="http://schemas.microsoft.com/office/drawing/2014/main" id="{60400D1A-58E2-40BB-ABB5-03CBF733C265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型別に見るもの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定義・対比・言い換え</a:t>
            </a:r>
          </a:p>
        </p:txBody>
      </p:sp>
      <p:sp>
        <p:nvSpPr>
          <p:cNvPr id="45" name="STEP0_最も適切なもの">
            <a:extLst>
              <a:ext uri="{FF2B5EF4-FFF2-40B4-BE49-F238E27FC236}">
                <a16:creationId xmlns:a16="http://schemas.microsoft.com/office/drawing/2014/main" id="{A9E69F94-9A92-4B8E-A2C2-582ABBB99DAD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7096125" cy="571500"/>
          </a:xfrm>
          <a:prstGeom prst="roundRect">
            <a:avLst>
              <a:gd name="adj" fmla="val 10256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言い換え型／傍線部と同じ内容／定義・対比・言い換え</a:t>
            </a:r>
          </a:p>
        </p:txBody>
      </p:sp>
      <p:sp>
        <p:nvSpPr>
          <p:cNvPr id="46" name="STEP0_WARN">
            <a:extLst>
              <a:ext uri="{FF2B5EF4-FFF2-40B4-BE49-F238E27FC236}">
                <a16:creationId xmlns:a16="http://schemas.microsoft.com/office/drawing/2014/main" id="{3D7ED1BE-3E01-4E1B-89EC-ECCAC69AEC98}"/>
              </a:ext>
            </a:extLst>
          </p:cNvPr>
          <p:cNvSpPr>
            <a:spLocks noGrp="1"/>
          </p:cNvSpPr>
          <p:nvPr/>
        </p:nvSpPr>
        <p:spPr>
          <a:xfrm>
            <a:off x="1000125" y="5448300"/>
            <a:ext cx="6334125" cy="666750"/>
          </a:xfrm>
          <a:prstGeom prst="roundRect">
            <a:avLst>
              <a:gd name="adj" fmla="val 11429"/>
            </a:avLst>
          </a:prstGeom>
          <a:solidFill>
            <a:srgbClr val="FDEBD9"/>
          </a:solidFill>
          <a:ln w="14288">
            <a:solidFill>
              <a:srgbClr val="B15E2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138A72"/>
                </a:solidFill>
                <a:latin typeface="Yu Gothic"/>
                <a:ea typeface="Yu Gothic"/>
                <a:cs typeface="Yu Gothic"/>
              </a:rPr>
              <a:t>確かめ方：</a:t>
            </a: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主型・答えるもの・型別に見るものの３つの解答欄が、設問の言葉と対応しているか確かめる。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E61D822D-D117-4C76-B681-1F6DACB800D2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D668F"/>
          </a:solidFill>
          <a:ln w="0">
            <a:solidFill>
              <a:srgbClr val="3D668F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問10　本文と問を見て、自分で３つの解答欄を決める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11ページ  43/50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3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4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5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3544A115-554F-4909-89F9-A421CBA31307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A5DDAB02-BB3E-498E-8BC1-17E37DE46F71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73F6ADDC-84E8-435D-9EB0-36BA230891B3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B833810-9E01-49F0-90F1-A4F59FDC014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C408BACA-4E7B-41C5-82C5-6599F8AB945C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E9C73CD-E24B-4532-B18F-E66C69FE945A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5EBABB2C-65A9-408D-800C-6B7EE37AC44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E30ACE43-636C-464E-A736-E311D54354B2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DCF46609-C50E-493D-ABFC-0926BC7D1483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34BFD9F2-C3AA-43DB-83CA-75713DBEE5BA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本文はありません。設問文だけから、答え方と本文で見る関係を決めます。</a:t>
            </a:r>
          </a:p>
        </p:txBody>
      </p:sp>
      <p:sp>
        <p:nvSpPr>
          <p:cNvPr id="50" name="SOURCE_TRACE_PANEL">
            <a:extLst>
              <a:ext uri="{FF2B5EF4-FFF2-40B4-BE49-F238E27FC236}">
                <a16:creationId xmlns:a16="http://schemas.microsoft.com/office/drawing/2014/main" id="{7B818317-C941-4542-832C-476F031D7519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404812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なし（このページは、設問文だけを読む練習です。）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【問10】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先に自分の考えを短く書くのはなぜか。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〔型別に見るもの〕</a:t>
            </a:r>
          </a:p>
        </p:txBody>
      </p:sp>
      <p:sp>
        <p:nvSpPr>
          <p:cNvPr id="55" name="VOCAB_HELP">
            <a:extLst>
              <a:ext uri="{FF2B5EF4-FFF2-40B4-BE49-F238E27FC236}">
                <a16:creationId xmlns:a16="http://schemas.microsoft.com/office/drawing/2014/main" id="{461AA4AB-2655-4017-86E3-49ED40812B3E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9D4836"/>
          </a:solidFill>
          <a:ln w="0">
            <a:solidFill>
              <a:srgbClr val="9D4836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問10　答えと決め手のつながりを確認する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11ページ  44/50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8EBD7422-DE3A-488E-8EA5-8E56E8AE887C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D112064-A6E8-4166-BC77-3969190020D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AC73706-C468-40AF-8276-06F8419CFFDB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D01B732-695D-46C1-A2BA-FCCE26931C72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54996F9-91E6-4BE6-BF1D-A8DC08EEDD4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F0810A-8FA7-4908-9870-7F3A37B5525E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908B513A-79C3-4FFD-8906-6347F5E24A82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3C36A16-E061-413F-AB9F-A0B2F27A617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77AA83F1-649F-495B-BE9F-9F0680B6D30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8F56C545-B631-49C6-83FA-2A8A5C39AAB5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問いの最後の言葉の言葉から、主型・焦点・本文で見る場所を決めます。</a:t>
            </a:r>
          </a:p>
        </p:txBody>
      </p:sp>
      <p:sp>
        <p:nvSpPr>
          <p:cNvPr id="41" name="STEP0_MAIN">
            <a:extLst>
              <a:ext uri="{FF2B5EF4-FFF2-40B4-BE49-F238E27FC236}">
                <a16:creationId xmlns:a16="http://schemas.microsoft.com/office/drawing/2014/main" id="{EA708313-3931-4708-8CA8-F19E45327735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7096125" cy="1952625"/>
          </a:xfrm>
          <a:prstGeom prst="roundRect">
            <a:avLst>
              <a:gd name="adj" fmla="val 8421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なし（このページは、設問文だけを読む練習です。）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【問10】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先に自分の考えを短く書くのはなぜか。</a:t>
            </a:r>
          </a:p>
        </p:txBody>
      </p:sp>
      <p:sp>
        <p:nvSpPr>
          <p:cNvPr id="42" name="STEP0_どういうことか">
            <a:extLst>
              <a:ext uri="{FF2B5EF4-FFF2-40B4-BE49-F238E27FC236}">
                <a16:creationId xmlns:a16="http://schemas.microsoft.com/office/drawing/2014/main" id="{4BE7D15B-CAFE-401C-AB56-4FDF7486125F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主型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理由型</a:t>
            </a:r>
          </a:p>
        </p:txBody>
      </p:sp>
      <p:sp>
        <p:nvSpPr>
          <p:cNvPr id="43" name="STEP0_なぜか">
            <a:extLst>
              <a:ext uri="{FF2B5EF4-FFF2-40B4-BE49-F238E27FC236}">
                <a16:creationId xmlns:a16="http://schemas.microsoft.com/office/drawing/2014/main" id="{23C56A34-262F-4F09-A147-F747B9E428D8}"/>
              </a:ext>
            </a:extLst>
          </p:cNvPr>
          <p:cNvSpPr>
            <a:spLocks noGrp="1"/>
          </p:cNvSpPr>
          <p:nvPr/>
        </p:nvSpPr>
        <p:spPr>
          <a:xfrm>
            <a:off x="300037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先に考えを書く理由・目的</a:t>
            </a:r>
          </a:p>
        </p:txBody>
      </p:sp>
      <p:sp>
        <p:nvSpPr>
          <p:cNvPr id="44" name="STEP0_どのような役割か">
            <a:extLst>
              <a:ext uri="{FF2B5EF4-FFF2-40B4-BE49-F238E27FC236}">
                <a16:creationId xmlns:a16="http://schemas.microsoft.com/office/drawing/2014/main" id="{60400D1A-58E2-40BB-ABB5-03CBF733C265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型別に見るもの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原因・条件・目的と因果の向き</a:t>
            </a:r>
          </a:p>
        </p:txBody>
      </p:sp>
      <p:sp>
        <p:nvSpPr>
          <p:cNvPr id="45" name="STEP0_最も適切なもの">
            <a:extLst>
              <a:ext uri="{FF2B5EF4-FFF2-40B4-BE49-F238E27FC236}">
                <a16:creationId xmlns:a16="http://schemas.microsoft.com/office/drawing/2014/main" id="{A9E69F94-9A92-4B8E-A2C2-582ABBB99DAD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7096125" cy="571500"/>
          </a:xfrm>
          <a:prstGeom prst="roundRect">
            <a:avLst>
              <a:gd name="adj" fmla="val 10256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理由型／先に考えを書く理由・目的／原因・条件・目的と因果の向き</a:t>
            </a:r>
          </a:p>
        </p:txBody>
      </p:sp>
      <p:sp>
        <p:nvSpPr>
          <p:cNvPr id="46" name="STEP0_WARN">
            <a:extLst>
              <a:ext uri="{FF2B5EF4-FFF2-40B4-BE49-F238E27FC236}">
                <a16:creationId xmlns:a16="http://schemas.microsoft.com/office/drawing/2014/main" id="{3D7ED1BE-3E01-4E1B-89EC-ECCAC69AEC98}"/>
              </a:ext>
            </a:extLst>
          </p:cNvPr>
          <p:cNvSpPr>
            <a:spLocks noGrp="1"/>
          </p:cNvSpPr>
          <p:nvPr/>
        </p:nvSpPr>
        <p:spPr>
          <a:xfrm>
            <a:off x="1000125" y="5448300"/>
            <a:ext cx="6334125" cy="666750"/>
          </a:xfrm>
          <a:prstGeom prst="roundRect">
            <a:avLst>
              <a:gd name="adj" fmla="val 11429"/>
            </a:avLst>
          </a:prstGeom>
          <a:solidFill>
            <a:srgbClr val="FDEBD9"/>
          </a:solidFill>
          <a:ln w="14288">
            <a:solidFill>
              <a:srgbClr val="B15E2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138A72"/>
                </a:solidFill>
                <a:latin typeface="Yu Gothic"/>
                <a:ea typeface="Yu Gothic"/>
                <a:cs typeface="Yu Gothic"/>
              </a:rPr>
              <a:t>確かめ方：</a:t>
            </a: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主型・答えるもの・型別に見るものの３つの解答欄が、設問の言葉と対応しているか確かめる。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E61D822D-D117-4C76-B681-1F6DACB800D2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D668F"/>
          </a:solidFill>
          <a:ln w="0">
            <a:solidFill>
              <a:srgbClr val="3D668F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問11　本文と問を見て、自分で３つの解答欄を決める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11ページ  45/50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3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4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5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3544A115-554F-4909-89F9-A421CBA31307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A5DDAB02-BB3E-498E-8BC1-17E37DE46F71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73F6ADDC-84E8-435D-9EB0-36BA230891B3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B833810-9E01-49F0-90F1-A4F59FDC014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C408BACA-4E7B-41C5-82C5-6599F8AB945C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E9C73CD-E24B-4532-B18F-E66C69FE945A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5EBABB2C-65A9-408D-800C-6B7EE37AC44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E30ACE43-636C-464E-A736-E311D54354B2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DCF46609-C50E-493D-ABFC-0926BC7D1483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34BFD9F2-C3AA-43DB-83CA-75713DBEE5BA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本文はありません。設問文だけから、答え方と本文で見る関係を決めます。</a:t>
            </a:r>
          </a:p>
        </p:txBody>
      </p:sp>
      <p:sp>
        <p:nvSpPr>
          <p:cNvPr id="50" name="SOURCE_TRACE_PANEL">
            <a:extLst>
              <a:ext uri="{FF2B5EF4-FFF2-40B4-BE49-F238E27FC236}">
                <a16:creationId xmlns:a16="http://schemas.microsoft.com/office/drawing/2014/main" id="{7B818317-C941-4542-832C-476F031D7519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404812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なし（このページは、設問文だけを読む練習です。）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【問11】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第三段落は文章全体の中でどのような役割を果たしているか。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〔型別に見るもの〕</a:t>
            </a:r>
          </a:p>
        </p:txBody>
      </p:sp>
      <p:sp>
        <p:nvSpPr>
          <p:cNvPr id="55" name="VOCAB_HELP">
            <a:extLst>
              <a:ext uri="{FF2B5EF4-FFF2-40B4-BE49-F238E27FC236}">
                <a16:creationId xmlns:a16="http://schemas.microsoft.com/office/drawing/2014/main" id="{B134A7DB-2513-4B4A-9107-4A78C5D415E4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9D4836"/>
          </a:solidFill>
          <a:ln w="0">
            <a:solidFill>
              <a:srgbClr val="9D4836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問11　答えと決め手のつながりを確認する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11ページ  46/50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8EBD7422-DE3A-488E-8EA5-8E56E8AE887C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D112064-A6E8-4166-BC77-3969190020D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AC73706-C468-40AF-8276-06F8419CFFDB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D01B732-695D-46C1-A2BA-FCCE26931C72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54996F9-91E6-4BE6-BF1D-A8DC08EEDD4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F0810A-8FA7-4908-9870-7F3A37B5525E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908B513A-79C3-4FFD-8906-6347F5E24A82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3C36A16-E061-413F-AB9F-A0B2F27A617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77AA83F1-649F-495B-BE9F-9F0680B6D30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8F56C545-B631-49C6-83FA-2A8A5C39AAB5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問いの最後の言葉の言葉から、主型・焦点・本文で見る場所を決めます。</a:t>
            </a:r>
          </a:p>
        </p:txBody>
      </p:sp>
      <p:sp>
        <p:nvSpPr>
          <p:cNvPr id="41" name="STEP0_MAIN">
            <a:extLst>
              <a:ext uri="{FF2B5EF4-FFF2-40B4-BE49-F238E27FC236}">
                <a16:creationId xmlns:a16="http://schemas.microsoft.com/office/drawing/2014/main" id="{EA708313-3931-4708-8CA8-F19E45327735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7096125" cy="1952625"/>
          </a:xfrm>
          <a:prstGeom prst="roundRect">
            <a:avLst>
              <a:gd name="adj" fmla="val 8421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なし（このページは、設問文だけを読む練習です。）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【問11】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第三段落は文章全体の中でどのような役割を果たしているか。</a:t>
            </a:r>
          </a:p>
        </p:txBody>
      </p:sp>
      <p:sp>
        <p:nvSpPr>
          <p:cNvPr id="42" name="STEP0_どういうことか">
            <a:extLst>
              <a:ext uri="{FF2B5EF4-FFF2-40B4-BE49-F238E27FC236}">
                <a16:creationId xmlns:a16="http://schemas.microsoft.com/office/drawing/2014/main" id="{4BE7D15B-CAFE-401C-AB56-4FDF7486125F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主型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構成・役割型</a:t>
            </a:r>
          </a:p>
        </p:txBody>
      </p:sp>
      <p:sp>
        <p:nvSpPr>
          <p:cNvPr id="43" name="STEP0_なぜか">
            <a:extLst>
              <a:ext uri="{FF2B5EF4-FFF2-40B4-BE49-F238E27FC236}">
                <a16:creationId xmlns:a16="http://schemas.microsoft.com/office/drawing/2014/main" id="{23C56A34-262F-4F09-A147-F747B9E428D8}"/>
              </a:ext>
            </a:extLst>
          </p:cNvPr>
          <p:cNvSpPr>
            <a:spLocks noGrp="1"/>
          </p:cNvSpPr>
          <p:nvPr/>
        </p:nvSpPr>
        <p:spPr>
          <a:xfrm>
            <a:off x="300037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第三段落が全体に果たす働き</a:t>
            </a:r>
          </a:p>
        </p:txBody>
      </p:sp>
      <p:sp>
        <p:nvSpPr>
          <p:cNvPr id="44" name="STEP0_どのような役割か">
            <a:extLst>
              <a:ext uri="{FF2B5EF4-FFF2-40B4-BE49-F238E27FC236}">
                <a16:creationId xmlns:a16="http://schemas.microsoft.com/office/drawing/2014/main" id="{60400D1A-58E2-40BB-ABB5-03CBF733C265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型別に見るもの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第三段落と前の段落・結論</a:t>
            </a:r>
          </a:p>
        </p:txBody>
      </p:sp>
      <p:sp>
        <p:nvSpPr>
          <p:cNvPr id="45" name="STEP0_最も適切なもの">
            <a:extLst>
              <a:ext uri="{FF2B5EF4-FFF2-40B4-BE49-F238E27FC236}">
                <a16:creationId xmlns:a16="http://schemas.microsoft.com/office/drawing/2014/main" id="{A9E69F94-9A92-4B8E-A2C2-582ABBB99DAD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7096125" cy="571500"/>
          </a:xfrm>
          <a:prstGeom prst="roundRect">
            <a:avLst>
              <a:gd name="adj" fmla="val 10256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構成・役割型／第三段落が全体に果たす働き／第三段落と前の段落・結論</a:t>
            </a:r>
          </a:p>
        </p:txBody>
      </p:sp>
      <p:sp>
        <p:nvSpPr>
          <p:cNvPr id="46" name="STEP0_WARN">
            <a:extLst>
              <a:ext uri="{FF2B5EF4-FFF2-40B4-BE49-F238E27FC236}">
                <a16:creationId xmlns:a16="http://schemas.microsoft.com/office/drawing/2014/main" id="{3D7ED1BE-3E01-4E1B-89EC-ECCAC69AEC98}"/>
              </a:ext>
            </a:extLst>
          </p:cNvPr>
          <p:cNvSpPr>
            <a:spLocks noGrp="1"/>
          </p:cNvSpPr>
          <p:nvPr/>
        </p:nvSpPr>
        <p:spPr>
          <a:xfrm>
            <a:off x="1000125" y="5448300"/>
            <a:ext cx="6334125" cy="666750"/>
          </a:xfrm>
          <a:prstGeom prst="roundRect">
            <a:avLst>
              <a:gd name="adj" fmla="val 11429"/>
            </a:avLst>
          </a:prstGeom>
          <a:solidFill>
            <a:srgbClr val="FDEBD9"/>
          </a:solidFill>
          <a:ln w="14288">
            <a:solidFill>
              <a:srgbClr val="B15E2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138A72"/>
                </a:solidFill>
                <a:latin typeface="Yu Gothic"/>
                <a:ea typeface="Yu Gothic"/>
                <a:cs typeface="Yu Gothic"/>
              </a:rPr>
              <a:t>確かめ方：</a:t>
            </a: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主型・答えるもの・型別に見るものの３つの解答欄が、設問の言葉と対応しているか確かめる。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E61D822D-D117-4C76-B681-1F6DACB800D2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D668F"/>
          </a:solidFill>
          <a:ln w="0">
            <a:solidFill>
              <a:srgbClr val="3D668F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問12　本文と問を見て、自分で３つの解答欄を決める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11ページ  47/50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5F9FD"/>
          </a:solidFill>
          <a:ln w="11906">
            <a:solidFill>
              <a:srgbClr val="A7C5E5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3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4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5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3544A115-554F-4909-89F9-A421CBA31307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A5DDAB02-BB3E-498E-8BC1-17E37DE46F71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73F6ADDC-84E8-435D-9EB0-36BA230891B3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B833810-9E01-49F0-90F1-A4F59FDC014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C408BACA-4E7B-41C5-82C5-6599F8AB945C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E9C73CD-E24B-4532-B18F-E66C69FE945A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5EBABB2C-65A9-408D-800C-6B7EE37AC447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E30ACE43-636C-464E-A736-E311D54354B2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DCF46609-C50E-493D-ABFC-0926BC7D1483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34BFD9F2-C3AA-43DB-83CA-75713DBEE5BA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本文はありません。設問文だけから、答え方と本文で見る関係を決めます。</a:t>
            </a:r>
          </a:p>
        </p:txBody>
      </p:sp>
      <p:sp>
        <p:nvSpPr>
          <p:cNvPr id="50" name="SOURCE_TRACE_PANEL">
            <a:extLst>
              <a:ext uri="{FF2B5EF4-FFF2-40B4-BE49-F238E27FC236}">
                <a16:creationId xmlns:a16="http://schemas.microsoft.com/office/drawing/2014/main" id="{7B818317-C941-4542-832C-476F031D7519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7734300" cy="4048125"/>
          </a:xfrm>
          <a:prstGeom prst="roundRect">
            <a:avLst>
              <a:gd name="adj" fmla="val 2823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なし（このページは、設問文だけを読む練習です。）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【問12】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筆者の考えとして最も適切なものはどれか。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〔主型〕　　　　　　〔答えるもの〕　　　　　　〔型別に見るもの〕</a:t>
            </a:r>
          </a:p>
        </p:txBody>
      </p:sp>
      <p:sp>
        <p:nvSpPr>
          <p:cNvPr id="55" name="VOCAB_HELP">
            <a:extLst>
              <a:ext uri="{FF2B5EF4-FFF2-40B4-BE49-F238E27FC236}">
                <a16:creationId xmlns:a16="http://schemas.microsoft.com/office/drawing/2014/main" id="{5EE5FE01-3A03-4976-AA37-AD010565AE68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9D4836"/>
          </a:solidFill>
          <a:ln w="0">
            <a:solidFill>
              <a:srgbClr val="9D4836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問12　答えと決め手のつながりを確認する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9D4836"/>
                </a:solidFill>
                <a:latin typeface="Yu Gothic"/>
                <a:ea typeface="Yu Gothic"/>
                <a:cs typeface="Yu Gothic"/>
              </a:rPr>
              <a:t>11ページ  48/50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FF7F5"/>
          </a:solidFill>
          <a:ln w="11906">
            <a:solidFill>
              <a:srgbClr val="E3AA9A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8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59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0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8EBD7422-DE3A-488E-8EA5-8E56E8AE887C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5D112064-A6E8-4166-BC77-3969190020D4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6AC73706-C468-40AF-8276-06F8419CFFDB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D01B732-695D-46C1-A2BA-FCCE26931C72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754996F9-91E6-4BE6-BF1D-A8DC08EEDD4D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E5F0810A-8FA7-4908-9870-7F3A37B5525E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908B513A-79C3-4FFD-8906-6347F5E24A82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93C36A16-E061-413F-AB9F-A0B2F27A617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77AA83F1-649F-495B-BE9F-9F0680B6D30D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8F56C545-B631-49C6-83FA-2A8A5C39AAB5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問いの最後の言葉の言葉から、主型・焦点・本文で見る場所を決めます。</a:t>
            </a:r>
          </a:p>
        </p:txBody>
      </p:sp>
      <p:sp>
        <p:nvSpPr>
          <p:cNvPr id="41" name="STEP0_MAIN">
            <a:extLst>
              <a:ext uri="{FF2B5EF4-FFF2-40B4-BE49-F238E27FC236}">
                <a16:creationId xmlns:a16="http://schemas.microsoft.com/office/drawing/2014/main" id="{EA708313-3931-4708-8CA8-F19E45327735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7096125" cy="1952625"/>
          </a:xfrm>
          <a:prstGeom prst="roundRect">
            <a:avLst>
              <a:gd name="adj" fmla="val 8421"/>
            </a:avLst>
          </a:prstGeom>
          <a:solidFill>
            <a:srgbClr val="FCFBF8"/>
          </a:solidFill>
          <a:ln w="14288">
            <a:solidFill>
              <a:srgbClr val="7C8793"/>
            </a:solidFill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2F747B"/>
                </a:solidFill>
                <a:latin typeface="游明朝"/>
                <a:ea typeface="游明朝"/>
                <a:cs typeface="游明朝"/>
              </a:rPr>
              <a:t>【本文】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なし（このページは、設問文だけを読む練習です。）</a:t>
            </a:r>
          </a:p>
          <a:p>
            <a:endParaRPr sz="1400" b="0">
              <a:solidFill>
                <a:srgbClr val="334F6D"/>
              </a:solidFill>
              <a:latin typeface="游明朝"/>
              <a:ea typeface="游明朝"/>
              <a:cs typeface="游明朝"/>
            </a:endParaRPr>
          </a:p>
          <a:p>
            <a:pPr algn="l">
              <a:buNone/>
            </a:pPr>
            <a:r>
              <a:rPr sz="1400" b="1">
                <a:solidFill>
                  <a:srgbClr val="3E6F9B"/>
                </a:solidFill>
                <a:latin typeface="游明朝"/>
                <a:ea typeface="游明朝"/>
                <a:cs typeface="游明朝"/>
              </a:rPr>
              <a:t>【問12】</a:t>
            </a:r>
          </a:p>
          <a:p>
            <a:pPr algn="l">
              <a:buNone/>
            </a:pPr>
            <a:r>
              <a:rPr sz="1400" b="0">
                <a:solidFill>
                  <a:srgbClr val="334F6D"/>
                </a:solidFill>
                <a:latin typeface="游明朝"/>
                <a:ea typeface="游明朝"/>
                <a:cs typeface="游明朝"/>
              </a:rPr>
              <a:t>筆者の考えとして最も適切なものはどれか。</a:t>
            </a:r>
          </a:p>
        </p:txBody>
      </p:sp>
      <p:sp>
        <p:nvSpPr>
          <p:cNvPr id="42" name="STEP0_どういうことか">
            <a:extLst>
              <a:ext uri="{FF2B5EF4-FFF2-40B4-BE49-F238E27FC236}">
                <a16:creationId xmlns:a16="http://schemas.microsoft.com/office/drawing/2014/main" id="{4BE7D15B-CAFE-401C-AB56-4FDF7486125F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主型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主張・要旨型</a:t>
            </a:r>
          </a:p>
        </p:txBody>
      </p:sp>
      <p:sp>
        <p:nvSpPr>
          <p:cNvPr id="43" name="STEP0_なぜか">
            <a:extLst>
              <a:ext uri="{FF2B5EF4-FFF2-40B4-BE49-F238E27FC236}">
                <a16:creationId xmlns:a16="http://schemas.microsoft.com/office/drawing/2014/main" id="{23C56A34-262F-4F09-A147-F747B9E428D8}"/>
              </a:ext>
            </a:extLst>
          </p:cNvPr>
          <p:cNvSpPr>
            <a:spLocks noGrp="1"/>
          </p:cNvSpPr>
          <p:nvPr/>
        </p:nvSpPr>
        <p:spPr>
          <a:xfrm>
            <a:off x="300037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筆者の中心的判断</a:t>
            </a:r>
          </a:p>
        </p:txBody>
      </p:sp>
      <p:sp>
        <p:nvSpPr>
          <p:cNvPr id="44" name="STEP0_どのような役割か">
            <a:extLst>
              <a:ext uri="{FF2B5EF4-FFF2-40B4-BE49-F238E27FC236}">
                <a16:creationId xmlns:a16="http://schemas.microsoft.com/office/drawing/2014/main" id="{60400D1A-58E2-40BB-ABB5-03CBF733C265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2190750" cy="1000125"/>
          </a:xfrm>
          <a:prstGeom prst="roundRect">
            <a:avLst>
              <a:gd name="adj" fmla="val 10256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型別に見るもの</a:t>
            </a:r>
          </a:p>
          <a:p>
            <a:pPr algn="ctr">
              <a:buNone/>
            </a:pP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全文・冒頭・結末・対比・反復</a:t>
            </a:r>
          </a:p>
        </p:txBody>
      </p:sp>
      <p:sp>
        <p:nvSpPr>
          <p:cNvPr id="45" name="STEP0_最も適切なもの">
            <a:extLst>
              <a:ext uri="{FF2B5EF4-FFF2-40B4-BE49-F238E27FC236}">
                <a16:creationId xmlns:a16="http://schemas.microsoft.com/office/drawing/2014/main" id="{A9E69F94-9A92-4B8E-A2C2-582ABBB99DAD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7096125" cy="571500"/>
          </a:xfrm>
          <a:prstGeom prst="roundRect">
            <a:avLst>
              <a:gd name="adj" fmla="val 10256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【答え】</a:t>
            </a: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主張・要旨型／筆者の中心的判断／全文・冒頭・結末・対比・反復</a:t>
            </a:r>
          </a:p>
        </p:txBody>
      </p:sp>
      <p:sp>
        <p:nvSpPr>
          <p:cNvPr id="46" name="STEP0_WARN">
            <a:extLst>
              <a:ext uri="{FF2B5EF4-FFF2-40B4-BE49-F238E27FC236}">
                <a16:creationId xmlns:a16="http://schemas.microsoft.com/office/drawing/2014/main" id="{3D7ED1BE-3E01-4E1B-89EC-ECCAC69AEC98}"/>
              </a:ext>
            </a:extLst>
          </p:cNvPr>
          <p:cNvSpPr>
            <a:spLocks noGrp="1"/>
          </p:cNvSpPr>
          <p:nvPr/>
        </p:nvSpPr>
        <p:spPr>
          <a:xfrm>
            <a:off x="1000125" y="5448300"/>
            <a:ext cx="6334125" cy="666750"/>
          </a:xfrm>
          <a:prstGeom prst="roundRect">
            <a:avLst>
              <a:gd name="adj" fmla="val 11429"/>
            </a:avLst>
          </a:prstGeom>
          <a:solidFill>
            <a:srgbClr val="FDEBD9"/>
          </a:solidFill>
          <a:ln w="14288">
            <a:solidFill>
              <a:srgbClr val="B15E2B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650" b="1">
                <a:solidFill>
                  <a:srgbClr val="138A72"/>
                </a:solidFill>
                <a:latin typeface="Yu Gothic"/>
                <a:ea typeface="Yu Gothic"/>
                <a:cs typeface="Yu Gothic"/>
              </a:rPr>
              <a:t>確かめ方：</a:t>
            </a:r>
            <a:r>
              <a:rPr sz="155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主型・答えるもの・型別に見るものの３つの解答欄が、設問の言葉と対応しているか確かめる。</a:t>
            </a:r>
          </a:p>
        </p:txBody>
      </p:sp>
      <p:sp>
        <p:nvSpPr>
          <p:cNvPr id="50" name="VOCAB_HELP">
            <a:extLst>
              <a:ext uri="{FF2B5EF4-FFF2-40B4-BE49-F238E27FC236}">
                <a16:creationId xmlns:a16="http://schemas.microsoft.com/office/drawing/2014/main" id="{E61D822D-D117-4C76-B681-1F6DACB800D2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12766"/>
            </a:avLst>
          </a:prstGeom>
          <a:solidFill>
            <a:srgbClr val="F3FAF7"/>
          </a:solidFill>
          <a:ln w="9525">
            <a:solidFill>
              <a:srgbClr val="B8DCDD"/>
            </a:solidFill>
            <a:prstDash val="solid"/>
          </a:ln>
        </p:spPr>
        <p:txBody>
          <a:bodyPr lIns="85725" tIns="47625" rIns="85725" bIns="47625" anchor="t">
            <a:normAutofit/>
          </a:bodyPr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4A0B0E6-C27C-4487-9769-17E917439D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26B2C"/>
          </a:solidFill>
          <a:ln w="0">
            <a:solidFill>
              <a:srgbClr val="526B2C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A1614BB-B91D-4072-8042-C5DCE25E89CB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526B2C"/>
                </a:solidFill>
                <a:latin typeface="Yu Gothic"/>
                <a:ea typeface="Yu Gothic"/>
                <a:cs typeface="Yu Gothic"/>
              </a:rPr>
              <a:t>11ページ　問いの最後の言葉・焦点・本文で見る場所を確認する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8984686-1104-4E81-B356-DE528FB84E29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7FAF2"/>
          </a:solidFill>
          <a:ln w="11906">
            <a:solidFill>
              <a:srgbClr val="C7D7A5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526B2C"/>
                </a:solidFill>
                <a:latin typeface="Yu Gothic"/>
                <a:ea typeface="Yu Gothic"/>
                <a:cs typeface="Yu Gothic"/>
              </a:rPr>
              <a:t>11ページ  49/50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5333BFE-9B66-4946-A0A9-67CC0C527ED1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7FAF2"/>
          </a:solidFill>
          <a:ln w="11906">
            <a:solidFill>
              <a:srgbClr val="C7D7A5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59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0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1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1A8CDBF6-4B37-4E46-95A2-3B74B8D76CCE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E487CCB2-B777-4275-9833-5D8D77BDE3DA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11597E2D-2C2D-4992-BE1C-F213E1F46271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8BEE8878-EA3E-466E-8864-DC4C9FE84288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82D67AC5-973D-497F-8504-732E9FBCB560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B572678D-8AAA-4558-B842-F716D882F2EC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EEF6F5"/>
          </a:solidFill>
          <a:ln w="11906">
            <a:solidFill>
              <a:srgbClr val="B8DCDD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13512AF7-AC1E-4768-BFE9-21957EA3A791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C566BE1A-7FB0-4A43-83E0-F16DD2E9B79A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83D9580C-DC41-4692-98EB-D8FD22FF1A57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D9D29EE9-5005-491A-B0A8-DA8313472ECC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４つの問を比べ、問いの最後の言葉の違いで答え方が変わることを確かめます。</a:t>
            </a:r>
          </a:p>
        </p:txBody>
      </p:sp>
      <p:sp>
        <p:nvSpPr>
          <p:cNvPr id="44" name="CHOICE_OK">
            <a:extLst>
              <a:ext uri="{FF2B5EF4-FFF2-40B4-BE49-F238E27FC236}">
                <a16:creationId xmlns:a16="http://schemas.microsoft.com/office/drawing/2014/main" id="{E6F179E3-DD40-4DF1-9607-23807F382693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143250" cy="1476375"/>
          </a:xfrm>
          <a:prstGeom prst="roundRect">
            <a:avLst>
              <a:gd name="adj" fmla="val 9412"/>
            </a:avLst>
          </a:prstGeom>
          <a:solidFill>
            <a:srgbClr val="EAF6F0"/>
          </a:solidFill>
          <a:ln w="14288">
            <a:solidFill>
              <a:srgbClr val="91C7AE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</a:pPr>
            <a:r>
              <a:rPr sz="1600" b="1">
                <a:solidFill>
                  <a:srgbClr val="2F6E5A"/>
                </a:solidFill>
                <a:latin typeface="Yu Gothic"/>
                <a:ea typeface="Yu Gothic"/>
                <a:cs typeface="Yu Gothic"/>
              </a:rPr>
              <a:t>問09〔答え〕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主型：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言い換え型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答えるもの：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傍線部と同じ内容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型別に見るもの：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定義・対比・言い換え</a:t>
            </a:r>
          </a:p>
        </p:txBody>
      </p:sp>
      <p:sp>
        <p:nvSpPr>
          <p:cNvPr id="45" name="CHOICE_ADD">
            <a:extLst>
              <a:ext uri="{FF2B5EF4-FFF2-40B4-BE49-F238E27FC236}">
                <a16:creationId xmlns:a16="http://schemas.microsoft.com/office/drawing/2014/main" id="{EB26D5AE-AA78-4624-B6F0-5D76EABD84F5}"/>
              </a:ext>
            </a:extLst>
          </p:cNvPr>
          <p:cNvSpPr>
            <a:spLocks noGrp="1"/>
          </p:cNvSpPr>
          <p:nvPr/>
        </p:nvSpPr>
        <p:spPr>
          <a:xfrm>
            <a:off x="4333875" y="1809750"/>
            <a:ext cx="3143250" cy="1476375"/>
          </a:xfrm>
          <a:prstGeom prst="roundRect">
            <a:avLst>
              <a:gd name="adj" fmla="val 9412"/>
            </a:avLst>
          </a:prstGeom>
          <a:solidFill>
            <a:srgbClr val="FFF4D8"/>
          </a:solidFill>
          <a:ln w="14288">
            <a:solidFill>
              <a:srgbClr val="E7C36F"/>
            </a:solidFill>
            <a:prstDash val="solid"/>
          </a:ln>
        </p:spPr>
        <p:txBody>
          <a:bodyPr wrap="square" lIns="57150" tIns="38100" rIns="57150" bIns="38100" anchor="ctr">
            <a:normAutofit fontScale="92500" lnSpcReduction="10000"/>
          </a:bodyPr>
          <a:lstStyle/>
          <a:p>
            <a:pPr algn="l">
              <a:buNone/>
            </a:pPr>
            <a:r>
              <a:rPr sz="1600" b="1">
                <a:solidFill>
                  <a:srgbClr val="8A5A14"/>
                </a:solidFill>
                <a:latin typeface="Yu Gothic"/>
                <a:ea typeface="Yu Gothic"/>
                <a:cs typeface="Yu Gothic"/>
              </a:rPr>
              <a:t>問10〔答え〕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主型：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理由型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答えるもの：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先に考えを書く理由・目的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型別に見るもの：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原因・条件・目的と因果の向き</a:t>
            </a:r>
          </a:p>
        </p:txBody>
      </p:sp>
      <p:sp>
        <p:nvSpPr>
          <p:cNvPr id="46" name="CHOICE_REVERSE">
            <a:extLst>
              <a:ext uri="{FF2B5EF4-FFF2-40B4-BE49-F238E27FC236}">
                <a16:creationId xmlns:a16="http://schemas.microsoft.com/office/drawing/2014/main" id="{9E517808-5BF0-4A2D-9CF6-8D21B7A19017}"/>
              </a:ext>
            </a:extLst>
          </p:cNvPr>
          <p:cNvSpPr>
            <a:spLocks noGrp="1"/>
          </p:cNvSpPr>
          <p:nvPr/>
        </p:nvSpPr>
        <p:spPr>
          <a:xfrm>
            <a:off x="666750" y="3762375"/>
            <a:ext cx="3143250" cy="1476375"/>
          </a:xfrm>
          <a:prstGeom prst="roundRect">
            <a:avLst>
              <a:gd name="adj" fmla="val 9412"/>
            </a:avLst>
          </a:prstGeom>
          <a:solidFill>
            <a:srgbClr val="E7F1FB"/>
          </a:solidFill>
          <a:ln w="14288">
            <a:solidFill>
              <a:srgbClr val="A7C5E5"/>
            </a:solidFill>
            <a:prstDash val="solid"/>
          </a:ln>
        </p:spPr>
        <p:txBody>
          <a:bodyPr wrap="square" lIns="57150" tIns="38100" rIns="57150" bIns="38100" anchor="ctr">
            <a:normAutofit fontScale="92500" lnSpcReduction="10000"/>
          </a:bodyPr>
          <a:lstStyle/>
          <a:p>
            <a:pPr algn="l">
              <a:buNone/>
            </a:pPr>
            <a:r>
              <a:rPr sz="1600" b="1">
                <a:solidFill>
                  <a:srgbClr val="3D668F"/>
                </a:solidFill>
                <a:latin typeface="Yu Gothic"/>
                <a:ea typeface="Yu Gothic"/>
                <a:cs typeface="Yu Gothic"/>
              </a:rPr>
              <a:t>問11〔答え〕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主型：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構成・役割型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答えるもの：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第三段落が全体に果たす働き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型別に見るもの：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第三段落と前の段落・結論</a:t>
            </a:r>
          </a:p>
        </p:txBody>
      </p:sp>
      <p:sp>
        <p:nvSpPr>
          <p:cNvPr id="47" name="CHOICE_RULE">
            <a:extLst>
              <a:ext uri="{FF2B5EF4-FFF2-40B4-BE49-F238E27FC236}">
                <a16:creationId xmlns:a16="http://schemas.microsoft.com/office/drawing/2014/main" id="{8A74FC54-DD55-42E4-873D-A4C8DBE1E447}"/>
              </a:ext>
            </a:extLst>
          </p:cNvPr>
          <p:cNvSpPr>
            <a:spLocks noGrp="1"/>
          </p:cNvSpPr>
          <p:nvPr/>
        </p:nvSpPr>
        <p:spPr>
          <a:xfrm>
            <a:off x="4333875" y="3762375"/>
            <a:ext cx="3143250" cy="1476375"/>
          </a:xfrm>
          <a:prstGeom prst="roundRect">
            <a:avLst>
              <a:gd name="adj" fmla="val 12903"/>
            </a:avLst>
          </a:prstGeom>
          <a:solidFill>
            <a:srgbClr val="F2ECFA"/>
          </a:solidFill>
          <a:ln w="14288">
            <a:solidFill>
              <a:srgbClr val="C9B4DF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</a:pPr>
            <a:r>
              <a:rPr sz="1600" b="1">
                <a:solidFill>
                  <a:srgbClr val="6C4E8A"/>
                </a:solidFill>
                <a:latin typeface="Yu Gothic"/>
                <a:ea typeface="Yu Gothic"/>
                <a:cs typeface="Yu Gothic"/>
              </a:rPr>
              <a:t>問12〔答え〕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主型：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主張・要旨型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答えるもの：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筆者の中心的判断</a:t>
            </a:r>
          </a:p>
          <a:p>
            <a:pPr algn="l">
              <a:buNone/>
            </a:pPr>
            <a:r>
              <a:rPr sz="160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型別に見るもの：</a:t>
            </a:r>
            <a:r>
              <a:rPr sz="1600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全文・冒頭・結末・対比・反復</a:t>
            </a:r>
          </a:p>
        </p:txBody>
      </p:sp>
      <p:sp>
        <p:nvSpPr>
          <p:cNvPr id="51" name="VOCAB_HELP">
            <a:extLst>
              <a:ext uri="{FF2B5EF4-FFF2-40B4-BE49-F238E27FC236}">
                <a16:creationId xmlns:a16="http://schemas.microsoft.com/office/drawing/2014/main" id="{E0EA5A6D-3751-4B8A-A340-AB40C7A8A6D8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6952519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A13735C-997B-42D5-8367-804D77E276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26B2C"/>
          </a:solidFill>
          <a:ln w="0">
            <a:solidFill>
              <a:srgbClr val="526B2C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B52F31-969A-48E1-8BDD-DF4C1C150396}"/>
              </a:ext>
            </a:extLst>
          </p:cNvPr>
          <p:cNvSpPr>
            <a:spLocks noGrp="1"/>
          </p:cNvSpPr>
          <p:nvPr/>
        </p:nvSpPr>
        <p:spPr>
          <a:xfrm>
            <a:off x="324041" y="144018"/>
            <a:ext cx="9288018" cy="485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2400" b="1">
                <a:solidFill>
                  <a:srgbClr val="526B2C"/>
                </a:solidFill>
                <a:latin typeface="Yu Gothic"/>
                <a:ea typeface="Yu Gothic"/>
                <a:cs typeface="Yu Gothic"/>
              </a:rPr>
              <a:t>まとめ　問の言葉を手がかりに本文へ戻る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FDB8E10-A8DA-4370-85A2-7677F522081F}"/>
              </a:ext>
            </a:extLst>
          </p:cNvPr>
          <p:cNvSpPr>
            <a:spLocks noGrp="1"/>
          </p:cNvSpPr>
          <p:nvPr/>
        </p:nvSpPr>
        <p:spPr>
          <a:xfrm>
            <a:off x="9719977" y="216027"/>
            <a:ext cx="2159984" cy="360045"/>
          </a:xfrm>
          <a:prstGeom prst="roundRect">
            <a:avLst>
              <a:gd name="adj" fmla="val 0"/>
            </a:avLst>
          </a:prstGeom>
          <a:solidFill>
            <a:srgbClr val="F7FAF2"/>
          </a:solidFill>
          <a:ln w="11906">
            <a:solidFill>
              <a:srgbClr val="C7D7A5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30" b="1">
                <a:solidFill>
                  <a:srgbClr val="526B2C"/>
                </a:solidFill>
                <a:latin typeface="Yu Gothic"/>
                <a:ea typeface="Yu Gothic"/>
                <a:cs typeface="Yu Gothic"/>
              </a:rPr>
              <a:t>7～11ページ  50/50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8BFFB3E-128E-481B-BB22-324294390F7D}"/>
              </a:ext>
            </a:extLst>
          </p:cNvPr>
          <p:cNvSpPr>
            <a:spLocks noGrp="1"/>
          </p:cNvSpPr>
          <p:nvPr/>
        </p:nvSpPr>
        <p:spPr>
          <a:xfrm>
            <a:off x="266700" y="838200"/>
            <a:ext cx="7981950" cy="5619750"/>
          </a:xfrm>
          <a:prstGeom prst="roundRect">
            <a:avLst>
              <a:gd name="adj" fmla="val 1754"/>
            </a:avLst>
          </a:prstGeom>
          <a:solidFill>
            <a:srgbClr val="F7FAF2"/>
          </a:solidFill>
          <a:ln w="11906">
            <a:solidFill>
              <a:srgbClr val="C7D7A5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endParaRPr/>
          </a:p>
        </p:txBody>
      </p:sp>
      <p:pic>
        <p:nvPicPr>
          <p:cNvPr id="67" name="CHAR_BU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11813" y="4621911"/>
            <a:ext cx="1190625" cy="1572482"/>
          </a:xfrm>
          <a:prstGeom prst="rect">
            <a:avLst/>
          </a:prstGeom>
        </p:spPr>
      </p:pic>
      <p:pic>
        <p:nvPicPr>
          <p:cNvPr id="68" name="CHAR_TEACHER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2625" y="4657725"/>
            <a:ext cx="1190625" cy="1404938"/>
          </a:xfrm>
          <a:prstGeom prst="rect">
            <a:avLst/>
          </a:prstGeom>
        </p:spPr>
      </p:pic>
      <p:pic>
        <p:nvPicPr>
          <p:cNvPr id="69" name="CHAR_KASHI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39438" y="4667250"/>
            <a:ext cx="1119188" cy="1500188"/>
          </a:xfrm>
          <a:prstGeom prst="rect">
            <a:avLst/>
          </a:prstGeom>
        </p:spPr>
      </p:pic>
      <p:sp>
        <p:nvSpPr>
          <p:cNvPr id="31" name="PIPELINE_0">
            <a:extLst>
              <a:ext uri="{FF2B5EF4-FFF2-40B4-BE49-F238E27FC236}">
                <a16:creationId xmlns:a16="http://schemas.microsoft.com/office/drawing/2014/main" id="{11D5A5A4-DCAE-4251-B08C-F7D537C6C091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⓪ 設問</a:t>
            </a:r>
          </a:p>
        </p:txBody>
      </p:sp>
      <p:sp>
        <p:nvSpPr>
          <p:cNvPr id="32" name="PIPELINE_1">
            <a:extLst>
              <a:ext uri="{FF2B5EF4-FFF2-40B4-BE49-F238E27FC236}">
                <a16:creationId xmlns:a16="http://schemas.microsoft.com/office/drawing/2014/main" id="{4832CDB4-7547-4B70-A40B-2FB645B6B266}"/>
              </a:ext>
            </a:extLst>
          </p:cNvPr>
          <p:cNvSpPr>
            <a:spLocks noGrp="1"/>
          </p:cNvSpPr>
          <p:nvPr/>
        </p:nvSpPr>
        <p:spPr>
          <a:xfrm>
            <a:off x="15621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① 主型</a:t>
            </a:r>
          </a:p>
        </p:txBody>
      </p:sp>
      <p:sp>
        <p:nvSpPr>
          <p:cNvPr id="33" name="PIPELINE_2">
            <a:extLst>
              <a:ext uri="{FF2B5EF4-FFF2-40B4-BE49-F238E27FC236}">
                <a16:creationId xmlns:a16="http://schemas.microsoft.com/office/drawing/2014/main" id="{35F27197-534A-49E0-A533-DB6D81502A4A}"/>
              </a:ext>
            </a:extLst>
          </p:cNvPr>
          <p:cNvSpPr>
            <a:spLocks noGrp="1"/>
          </p:cNvSpPr>
          <p:nvPr/>
        </p:nvSpPr>
        <p:spPr>
          <a:xfrm>
            <a:off x="26670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② 焦点</a:t>
            </a:r>
          </a:p>
        </p:txBody>
      </p:sp>
      <p:sp>
        <p:nvSpPr>
          <p:cNvPr id="34" name="PIPELINE_3">
            <a:extLst>
              <a:ext uri="{FF2B5EF4-FFF2-40B4-BE49-F238E27FC236}">
                <a16:creationId xmlns:a16="http://schemas.microsoft.com/office/drawing/2014/main" id="{D63194F2-0BD4-4DB8-BFC9-6C15E9F43521}"/>
              </a:ext>
            </a:extLst>
          </p:cNvPr>
          <p:cNvSpPr>
            <a:spLocks noGrp="1"/>
          </p:cNvSpPr>
          <p:nvPr/>
        </p:nvSpPr>
        <p:spPr>
          <a:xfrm>
            <a:off x="37719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型別</a:t>
            </a:r>
          </a:p>
        </p:txBody>
      </p:sp>
      <p:sp>
        <p:nvSpPr>
          <p:cNvPr id="35" name="PIPELINE_4">
            <a:extLst>
              <a:ext uri="{FF2B5EF4-FFF2-40B4-BE49-F238E27FC236}">
                <a16:creationId xmlns:a16="http://schemas.microsoft.com/office/drawing/2014/main" id="{9B959C2B-44B4-47A2-9C01-4A82B2CD9968}"/>
              </a:ext>
            </a:extLst>
          </p:cNvPr>
          <p:cNvSpPr>
            <a:spLocks noGrp="1"/>
          </p:cNvSpPr>
          <p:nvPr/>
        </p:nvSpPr>
        <p:spPr>
          <a:xfrm>
            <a:off x="48768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③ 根拠</a:t>
            </a:r>
          </a:p>
        </p:txBody>
      </p:sp>
      <p:sp>
        <p:nvSpPr>
          <p:cNvPr id="36" name="PIPELINE_5">
            <a:extLst>
              <a:ext uri="{FF2B5EF4-FFF2-40B4-BE49-F238E27FC236}">
                <a16:creationId xmlns:a16="http://schemas.microsoft.com/office/drawing/2014/main" id="{F356372B-DEA2-48EC-AF24-31A813946C62}"/>
              </a:ext>
            </a:extLst>
          </p:cNvPr>
          <p:cNvSpPr>
            <a:spLocks noGrp="1"/>
          </p:cNvSpPr>
          <p:nvPr/>
        </p:nvSpPr>
        <p:spPr>
          <a:xfrm>
            <a:off x="59817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④ 核</a:t>
            </a:r>
          </a:p>
        </p:txBody>
      </p:sp>
      <p:sp>
        <p:nvSpPr>
          <p:cNvPr id="37" name="PIPELINE_6">
            <a:extLst>
              <a:ext uri="{FF2B5EF4-FFF2-40B4-BE49-F238E27FC236}">
                <a16:creationId xmlns:a16="http://schemas.microsoft.com/office/drawing/2014/main" id="{4503D1C4-6F2E-4929-A5DA-52ACEBBEF04B}"/>
              </a:ext>
            </a:extLst>
          </p:cNvPr>
          <p:cNvSpPr>
            <a:spLocks noGrp="1"/>
          </p:cNvSpPr>
          <p:nvPr/>
        </p:nvSpPr>
        <p:spPr>
          <a:xfrm>
            <a:off x="7086600" y="1009650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2F6E5A"/>
          </a:solidFill>
          <a:ln w="14288">
            <a:solidFill>
              <a:srgbClr val="2F6E5A"/>
            </a:solidFill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照合</a:t>
            </a:r>
          </a:p>
        </p:txBody>
      </p:sp>
      <p:sp>
        <p:nvSpPr>
          <p:cNvPr id="38" name="DIALOG_PANEL">
            <a:extLst>
              <a:ext uri="{FF2B5EF4-FFF2-40B4-BE49-F238E27FC236}">
                <a16:creationId xmlns:a16="http://schemas.microsoft.com/office/drawing/2014/main" id="{4451113A-5EC4-4AB2-9846-3BBC407FF044}"/>
              </a:ext>
            </a:extLst>
          </p:cNvPr>
          <p:cNvSpPr>
            <a:spLocks noGrp="1"/>
          </p:cNvSpPr>
          <p:nvPr/>
        </p:nvSpPr>
        <p:spPr>
          <a:xfrm>
            <a:off x="8524875" y="1000125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3335">
            <a:solidFill>
              <a:srgbClr val="A67A43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endParaRPr/>
          </a:p>
        </p:txBody>
      </p:sp>
      <p:sp>
        <p:nvSpPr>
          <p:cNvPr id="39" name="DIALOG_SPEAKER">
            <a:extLst>
              <a:ext uri="{FF2B5EF4-FFF2-40B4-BE49-F238E27FC236}">
                <a16:creationId xmlns:a16="http://schemas.microsoft.com/office/drawing/2014/main" id="{A4CB63B4-2BF4-45AA-AEEA-260B34E2B52F}"/>
              </a:ext>
            </a:extLst>
          </p:cNvPr>
          <p:cNvSpPr>
            <a:spLocks noGrp="1"/>
          </p:cNvSpPr>
          <p:nvPr/>
        </p:nvSpPr>
        <p:spPr>
          <a:xfrm>
            <a:off x="8705850" y="111442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6A3E20"/>
          </a:solidFill>
          <a:ln w="9525">
            <a:solidFill>
              <a:srgbClr val="A67A43"/>
            </a:solidFill>
            <a:prstDash val="solid"/>
          </a:ln>
        </p:spPr>
        <p:txBody>
          <a:bodyPr wrap="square" lIns="28575" tIns="9525" rIns="28575" bIns="9525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みちしるべぇ先生</a:t>
            </a:r>
          </a:p>
        </p:txBody>
      </p:sp>
      <p:sp>
        <p:nvSpPr>
          <p:cNvPr id="40" name="DIALOG_SUMMARY">
            <a:extLst>
              <a:ext uri="{FF2B5EF4-FFF2-40B4-BE49-F238E27FC236}">
                <a16:creationId xmlns:a16="http://schemas.microsoft.com/office/drawing/2014/main" id="{F8166AA5-B044-4D01-BF83-797B41EB8CF3}"/>
              </a:ext>
            </a:extLst>
          </p:cNvPr>
          <p:cNvSpPr>
            <a:spLocks noGrp="1"/>
          </p:cNvSpPr>
          <p:nvPr/>
        </p:nvSpPr>
        <p:spPr>
          <a:xfrm>
            <a:off x="8582025" y="1514475"/>
            <a:ext cx="3286792" cy="2038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t">
            <a:noAutofit/>
          </a:bodyPr>
          <a:lstStyle/>
          <a:p>
            <a:pPr algn="l">
              <a:buNone/>
            </a:pPr>
            <a:r>
              <a:rPr sz="2030" b="0">
                <a:solidFill>
                  <a:srgbClr val="4D3424"/>
                </a:solidFill>
                <a:latin typeface="りいてがき筆"/>
                <a:ea typeface="りいてがき筆"/>
                <a:cs typeface="りいてがき筆"/>
              </a:rPr>
              <a:t>焦点＝問が求める答えの中身。そこから、本文で探す言葉と場所を決めます。</a:t>
            </a:r>
          </a:p>
        </p:txBody>
      </p:sp>
      <p:sp>
        <p:nvSpPr>
          <p:cNvPr id="41" name="SUMMARY_⓪ 設問">
            <a:extLst>
              <a:ext uri="{FF2B5EF4-FFF2-40B4-BE49-F238E27FC236}">
                <a16:creationId xmlns:a16="http://schemas.microsoft.com/office/drawing/2014/main" id="{9B739434-4AA9-41D4-9068-5414572AE547}"/>
              </a:ext>
            </a:extLst>
          </p:cNvPr>
          <p:cNvSpPr>
            <a:spLocks noGrp="1"/>
          </p:cNvSpPr>
          <p:nvPr/>
        </p:nvSpPr>
        <p:spPr>
          <a:xfrm>
            <a:off x="342900" y="1952625"/>
            <a:ext cx="1485900" cy="742950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9525">
            <a:solidFill>
              <a:srgbClr val="91C7AE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⓪問いの最後の言葉を見る</a:t>
            </a:r>
          </a:p>
        </p:txBody>
      </p:sp>
      <p:sp>
        <p:nvSpPr>
          <p:cNvPr id="42" name="SUMMARY_① 主型">
            <a:extLst>
              <a:ext uri="{FF2B5EF4-FFF2-40B4-BE49-F238E27FC236}">
                <a16:creationId xmlns:a16="http://schemas.microsoft.com/office/drawing/2014/main" id="{7706ACA6-103C-4F95-BCD9-7AAD56ED2B7E}"/>
              </a:ext>
            </a:extLst>
          </p:cNvPr>
          <p:cNvSpPr>
            <a:spLocks noGrp="1"/>
          </p:cNvSpPr>
          <p:nvPr/>
        </p:nvSpPr>
        <p:spPr>
          <a:xfrm>
            <a:off x="1924050" y="1952625"/>
            <a:ext cx="1485900" cy="742950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9525">
            <a:solidFill>
              <a:srgbClr val="91C7AE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①主型を決める</a:t>
            </a:r>
          </a:p>
        </p:txBody>
      </p:sp>
      <p:sp>
        <p:nvSpPr>
          <p:cNvPr id="43" name="SUMMARY_② 焦点">
            <a:extLst>
              <a:ext uri="{FF2B5EF4-FFF2-40B4-BE49-F238E27FC236}">
                <a16:creationId xmlns:a16="http://schemas.microsoft.com/office/drawing/2014/main" id="{6572C9B9-5BA3-46C6-8829-735F241ABB05}"/>
              </a:ext>
            </a:extLst>
          </p:cNvPr>
          <p:cNvSpPr>
            <a:spLocks noGrp="1"/>
          </p:cNvSpPr>
          <p:nvPr/>
        </p:nvSpPr>
        <p:spPr>
          <a:xfrm>
            <a:off x="3505200" y="1952625"/>
            <a:ext cx="1485900" cy="742950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9525">
            <a:solidFill>
              <a:srgbClr val="91C7AE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②焦点を言う</a:t>
            </a:r>
          </a:p>
        </p:txBody>
      </p:sp>
      <p:sp>
        <p:nvSpPr>
          <p:cNvPr id="44" name="SUMMARY_型別">
            <a:extLst>
              <a:ext uri="{FF2B5EF4-FFF2-40B4-BE49-F238E27FC236}">
                <a16:creationId xmlns:a16="http://schemas.microsoft.com/office/drawing/2014/main" id="{18B0F534-52CE-4091-B130-96E1C9B946B3}"/>
              </a:ext>
            </a:extLst>
          </p:cNvPr>
          <p:cNvSpPr>
            <a:spLocks noGrp="1"/>
          </p:cNvSpPr>
          <p:nvPr/>
        </p:nvSpPr>
        <p:spPr>
          <a:xfrm>
            <a:off x="5086350" y="1952625"/>
            <a:ext cx="1485900" cy="742950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9525">
            <a:solidFill>
              <a:srgbClr val="91C7AE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型別に見る</a:t>
            </a:r>
          </a:p>
        </p:txBody>
      </p:sp>
      <p:sp>
        <p:nvSpPr>
          <p:cNvPr id="45" name="SUMMARY_③ 根拠">
            <a:extLst>
              <a:ext uri="{FF2B5EF4-FFF2-40B4-BE49-F238E27FC236}">
                <a16:creationId xmlns:a16="http://schemas.microsoft.com/office/drawing/2014/main" id="{AA282C8D-52EB-4F05-B21C-6FB46B6A61EC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1485900" cy="742950"/>
          </a:xfrm>
          <a:prstGeom prst="roundRect">
            <a:avLst>
              <a:gd name="adj" fmla="val 10256"/>
            </a:avLst>
          </a:prstGeom>
          <a:solidFill>
            <a:srgbClr val="EAF6F0"/>
          </a:solidFill>
          <a:ln w="9525">
            <a:solidFill>
              <a:srgbClr val="91C7AE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③本文へ戻る</a:t>
            </a:r>
          </a:p>
        </p:txBody>
      </p:sp>
      <p:sp>
        <p:nvSpPr>
          <p:cNvPr id="46" name="SUMMARY_ARROW_185">
            <a:extLst>
              <a:ext uri="{FF2B5EF4-FFF2-40B4-BE49-F238E27FC236}">
                <a16:creationId xmlns:a16="http://schemas.microsoft.com/office/drawing/2014/main" id="{B919DFC3-76AD-4198-BB09-208012DCD56D}"/>
              </a:ext>
            </a:extLst>
          </p:cNvPr>
          <p:cNvSpPr>
            <a:spLocks noGrp="1"/>
          </p:cNvSpPr>
          <p:nvPr/>
        </p:nvSpPr>
        <p:spPr>
          <a:xfrm>
            <a:off x="1828800" y="2114550"/>
            <a:ext cx="95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47" name="SUMMARY_ARROW_335">
            <a:extLst>
              <a:ext uri="{FF2B5EF4-FFF2-40B4-BE49-F238E27FC236}">
                <a16:creationId xmlns:a16="http://schemas.microsoft.com/office/drawing/2014/main" id="{74043531-E201-43DF-B0E9-187802A00025}"/>
              </a:ext>
            </a:extLst>
          </p:cNvPr>
          <p:cNvSpPr>
            <a:spLocks noGrp="1"/>
          </p:cNvSpPr>
          <p:nvPr/>
        </p:nvSpPr>
        <p:spPr>
          <a:xfrm>
            <a:off x="3409950" y="2114550"/>
            <a:ext cx="95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48" name="SUMMARY_ARROW_485">
            <a:extLst>
              <a:ext uri="{FF2B5EF4-FFF2-40B4-BE49-F238E27FC236}">
                <a16:creationId xmlns:a16="http://schemas.microsoft.com/office/drawing/2014/main" id="{EF11EEC7-AC45-4D9E-B0C5-8CEDA7F01E1A}"/>
              </a:ext>
            </a:extLst>
          </p:cNvPr>
          <p:cNvSpPr>
            <a:spLocks noGrp="1"/>
          </p:cNvSpPr>
          <p:nvPr/>
        </p:nvSpPr>
        <p:spPr>
          <a:xfrm>
            <a:off x="4991100" y="2114550"/>
            <a:ext cx="95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49" name="SUMMARY_ARROW_635">
            <a:extLst>
              <a:ext uri="{FF2B5EF4-FFF2-40B4-BE49-F238E27FC236}">
                <a16:creationId xmlns:a16="http://schemas.microsoft.com/office/drawing/2014/main" id="{98FE55CD-CDD7-4886-8FFC-0076C179395D}"/>
              </a:ext>
            </a:extLst>
          </p:cNvPr>
          <p:cNvSpPr>
            <a:spLocks noGrp="1"/>
          </p:cNvSpPr>
          <p:nvPr/>
        </p:nvSpPr>
        <p:spPr>
          <a:xfrm>
            <a:off x="6572250" y="2114550"/>
            <a:ext cx="95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E4A63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50" name="SUMMARY_KERNEL">
            <a:extLst>
              <a:ext uri="{FF2B5EF4-FFF2-40B4-BE49-F238E27FC236}">
                <a16:creationId xmlns:a16="http://schemas.microsoft.com/office/drawing/2014/main" id="{29DFBEB8-9079-471A-AB78-102D93B24CA2}"/>
              </a:ext>
            </a:extLst>
          </p:cNvPr>
          <p:cNvSpPr>
            <a:spLocks noGrp="1"/>
          </p:cNvSpPr>
          <p:nvPr/>
        </p:nvSpPr>
        <p:spPr>
          <a:xfrm>
            <a:off x="2381250" y="3190875"/>
            <a:ext cx="1619250" cy="809625"/>
          </a:xfrm>
          <a:prstGeom prst="roundRect">
            <a:avLst>
              <a:gd name="adj" fmla="val 9412"/>
            </a:avLst>
          </a:prstGeom>
          <a:solidFill>
            <a:srgbClr val="E7F1FB"/>
          </a:solidFill>
          <a:ln w="9525">
            <a:solidFill>
              <a:srgbClr val="A7C5E5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④ 短い答えの核</a:t>
            </a:r>
          </a:p>
        </p:txBody>
      </p:sp>
      <p:sp>
        <p:nvSpPr>
          <p:cNvPr id="51" name="SUMMARY_ARROW_KERNEL">
            <a:extLst>
              <a:ext uri="{FF2B5EF4-FFF2-40B4-BE49-F238E27FC236}">
                <a16:creationId xmlns:a16="http://schemas.microsoft.com/office/drawing/2014/main" id="{761970B7-06C1-48CA-9EA2-AC8A4DC83354}"/>
              </a:ext>
            </a:extLst>
          </p:cNvPr>
          <p:cNvSpPr>
            <a:spLocks noGrp="1"/>
          </p:cNvSpPr>
          <p:nvPr/>
        </p:nvSpPr>
        <p:spPr>
          <a:xfrm>
            <a:off x="4095750" y="3381375"/>
            <a:ext cx="428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4F86C6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4F86C6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52" name="SUMMARY_CHECK">
            <a:extLst>
              <a:ext uri="{FF2B5EF4-FFF2-40B4-BE49-F238E27FC236}">
                <a16:creationId xmlns:a16="http://schemas.microsoft.com/office/drawing/2014/main" id="{778DB23C-BBFC-4135-B5E3-982129AAF10A}"/>
              </a:ext>
            </a:extLst>
          </p:cNvPr>
          <p:cNvSpPr>
            <a:spLocks noGrp="1"/>
          </p:cNvSpPr>
          <p:nvPr/>
        </p:nvSpPr>
        <p:spPr>
          <a:xfrm>
            <a:off x="4619625" y="3190875"/>
            <a:ext cx="1619250" cy="809625"/>
          </a:xfrm>
          <a:prstGeom prst="roundRect">
            <a:avLst>
              <a:gd name="adj" fmla="val 9412"/>
            </a:avLst>
          </a:prstGeom>
          <a:solidFill>
            <a:srgbClr val="F2ECFA"/>
          </a:solidFill>
          <a:ln w="9525">
            <a:solidFill>
              <a:srgbClr val="C9B4DF"/>
            </a:solidFill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⑤ ３つの解答欄を照合</a:t>
            </a:r>
          </a:p>
        </p:txBody>
      </p:sp>
      <p:sp>
        <p:nvSpPr>
          <p:cNvPr id="53" name="SUMMARY_RULE_設問から始める">
            <a:extLst>
              <a:ext uri="{FF2B5EF4-FFF2-40B4-BE49-F238E27FC236}">
                <a16:creationId xmlns:a16="http://schemas.microsoft.com/office/drawing/2014/main" id="{288086CE-E106-43AE-9835-535FC6B990C9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F7FAF2"/>
          </a:solidFill>
          <a:ln w="14288">
            <a:solidFill>
              <a:srgbClr val="C7D7A5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</a:pP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問いの最後の言葉</a:t>
            </a:r>
          </a:p>
          <a:p>
            <a:pPr algn="ctr">
              <a:buNone/>
            </a:pP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何を答えるか決める</a:t>
            </a:r>
          </a:p>
        </p:txBody>
      </p:sp>
      <p:sp>
        <p:nvSpPr>
          <p:cNvPr id="54" name="SUMMARY_RULE_根拠は関係でつなぐ">
            <a:extLst>
              <a:ext uri="{FF2B5EF4-FFF2-40B4-BE49-F238E27FC236}">
                <a16:creationId xmlns:a16="http://schemas.microsoft.com/office/drawing/2014/main" id="{A67312F6-126F-4416-8F52-235FACB00BC7}"/>
              </a:ext>
            </a:extLst>
          </p:cNvPr>
          <p:cNvSpPr>
            <a:spLocks noGrp="1"/>
          </p:cNvSpPr>
          <p:nvPr/>
        </p:nvSpPr>
        <p:spPr>
          <a:xfrm>
            <a:off x="3095625" y="476250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F7FAF2"/>
          </a:solidFill>
          <a:ln w="14288">
            <a:solidFill>
              <a:srgbClr val="C7D7A5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</a:pP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</a:t>
            </a:r>
          </a:p>
          <a:p>
            <a:pPr algn="ctr">
              <a:buNone/>
            </a:pP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答える中身を言う</a:t>
            </a:r>
          </a:p>
        </p:txBody>
      </p:sp>
      <p:sp>
        <p:nvSpPr>
          <p:cNvPr id="55" name="SUMMARY_RULE_選択肢は全部確かめる">
            <a:extLst>
              <a:ext uri="{FF2B5EF4-FFF2-40B4-BE49-F238E27FC236}">
                <a16:creationId xmlns:a16="http://schemas.microsoft.com/office/drawing/2014/main" id="{ECF1EED5-EEBC-4586-BC90-6B20F0A45B20}"/>
              </a:ext>
            </a:extLst>
          </p:cNvPr>
          <p:cNvSpPr>
            <a:spLocks noGrp="1"/>
          </p:cNvSpPr>
          <p:nvPr/>
        </p:nvSpPr>
        <p:spPr>
          <a:xfrm>
            <a:off x="5429250" y="476250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F7FAF2"/>
          </a:solidFill>
          <a:ln w="14288">
            <a:solidFill>
              <a:srgbClr val="C7D7A5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</a:pP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本文</a:t>
            </a:r>
          </a:p>
          <a:p>
            <a:pPr algn="ctr">
              <a:buNone/>
            </a:pPr>
            <a:r>
              <a:rPr sz="1600" b="1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探す場所を決める</a:t>
            </a:r>
          </a:p>
        </p:txBody>
      </p:sp>
      <p:sp>
        <p:nvSpPr>
          <p:cNvPr id="59" name="VOCAB_HELP">
            <a:extLst>
              <a:ext uri="{FF2B5EF4-FFF2-40B4-BE49-F238E27FC236}">
                <a16:creationId xmlns:a16="http://schemas.microsoft.com/office/drawing/2014/main" id="{669E989F-ED30-4706-8DB2-73AB921795A6}"/>
              </a:ext>
            </a:extLst>
          </p:cNvPr>
          <p:cNvSpPr>
            <a:spLocks noGrp="1"/>
          </p:cNvSpPr>
          <p:nvPr/>
        </p:nvSpPr>
        <p:spPr>
          <a:xfrm>
            <a:off x="8524875" y="3638550"/>
            <a:ext cx="3333750" cy="895350"/>
          </a:xfrm>
          <a:prstGeom prst="roundRect">
            <a:avLst>
              <a:gd name="adj" fmla="val 8511"/>
            </a:avLst>
          </a:prstGeom>
          <a:solidFill>
            <a:srgbClr val="F3F7F6"/>
          </a:solidFill>
          <a:ln w="14288">
            <a:solidFill>
              <a:srgbClr val="B6D1CE"/>
            </a:solidFill>
            <a:prstDash val="solid"/>
          </a:ln>
        </p:spPr>
        <p:txBody>
          <a:bodyPr anchor="t"/>
          <a:lstStyle/>
          <a:p>
            <a:pPr algn="l">
              <a:buNone/>
            </a:pPr>
            <a:r>
              <a:rPr sz="1050" b="1">
                <a:solidFill>
                  <a:srgbClr val="2F747B"/>
                </a:solidFill>
                <a:latin typeface="Yu Gothic"/>
                <a:ea typeface="Yu Gothic"/>
                <a:cs typeface="Yu Gothic"/>
              </a:rPr>
              <a:t>ことばメモ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焦点＝問が求める答えの中身。</a:t>
            </a:r>
          </a:p>
          <a:p>
            <a:pPr algn="l">
              <a:buNone/>
            </a:pPr>
            <a:r>
              <a:rPr sz="975" b="0">
                <a:solidFill>
                  <a:srgbClr val="334F6D"/>
                </a:solidFill>
                <a:latin typeface="Yu Gothic"/>
                <a:ea typeface="Yu Gothic"/>
                <a:cs typeface="Yu Gothic"/>
              </a:rPr>
              <a:t>それをもとに、本文で探す言葉と場所を決める。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10791429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19385</Words>
  <Application>Microsoft Office PowerPoint</Application>
  <DocSecurity>0</DocSecurity>
  <PresentationFormat>ワイド画面</PresentationFormat>
  <Paragraphs>2602</Paragraphs>
  <Slides>50</Slides>
  <Notes>50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50</vt:i4>
      </vt:variant>
    </vt:vector>
  </HeadingPairs>
  <TitlesOfParts>
    <vt:vector size="55" baseType="lpstr">
      <vt:lpstr>りいてがき筆</vt:lpstr>
      <vt:lpstr>Yu Gothic</vt:lpstr>
      <vt:lpstr>游明朝</vt:lpstr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凹 凸</cp:lastModifiedBy>
  <cp:revision>1</cp:revision>
  <dcterms:created xsi:type="dcterms:W3CDTF">2026-08-23T19:02:41Z</dcterms:created>
  <dcterms:modified xsi:type="dcterms:W3CDTF">2026-08-23T19:42:18Z</dcterms:modified>
</cp:coreProperties>
</file>